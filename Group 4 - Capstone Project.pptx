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media/image11.svg" ContentType="image/svg+xml"/>
  <Override PartName="/ppt/media/image12.svg" ContentType="image/svg+xml"/>
  <Override PartName="/ppt/media/image13.svg" ContentType="image/svg+xml"/>
  <Override PartName="/ppt/media/image1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4630400" cy="8229600"/>
  <p:notesSz cx="8229600" cy="14630400"/>
  <p:embeddedFontLst>
    <p:embeddedFont>
      <p:font typeface="Inter" panose="02000503000000020004" pitchFamily="34" charset="0"/>
      <p:regular r:id="rId27"/>
    </p:embeddedFont>
    <p:embeddedFont>
      <p:font typeface="Inter" panose="02000503000000020004" pitchFamily="34" charset="-122"/>
      <p:regular r:id="rId28"/>
    </p:embeddedFont>
    <p:embeddedFont>
      <p:font typeface="Inter" panose="02000503000000020004" pitchFamily="34" charset="-120"/>
      <p:regular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xml"/><Relationship Id="rId7" Type="http://schemas.openxmlformats.org/officeDocument/2006/relationships/image" Target="../media/image3.pn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xml"/><Relationship Id="rId7" Type="http://schemas.openxmlformats.org/officeDocument/2006/relationships/image" Target="../media/image3.png"/><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 Id="rId3" Type="http://schemas.openxmlformats.org/officeDocument/2006/relationships/image" Target="../media/image11.svg"/><Relationship Id="rId2" Type="http://schemas.openxmlformats.org/officeDocument/2006/relationships/image" Target="../media/image4.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39.png"/><Relationship Id="rId1"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477572"/>
            <a:ext cx="7556421" cy="2126337"/>
          </a:xfrm>
          <a:prstGeom prst="rect">
            <a:avLst/>
          </a:prstGeom>
          <a:noFill/>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Nexus Bank Financial Analytics &amp; Modeling Platform</a:t>
            </a:r>
            <a:endParaRPr lang="en-US" sz="4450" dirty="0"/>
          </a:p>
        </p:txBody>
      </p:sp>
      <p:sp>
        <p:nvSpPr>
          <p:cNvPr id="4" name="Text 1"/>
          <p:cNvSpPr/>
          <p:nvPr/>
        </p:nvSpPr>
        <p:spPr>
          <a:xfrm>
            <a:off x="6280190" y="4694634"/>
            <a:ext cx="6525816" cy="354330"/>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Part 1: Data Engineering &amp; Pipeline Architecture</a:t>
            </a:r>
            <a:endParaRPr lang="en-US" sz="2200" dirty="0"/>
          </a:p>
        </p:txBody>
      </p:sp>
      <p:sp>
        <p:nvSpPr>
          <p:cNvPr id="5" name="Text 2"/>
          <p:cNvSpPr/>
          <p:nvPr/>
        </p:nvSpPr>
        <p:spPr>
          <a:xfrm>
            <a:off x="6280190" y="5389126"/>
            <a:ext cx="7556421"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November 2025 | Enterprise Data Engineering Initiative</a:t>
            </a:r>
            <a:endParaRPr lang="en-US" sz="1750" dirty="0"/>
          </a:p>
        </p:txBody>
      </p:sp>
      <p:pic>
        <p:nvPicPr>
          <p:cNvPr id="26" name="Picture 25" descr="Screenshot 2025-11-10 at 2.34.10 AM"/>
          <p:cNvPicPr>
            <a:picLocks noChangeAspect="1"/>
          </p:cNvPicPr>
          <p:nvPr/>
        </p:nvPicPr>
        <p:blipFill>
          <a:blip r:embed="rId2"/>
          <a:stretch>
            <a:fillRect/>
          </a:stretch>
        </p:blipFill>
        <p:spPr>
          <a:xfrm>
            <a:off x="12382500" y="7783830"/>
            <a:ext cx="2247900" cy="3746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5930" y="609600"/>
            <a:ext cx="5542359" cy="692706"/>
          </a:xfrm>
          <a:prstGeom prst="rect">
            <a:avLst/>
          </a:prstGeom>
          <a:noFill/>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Executive Summary</a:t>
            </a:r>
            <a:endParaRPr lang="en-US" sz="4350" dirty="0"/>
          </a:p>
        </p:txBody>
      </p:sp>
      <p:sp>
        <p:nvSpPr>
          <p:cNvPr id="3" name="Text 1"/>
          <p:cNvSpPr/>
          <p:nvPr/>
        </p:nvSpPr>
        <p:spPr>
          <a:xfrm>
            <a:off x="775930" y="1856542"/>
            <a:ext cx="3325416" cy="415647"/>
          </a:xfrm>
          <a:prstGeom prst="rect">
            <a:avLst/>
          </a:prstGeom>
          <a:noFill/>
        </p:spPr>
        <p:txBody>
          <a:bodyPr wrap="none" lIns="0" tIns="0" rIns="0" bIns="0" rtlCol="0" anchor="t"/>
          <a:lstStyle/>
          <a:p>
            <a:pPr marL="0" indent="0" algn="l">
              <a:lnSpc>
                <a:spcPts val="3250"/>
              </a:lnSpc>
              <a:buNone/>
            </a:pPr>
            <a:r>
              <a:rPr lang="en-US" sz="2600" b="1" dirty="0">
                <a:solidFill>
                  <a:srgbClr val="000000"/>
                </a:solidFill>
                <a:latin typeface="Inter Bold" pitchFamily="34" charset="0"/>
                <a:ea typeface="Inter Bold" pitchFamily="34" charset="-122"/>
                <a:cs typeface="Inter Bold" pitchFamily="34" charset="-120"/>
              </a:rPr>
              <a:t>The Challenge</a:t>
            </a:r>
            <a:endParaRPr lang="en-US" sz="2600" dirty="0"/>
          </a:p>
        </p:txBody>
      </p:sp>
      <p:sp>
        <p:nvSpPr>
          <p:cNvPr id="4" name="Text 2"/>
          <p:cNvSpPr/>
          <p:nvPr/>
        </p:nvSpPr>
        <p:spPr>
          <a:xfrm>
            <a:off x="775930" y="2493883"/>
            <a:ext cx="6268879" cy="1418749"/>
          </a:xfrm>
          <a:prstGeom prst="rect">
            <a:avLst/>
          </a:prstGeom>
          <a:noFill/>
        </p:spPr>
        <p:txBody>
          <a:bodyPr wrap="square" lIns="0" tIns="0" rIns="0" bIns="0" rtlCol="0" anchor="t"/>
          <a:lstStyle/>
          <a:p>
            <a:pPr marL="0" indent="0" algn="l">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Nexus Bank required a robust, scalable data infrastructure to power algorithmic trading, risk modeling, and fraud detection capabilities across multiple financial data sources.</a:t>
            </a:r>
            <a:endParaRPr lang="en-US" sz="1700" dirty="0"/>
          </a:p>
        </p:txBody>
      </p:sp>
      <p:sp>
        <p:nvSpPr>
          <p:cNvPr id="5" name="Text 3"/>
          <p:cNvSpPr/>
          <p:nvPr/>
        </p:nvSpPr>
        <p:spPr>
          <a:xfrm>
            <a:off x="775930" y="4134326"/>
            <a:ext cx="3325416" cy="415647"/>
          </a:xfrm>
          <a:prstGeom prst="rect">
            <a:avLst/>
          </a:prstGeom>
          <a:noFill/>
        </p:spPr>
        <p:txBody>
          <a:bodyPr wrap="none" lIns="0" tIns="0" rIns="0" bIns="0" rtlCol="0" anchor="t"/>
          <a:lstStyle/>
          <a:p>
            <a:pPr marL="0" indent="0" algn="l">
              <a:lnSpc>
                <a:spcPts val="3250"/>
              </a:lnSpc>
              <a:buNone/>
            </a:pPr>
            <a:r>
              <a:rPr lang="en-US" sz="2600" b="1" dirty="0">
                <a:solidFill>
                  <a:srgbClr val="000000"/>
                </a:solidFill>
                <a:latin typeface="Inter Bold" pitchFamily="34" charset="0"/>
                <a:ea typeface="Inter Bold" pitchFamily="34" charset="-122"/>
                <a:cs typeface="Inter Bold" pitchFamily="34" charset="-120"/>
              </a:rPr>
              <a:t>The Solution</a:t>
            </a:r>
            <a:endParaRPr lang="en-US" sz="2600" dirty="0"/>
          </a:p>
        </p:txBody>
      </p:sp>
      <p:sp>
        <p:nvSpPr>
          <p:cNvPr id="6" name="Text 4"/>
          <p:cNvSpPr/>
          <p:nvPr/>
        </p:nvSpPr>
        <p:spPr>
          <a:xfrm>
            <a:off x="775930" y="4771668"/>
            <a:ext cx="6268879" cy="1418749"/>
          </a:xfrm>
          <a:prstGeom prst="rect">
            <a:avLst/>
          </a:prstGeom>
          <a:noFill/>
        </p:spPr>
        <p:txBody>
          <a:bodyPr wrap="square" lIns="0" tIns="0" rIns="0" bIns="0" rtlCol="0" anchor="t"/>
          <a:lstStyle/>
          <a:p>
            <a:pPr marL="0" indent="0" algn="l">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We architected and deployed a production-grade financial analytics platform leveraging Databricks with Delta Lake, enabling real-time processing and advanced analytics at scale.</a:t>
            </a:r>
            <a:endParaRPr lang="en-US" sz="1700" dirty="0"/>
          </a:p>
        </p:txBody>
      </p:sp>
      <p:sp>
        <p:nvSpPr>
          <p:cNvPr id="7" name="Text 5"/>
          <p:cNvSpPr/>
          <p:nvPr/>
        </p:nvSpPr>
        <p:spPr>
          <a:xfrm>
            <a:off x="7593211" y="1995011"/>
            <a:ext cx="2995851" cy="731520"/>
          </a:xfrm>
          <a:prstGeom prst="rect">
            <a:avLst/>
          </a:prstGeom>
          <a:noFill/>
        </p:spPr>
        <p:txBody>
          <a:bodyPr wrap="none" lIns="0" tIns="0" rIns="0" bIns="0" rtlCol="0" anchor="t"/>
          <a:lstStyle/>
          <a:p>
            <a:pPr marL="0" indent="0" algn="ctr">
              <a:lnSpc>
                <a:spcPts val="5750"/>
              </a:lnSpc>
              <a:buNone/>
            </a:pPr>
            <a:r>
              <a:rPr lang="en-US" sz="5750" b="1" dirty="0">
                <a:solidFill>
                  <a:srgbClr val="272525"/>
                </a:solidFill>
                <a:latin typeface="Inter Bold" pitchFamily="34" charset="0"/>
                <a:ea typeface="Inter Bold" pitchFamily="34" charset="-122"/>
                <a:cs typeface="Inter Bold" pitchFamily="34" charset="-120"/>
              </a:rPr>
              <a:t>60K+</a:t>
            </a:r>
            <a:endParaRPr lang="en-US" sz="5750" dirty="0"/>
          </a:p>
        </p:txBody>
      </p:sp>
      <p:sp>
        <p:nvSpPr>
          <p:cNvPr id="8" name="Text 6"/>
          <p:cNvSpPr/>
          <p:nvPr/>
        </p:nvSpPr>
        <p:spPr>
          <a:xfrm>
            <a:off x="7705487" y="3003590"/>
            <a:ext cx="2771180" cy="346472"/>
          </a:xfrm>
          <a:prstGeom prst="rect">
            <a:avLst/>
          </a:prstGeom>
          <a:noFill/>
        </p:spPr>
        <p:txBody>
          <a:bodyPr wrap="none" lIns="0" tIns="0" rIns="0" bIns="0" rtlCol="0" anchor="t"/>
          <a:lstStyle/>
          <a:p>
            <a:pPr marL="0" indent="0" algn="ctr">
              <a:lnSpc>
                <a:spcPts val="2700"/>
              </a:lnSpc>
              <a:buNone/>
            </a:pPr>
            <a:r>
              <a:rPr lang="en-US" sz="2150" b="1" dirty="0">
                <a:solidFill>
                  <a:srgbClr val="272525"/>
                </a:solidFill>
                <a:latin typeface="Inter Bold" pitchFamily="34" charset="0"/>
                <a:ea typeface="Inter Bold" pitchFamily="34" charset="-122"/>
                <a:cs typeface="Inter Bold" pitchFamily="34" charset="-120"/>
              </a:rPr>
              <a:t>Records Processed</a:t>
            </a:r>
            <a:endParaRPr lang="en-US" sz="2150" dirty="0"/>
          </a:p>
        </p:txBody>
      </p:sp>
      <p:sp>
        <p:nvSpPr>
          <p:cNvPr id="9" name="Text 7"/>
          <p:cNvSpPr/>
          <p:nvPr/>
        </p:nvSpPr>
        <p:spPr>
          <a:xfrm>
            <a:off x="7593211" y="3571756"/>
            <a:ext cx="2995851" cy="709374"/>
          </a:xfrm>
          <a:prstGeom prst="rect">
            <a:avLst/>
          </a:prstGeom>
          <a:noFill/>
        </p:spPr>
        <p:txBody>
          <a:bodyPr wrap="square" lIns="0" tIns="0" rIns="0" bIns="0" rtlCol="0" anchor="t"/>
          <a:lstStyle/>
          <a:p>
            <a:pPr marL="0" indent="0" algn="ctr">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Across 4 diverse data sources</a:t>
            </a:r>
            <a:endParaRPr lang="en-US" sz="1700" dirty="0"/>
          </a:p>
        </p:txBody>
      </p:sp>
      <p:sp>
        <p:nvSpPr>
          <p:cNvPr id="10" name="Text 8"/>
          <p:cNvSpPr/>
          <p:nvPr/>
        </p:nvSpPr>
        <p:spPr>
          <a:xfrm>
            <a:off x="10866120" y="1995011"/>
            <a:ext cx="2995970" cy="731520"/>
          </a:xfrm>
          <a:prstGeom prst="rect">
            <a:avLst/>
          </a:prstGeom>
          <a:noFill/>
        </p:spPr>
        <p:txBody>
          <a:bodyPr wrap="none" lIns="0" tIns="0" rIns="0" bIns="0" rtlCol="0" anchor="t"/>
          <a:lstStyle/>
          <a:p>
            <a:pPr marL="0" indent="0" algn="ctr">
              <a:lnSpc>
                <a:spcPts val="5750"/>
              </a:lnSpc>
              <a:buNone/>
            </a:pPr>
            <a:r>
              <a:rPr lang="en-US" sz="5750" b="1" dirty="0">
                <a:solidFill>
                  <a:srgbClr val="272525"/>
                </a:solidFill>
                <a:latin typeface="Inter Bold" pitchFamily="34" charset="0"/>
                <a:ea typeface="Inter Bold" pitchFamily="34" charset="-122"/>
                <a:cs typeface="Inter Bold" pitchFamily="34" charset="-120"/>
              </a:rPr>
              <a:t>100%</a:t>
            </a:r>
            <a:endParaRPr lang="en-US" sz="5750" dirty="0"/>
          </a:p>
        </p:txBody>
      </p:sp>
      <p:sp>
        <p:nvSpPr>
          <p:cNvPr id="11" name="Text 9"/>
          <p:cNvSpPr/>
          <p:nvPr/>
        </p:nvSpPr>
        <p:spPr>
          <a:xfrm>
            <a:off x="10978515" y="3003590"/>
            <a:ext cx="2771180" cy="346472"/>
          </a:xfrm>
          <a:prstGeom prst="rect">
            <a:avLst/>
          </a:prstGeom>
          <a:noFill/>
        </p:spPr>
        <p:txBody>
          <a:bodyPr wrap="none" lIns="0" tIns="0" rIns="0" bIns="0" rtlCol="0" anchor="t"/>
          <a:lstStyle/>
          <a:p>
            <a:pPr marL="0" indent="0" algn="ctr">
              <a:lnSpc>
                <a:spcPts val="2700"/>
              </a:lnSpc>
              <a:buNone/>
            </a:pPr>
            <a:r>
              <a:rPr lang="en-US" sz="2150" b="1" dirty="0">
                <a:solidFill>
                  <a:srgbClr val="272525"/>
                </a:solidFill>
                <a:latin typeface="Inter Bold" pitchFamily="34" charset="0"/>
                <a:ea typeface="Inter Bold" pitchFamily="34" charset="-122"/>
                <a:cs typeface="Inter Bold" pitchFamily="34" charset="-120"/>
              </a:rPr>
              <a:t>Success Rate</a:t>
            </a:r>
            <a:endParaRPr lang="en-US" sz="2150" dirty="0"/>
          </a:p>
        </p:txBody>
      </p:sp>
      <p:sp>
        <p:nvSpPr>
          <p:cNvPr id="12" name="Text 10"/>
          <p:cNvSpPr/>
          <p:nvPr/>
        </p:nvSpPr>
        <p:spPr>
          <a:xfrm>
            <a:off x="10866120" y="3571756"/>
            <a:ext cx="2995970" cy="354687"/>
          </a:xfrm>
          <a:prstGeom prst="rect">
            <a:avLst/>
          </a:prstGeom>
          <a:noFill/>
        </p:spPr>
        <p:txBody>
          <a:bodyPr wrap="none" lIns="0" tIns="0" rIns="0" bIns="0" rtlCol="0" anchor="t"/>
          <a:lstStyle/>
          <a:p>
            <a:pPr marL="0" indent="0" algn="ctr">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Zero failed data loads</a:t>
            </a:r>
            <a:endParaRPr lang="en-US" sz="1700" dirty="0"/>
          </a:p>
        </p:txBody>
      </p:sp>
      <p:sp>
        <p:nvSpPr>
          <p:cNvPr id="13" name="Text 11"/>
          <p:cNvSpPr/>
          <p:nvPr/>
        </p:nvSpPr>
        <p:spPr>
          <a:xfrm>
            <a:off x="9229606" y="4835366"/>
            <a:ext cx="2995970" cy="731520"/>
          </a:xfrm>
          <a:prstGeom prst="rect">
            <a:avLst/>
          </a:prstGeom>
          <a:noFill/>
        </p:spPr>
        <p:txBody>
          <a:bodyPr wrap="none" lIns="0" tIns="0" rIns="0" bIns="0" rtlCol="0" anchor="t"/>
          <a:lstStyle/>
          <a:p>
            <a:pPr marL="0" indent="0" algn="ctr">
              <a:lnSpc>
                <a:spcPts val="5750"/>
              </a:lnSpc>
              <a:buNone/>
            </a:pPr>
            <a:r>
              <a:rPr lang="en-US" sz="5750" b="1" dirty="0">
                <a:solidFill>
                  <a:srgbClr val="272525"/>
                </a:solidFill>
                <a:latin typeface="Inter Bold" pitchFamily="34" charset="0"/>
                <a:ea typeface="Inter Bold" pitchFamily="34" charset="-122"/>
                <a:cs typeface="Inter Bold" pitchFamily="34" charset="-120"/>
              </a:rPr>
              <a:t>6</a:t>
            </a:r>
            <a:endParaRPr lang="en-US" sz="5750" dirty="0"/>
          </a:p>
        </p:txBody>
      </p:sp>
      <p:sp>
        <p:nvSpPr>
          <p:cNvPr id="14" name="Text 12"/>
          <p:cNvSpPr/>
          <p:nvPr/>
        </p:nvSpPr>
        <p:spPr>
          <a:xfrm>
            <a:off x="9342001" y="5843945"/>
            <a:ext cx="2771180" cy="346472"/>
          </a:xfrm>
          <a:prstGeom prst="rect">
            <a:avLst/>
          </a:prstGeom>
          <a:noFill/>
        </p:spPr>
        <p:txBody>
          <a:bodyPr wrap="none" lIns="0" tIns="0" rIns="0" bIns="0" rtlCol="0" anchor="t"/>
          <a:lstStyle/>
          <a:p>
            <a:pPr marL="0" indent="0" algn="ctr">
              <a:lnSpc>
                <a:spcPts val="2700"/>
              </a:lnSpc>
              <a:buNone/>
            </a:pPr>
            <a:r>
              <a:rPr lang="en-US" sz="2150" b="1" dirty="0">
                <a:solidFill>
                  <a:srgbClr val="272525"/>
                </a:solidFill>
                <a:latin typeface="Inter Bold" pitchFamily="34" charset="0"/>
                <a:ea typeface="Inter Bold" pitchFamily="34" charset="-122"/>
                <a:cs typeface="Inter Bold" pitchFamily="34" charset="-120"/>
              </a:rPr>
              <a:t>Week Timeline</a:t>
            </a:r>
            <a:endParaRPr lang="en-US" sz="2150" dirty="0"/>
          </a:p>
        </p:txBody>
      </p:sp>
      <p:sp>
        <p:nvSpPr>
          <p:cNvPr id="15" name="Text 13"/>
          <p:cNvSpPr/>
          <p:nvPr/>
        </p:nvSpPr>
        <p:spPr>
          <a:xfrm>
            <a:off x="9229606" y="6412111"/>
            <a:ext cx="2995970" cy="354687"/>
          </a:xfrm>
          <a:prstGeom prst="rect">
            <a:avLst/>
          </a:prstGeom>
          <a:noFill/>
        </p:spPr>
        <p:txBody>
          <a:bodyPr wrap="none" lIns="0" tIns="0" rIns="0" bIns="0" rtlCol="0" anchor="t"/>
          <a:lstStyle/>
          <a:p>
            <a:pPr marL="0" indent="0" algn="ctr">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3 phases to completion</a:t>
            </a:r>
            <a:endParaRPr lang="en-US" sz="1700" dirty="0"/>
          </a:p>
        </p:txBody>
      </p:sp>
      <p:sp>
        <p:nvSpPr>
          <p:cNvPr id="16" name="Text 14"/>
          <p:cNvSpPr/>
          <p:nvPr/>
        </p:nvSpPr>
        <p:spPr>
          <a:xfrm>
            <a:off x="775930" y="7265432"/>
            <a:ext cx="13078539" cy="354687"/>
          </a:xfrm>
          <a:prstGeom prst="rect">
            <a:avLst/>
          </a:prstGeom>
          <a:noFill/>
        </p:spPr>
        <p:txBody>
          <a:bodyPr wrap="none" lIns="0" tIns="0" rIns="0" bIns="0" rtlCol="0" anchor="t"/>
          <a:lstStyle/>
          <a:p>
            <a:pPr marL="0" indent="0" algn="l">
              <a:lnSpc>
                <a:spcPts val="2750"/>
              </a:lnSpc>
              <a:buNone/>
            </a:pPr>
            <a:r>
              <a:rPr lang="en-US" sz="1700" b="1" dirty="0">
                <a:solidFill>
                  <a:srgbClr val="272525"/>
                </a:solidFill>
                <a:latin typeface="Inter" panose="02000503000000020004" pitchFamily="34" charset="0"/>
                <a:ea typeface="Inter" panose="02000503000000020004" pitchFamily="34" charset="-122"/>
                <a:cs typeface="Inter" panose="02000503000000020004" pitchFamily="34" charset="-120"/>
              </a:rPr>
              <a:t>Technologies:</a:t>
            </a: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 Databricks, PySpark, Delta Lake, Yahoo Finance API, Federal Reserve FRED API</a:t>
            </a:r>
            <a:endParaRPr lang="en-US" sz="1700" dirty="0"/>
          </a:p>
        </p:txBody>
      </p:sp>
      <p:pic>
        <p:nvPicPr>
          <p:cNvPr id="26" name="Picture 25" descr="Screenshot 2025-11-10 at 2.34.10 AM"/>
          <p:cNvPicPr>
            <a:picLocks noChangeAspect="1"/>
          </p:cNvPicPr>
          <p:nvPr/>
        </p:nvPicPr>
        <p:blipFill>
          <a:blip r:embed="rId1"/>
          <a:stretch>
            <a:fillRect/>
          </a:stretch>
        </p:blipFill>
        <p:spPr>
          <a:xfrm>
            <a:off x="12382500" y="7797800"/>
            <a:ext cx="2247900" cy="3746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7234" y="1238369"/>
            <a:ext cx="7233166" cy="649248"/>
          </a:xfrm>
          <a:prstGeom prst="rect">
            <a:avLst/>
          </a:prstGeom>
          <a:noFill/>
        </p:spPr>
        <p:txBody>
          <a:bodyPr wrap="none" lIns="0" tIns="0" rIns="0" bIns="0" rtlCol="0" anchor="t"/>
          <a:lstStyle/>
          <a:p>
            <a:pPr marL="0" indent="0" algn="l">
              <a:lnSpc>
                <a:spcPts val="5100"/>
              </a:lnSpc>
              <a:buNone/>
            </a:pPr>
            <a:r>
              <a:rPr lang="en-US" sz="4050" b="1" dirty="0">
                <a:solidFill>
                  <a:srgbClr val="000000"/>
                </a:solidFill>
                <a:latin typeface="Inter Bold" pitchFamily="34" charset="0"/>
                <a:ea typeface="Inter Bold" pitchFamily="34" charset="-122"/>
                <a:cs typeface="Inter Bold" pitchFamily="34" charset="-120"/>
              </a:rPr>
              <a:t>Critical Business Challenges</a:t>
            </a:r>
            <a:endParaRPr lang="en-US" sz="4050" dirty="0"/>
          </a:p>
        </p:txBody>
      </p:sp>
      <p:sp>
        <p:nvSpPr>
          <p:cNvPr id="3" name="Shape 1"/>
          <p:cNvSpPr/>
          <p:nvPr/>
        </p:nvSpPr>
        <p:spPr>
          <a:xfrm>
            <a:off x="727234" y="2303145"/>
            <a:ext cx="4253389" cy="2240161"/>
          </a:xfrm>
          <a:prstGeom prst="roundRect">
            <a:avLst>
              <a:gd name="adj" fmla="val 4898"/>
            </a:avLst>
          </a:prstGeom>
          <a:solidFill>
            <a:srgbClr val="FFFFFF"/>
          </a:solidFill>
          <a:ln w="22860">
            <a:solidFill>
              <a:srgbClr val="4950BC"/>
            </a:solidFill>
            <a:prstDash val="solid"/>
          </a:ln>
        </p:spPr>
      </p:sp>
      <p:sp>
        <p:nvSpPr>
          <p:cNvPr id="4" name="Shape 2"/>
          <p:cNvSpPr/>
          <p:nvPr/>
        </p:nvSpPr>
        <p:spPr>
          <a:xfrm>
            <a:off x="704374" y="2303145"/>
            <a:ext cx="91440" cy="2240161"/>
          </a:xfrm>
          <a:prstGeom prst="roundRect">
            <a:avLst>
              <a:gd name="adj" fmla="val 95438"/>
            </a:avLst>
          </a:prstGeom>
          <a:solidFill>
            <a:srgbClr val="4950BC"/>
          </a:solidFill>
        </p:spPr>
      </p:sp>
      <p:sp>
        <p:nvSpPr>
          <p:cNvPr id="5" name="Text 3"/>
          <p:cNvSpPr/>
          <p:nvPr/>
        </p:nvSpPr>
        <p:spPr>
          <a:xfrm>
            <a:off x="1026438" y="2533769"/>
            <a:ext cx="2597229" cy="324564"/>
          </a:xfrm>
          <a:prstGeom prst="rect">
            <a:avLst/>
          </a:prstGeom>
          <a:noFill/>
        </p:spPr>
        <p:txBody>
          <a:bodyPr wrap="none" lIns="0" tIns="0" rIns="0" bIns="0" rtlCol="0" anchor="t"/>
          <a:lstStyle/>
          <a:p>
            <a:pPr marL="0" indent="0" algn="l">
              <a:lnSpc>
                <a:spcPts val="2550"/>
              </a:lnSpc>
              <a:buNone/>
            </a:pPr>
            <a:r>
              <a:rPr lang="en-US" sz="2000" b="1" dirty="0">
                <a:solidFill>
                  <a:srgbClr val="272525"/>
                </a:solidFill>
                <a:latin typeface="Inter Bold" pitchFamily="34" charset="0"/>
                <a:ea typeface="Inter Bold" pitchFamily="34" charset="-122"/>
                <a:cs typeface="Inter Bold" pitchFamily="34" charset="-120"/>
              </a:rPr>
              <a:t>Data Fragmentation</a:t>
            </a:r>
            <a:endParaRPr lang="en-US" sz="2000" dirty="0"/>
          </a:p>
        </p:txBody>
      </p:sp>
      <p:sp>
        <p:nvSpPr>
          <p:cNvPr id="6" name="Text 4"/>
          <p:cNvSpPr/>
          <p:nvPr/>
        </p:nvSpPr>
        <p:spPr>
          <a:xfrm>
            <a:off x="1026438" y="2982992"/>
            <a:ext cx="3723561" cy="132969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anose="02000503000000020004" pitchFamily="34" charset="0"/>
                <a:ea typeface="Inter" panose="02000503000000020004" pitchFamily="34" charset="-122"/>
                <a:cs typeface="Inter" panose="02000503000000020004" pitchFamily="34" charset="-120"/>
              </a:rPr>
              <a:t>Real-time market data from multiple sources remained siloed, preventing comprehensive analysis and timely decision-making.</a:t>
            </a:r>
            <a:endParaRPr lang="en-US" sz="1600" dirty="0"/>
          </a:p>
        </p:txBody>
      </p:sp>
      <p:sp>
        <p:nvSpPr>
          <p:cNvPr id="7" name="Shape 5"/>
          <p:cNvSpPr/>
          <p:nvPr/>
        </p:nvSpPr>
        <p:spPr>
          <a:xfrm>
            <a:off x="5188387" y="2303145"/>
            <a:ext cx="4253508" cy="2240161"/>
          </a:xfrm>
          <a:prstGeom prst="roundRect">
            <a:avLst>
              <a:gd name="adj" fmla="val 4898"/>
            </a:avLst>
          </a:prstGeom>
          <a:solidFill>
            <a:srgbClr val="FFFFFF"/>
          </a:solidFill>
          <a:ln w="22860">
            <a:solidFill>
              <a:srgbClr val="4950BC"/>
            </a:solidFill>
            <a:prstDash val="solid"/>
          </a:ln>
        </p:spPr>
      </p:sp>
      <p:sp>
        <p:nvSpPr>
          <p:cNvPr id="8" name="Shape 6"/>
          <p:cNvSpPr/>
          <p:nvPr/>
        </p:nvSpPr>
        <p:spPr>
          <a:xfrm>
            <a:off x="5165527" y="2303145"/>
            <a:ext cx="91440" cy="2240161"/>
          </a:xfrm>
          <a:prstGeom prst="roundRect">
            <a:avLst>
              <a:gd name="adj" fmla="val 95438"/>
            </a:avLst>
          </a:prstGeom>
          <a:solidFill>
            <a:srgbClr val="4950BC"/>
          </a:solidFill>
        </p:spPr>
      </p:sp>
      <p:sp>
        <p:nvSpPr>
          <p:cNvPr id="9" name="Text 7"/>
          <p:cNvSpPr/>
          <p:nvPr/>
        </p:nvSpPr>
        <p:spPr>
          <a:xfrm>
            <a:off x="5487591" y="2533769"/>
            <a:ext cx="3070027" cy="324564"/>
          </a:xfrm>
          <a:prstGeom prst="rect">
            <a:avLst/>
          </a:prstGeom>
          <a:noFill/>
        </p:spPr>
        <p:txBody>
          <a:bodyPr wrap="none" lIns="0" tIns="0" rIns="0" bIns="0" rtlCol="0" anchor="t"/>
          <a:lstStyle/>
          <a:p>
            <a:pPr marL="0" indent="0" algn="l">
              <a:lnSpc>
                <a:spcPts val="2550"/>
              </a:lnSpc>
              <a:buNone/>
            </a:pPr>
            <a:r>
              <a:rPr lang="en-US" sz="2000" b="1" dirty="0">
                <a:solidFill>
                  <a:srgbClr val="272525"/>
                </a:solidFill>
                <a:latin typeface="Inter Bold" pitchFamily="34" charset="0"/>
                <a:ea typeface="Inter Bold" pitchFamily="34" charset="-122"/>
                <a:cs typeface="Inter Bold" pitchFamily="34" charset="-120"/>
              </a:rPr>
              <a:t>Manual Analysis Burden</a:t>
            </a:r>
            <a:endParaRPr lang="en-US" sz="2000" dirty="0"/>
          </a:p>
        </p:txBody>
      </p:sp>
      <p:sp>
        <p:nvSpPr>
          <p:cNvPr id="10" name="Text 8"/>
          <p:cNvSpPr/>
          <p:nvPr/>
        </p:nvSpPr>
        <p:spPr>
          <a:xfrm>
            <a:off x="5487591" y="2982992"/>
            <a:ext cx="3723680" cy="132969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anose="02000503000000020004" pitchFamily="34" charset="0"/>
                <a:ea typeface="Inter" panose="02000503000000020004" pitchFamily="34" charset="-122"/>
                <a:cs typeface="Inter" panose="02000503000000020004" pitchFamily="34" charset="-120"/>
              </a:rPr>
              <a:t>Portfolio analysis consumed over 40 hours weekly, diverting analysts from strategic initiatives and reducing responsiveness to market changes.</a:t>
            </a:r>
            <a:endParaRPr lang="en-US" sz="1600" dirty="0"/>
          </a:p>
        </p:txBody>
      </p:sp>
      <p:sp>
        <p:nvSpPr>
          <p:cNvPr id="11" name="Shape 9"/>
          <p:cNvSpPr/>
          <p:nvPr/>
        </p:nvSpPr>
        <p:spPr>
          <a:xfrm>
            <a:off x="9649658" y="2303145"/>
            <a:ext cx="4253389" cy="2240161"/>
          </a:xfrm>
          <a:prstGeom prst="roundRect">
            <a:avLst>
              <a:gd name="adj" fmla="val 4898"/>
            </a:avLst>
          </a:prstGeom>
          <a:solidFill>
            <a:srgbClr val="FFFFFF"/>
          </a:solidFill>
          <a:ln w="22860">
            <a:solidFill>
              <a:srgbClr val="4950BC"/>
            </a:solidFill>
            <a:prstDash val="solid"/>
          </a:ln>
        </p:spPr>
      </p:sp>
      <p:sp>
        <p:nvSpPr>
          <p:cNvPr id="12" name="Shape 10"/>
          <p:cNvSpPr/>
          <p:nvPr/>
        </p:nvSpPr>
        <p:spPr>
          <a:xfrm>
            <a:off x="9626798" y="2303145"/>
            <a:ext cx="91440" cy="2240161"/>
          </a:xfrm>
          <a:prstGeom prst="roundRect">
            <a:avLst>
              <a:gd name="adj" fmla="val 95438"/>
            </a:avLst>
          </a:prstGeom>
          <a:solidFill>
            <a:srgbClr val="4950BC"/>
          </a:solidFill>
        </p:spPr>
      </p:sp>
      <p:sp>
        <p:nvSpPr>
          <p:cNvPr id="13" name="Text 11"/>
          <p:cNvSpPr/>
          <p:nvPr/>
        </p:nvSpPr>
        <p:spPr>
          <a:xfrm>
            <a:off x="9948862" y="2533769"/>
            <a:ext cx="3504367" cy="324564"/>
          </a:xfrm>
          <a:prstGeom prst="rect">
            <a:avLst/>
          </a:prstGeom>
          <a:noFill/>
        </p:spPr>
        <p:txBody>
          <a:bodyPr wrap="none" lIns="0" tIns="0" rIns="0" bIns="0" rtlCol="0" anchor="t"/>
          <a:lstStyle/>
          <a:p>
            <a:pPr marL="0" indent="0" algn="l">
              <a:lnSpc>
                <a:spcPts val="2550"/>
              </a:lnSpc>
              <a:buNone/>
            </a:pPr>
            <a:r>
              <a:rPr lang="en-US" sz="2000" b="1" dirty="0">
                <a:solidFill>
                  <a:srgbClr val="272525"/>
                </a:solidFill>
                <a:latin typeface="Inter Bold" pitchFamily="34" charset="0"/>
                <a:ea typeface="Inter Bold" pitchFamily="34" charset="-122"/>
                <a:cs typeface="Inter Bold" pitchFamily="34" charset="-120"/>
              </a:rPr>
              <a:t>Inadequate Fraud Detection</a:t>
            </a:r>
            <a:endParaRPr lang="en-US" sz="2000" dirty="0"/>
          </a:p>
        </p:txBody>
      </p:sp>
      <p:sp>
        <p:nvSpPr>
          <p:cNvPr id="14" name="Text 12"/>
          <p:cNvSpPr/>
          <p:nvPr/>
        </p:nvSpPr>
        <p:spPr>
          <a:xfrm>
            <a:off x="9948862" y="2982992"/>
            <a:ext cx="3723561" cy="132969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anose="02000503000000020004" pitchFamily="34" charset="0"/>
                <a:ea typeface="Inter" panose="02000503000000020004" pitchFamily="34" charset="-122"/>
                <a:cs typeface="Inter" panose="02000503000000020004" pitchFamily="34" charset="-120"/>
              </a:rPr>
              <a:t>Legacy rule-based systems generated excessive false positives, undermining customer experience and operational efficiency.</a:t>
            </a:r>
            <a:endParaRPr lang="en-US" sz="1600" dirty="0"/>
          </a:p>
        </p:txBody>
      </p:sp>
      <p:sp>
        <p:nvSpPr>
          <p:cNvPr id="15" name="Shape 13"/>
          <p:cNvSpPr/>
          <p:nvPr/>
        </p:nvSpPr>
        <p:spPr>
          <a:xfrm>
            <a:off x="727234" y="4751070"/>
            <a:ext cx="4253389" cy="2240161"/>
          </a:xfrm>
          <a:prstGeom prst="roundRect">
            <a:avLst>
              <a:gd name="adj" fmla="val 4898"/>
            </a:avLst>
          </a:prstGeom>
          <a:solidFill>
            <a:srgbClr val="FFFFFF"/>
          </a:solidFill>
          <a:ln w="22860">
            <a:solidFill>
              <a:srgbClr val="4950BC"/>
            </a:solidFill>
            <a:prstDash val="solid"/>
          </a:ln>
        </p:spPr>
      </p:sp>
      <p:sp>
        <p:nvSpPr>
          <p:cNvPr id="16" name="Shape 14"/>
          <p:cNvSpPr/>
          <p:nvPr/>
        </p:nvSpPr>
        <p:spPr>
          <a:xfrm>
            <a:off x="704374" y="4751070"/>
            <a:ext cx="91440" cy="2240161"/>
          </a:xfrm>
          <a:prstGeom prst="roundRect">
            <a:avLst>
              <a:gd name="adj" fmla="val 95438"/>
            </a:avLst>
          </a:prstGeom>
          <a:solidFill>
            <a:srgbClr val="4950BC"/>
          </a:solidFill>
        </p:spPr>
      </p:sp>
      <p:sp>
        <p:nvSpPr>
          <p:cNvPr id="17" name="Text 15"/>
          <p:cNvSpPr/>
          <p:nvPr/>
        </p:nvSpPr>
        <p:spPr>
          <a:xfrm>
            <a:off x="1026438" y="4981694"/>
            <a:ext cx="2867858" cy="324564"/>
          </a:xfrm>
          <a:prstGeom prst="rect">
            <a:avLst/>
          </a:prstGeom>
          <a:noFill/>
        </p:spPr>
        <p:txBody>
          <a:bodyPr wrap="none" lIns="0" tIns="0" rIns="0" bIns="0" rtlCol="0" anchor="t"/>
          <a:lstStyle/>
          <a:p>
            <a:pPr marL="0" indent="0" algn="l">
              <a:lnSpc>
                <a:spcPts val="2550"/>
              </a:lnSpc>
              <a:buNone/>
            </a:pPr>
            <a:r>
              <a:rPr lang="en-US" sz="2000" b="1" dirty="0">
                <a:solidFill>
                  <a:srgbClr val="272525"/>
                </a:solidFill>
                <a:latin typeface="Inter Bold" pitchFamily="34" charset="0"/>
                <a:ea typeface="Inter Bold" pitchFamily="34" charset="-122"/>
                <a:cs typeface="Inter Bold" pitchFamily="34" charset="-120"/>
              </a:rPr>
              <a:t>Scalability Constraints</a:t>
            </a:r>
            <a:endParaRPr lang="en-US" sz="2000" dirty="0"/>
          </a:p>
        </p:txBody>
      </p:sp>
      <p:sp>
        <p:nvSpPr>
          <p:cNvPr id="18" name="Text 16"/>
          <p:cNvSpPr/>
          <p:nvPr/>
        </p:nvSpPr>
        <p:spPr>
          <a:xfrm>
            <a:off x="1026438" y="5430917"/>
            <a:ext cx="3723561" cy="132969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anose="02000503000000020004" pitchFamily="34" charset="0"/>
                <a:ea typeface="Inter" panose="02000503000000020004" pitchFamily="34" charset="-122"/>
                <a:cs typeface="Inter" panose="02000503000000020004" pitchFamily="34" charset="-120"/>
              </a:rPr>
              <a:t>Absence of robust infrastructure prevented deployment of algorithmic trading signals and limited growth potential.</a:t>
            </a:r>
            <a:endParaRPr lang="en-US" sz="1600" dirty="0"/>
          </a:p>
        </p:txBody>
      </p:sp>
      <p:sp>
        <p:nvSpPr>
          <p:cNvPr id="19" name="Shape 17"/>
          <p:cNvSpPr/>
          <p:nvPr/>
        </p:nvSpPr>
        <p:spPr>
          <a:xfrm>
            <a:off x="5188387" y="4751070"/>
            <a:ext cx="4253508" cy="2240161"/>
          </a:xfrm>
          <a:prstGeom prst="roundRect">
            <a:avLst>
              <a:gd name="adj" fmla="val 4898"/>
            </a:avLst>
          </a:prstGeom>
          <a:solidFill>
            <a:srgbClr val="FFFFFF"/>
          </a:solidFill>
          <a:ln w="22860">
            <a:solidFill>
              <a:srgbClr val="4950BC"/>
            </a:solidFill>
            <a:prstDash val="solid"/>
          </a:ln>
        </p:spPr>
      </p:sp>
      <p:sp>
        <p:nvSpPr>
          <p:cNvPr id="20" name="Shape 18"/>
          <p:cNvSpPr/>
          <p:nvPr/>
        </p:nvSpPr>
        <p:spPr>
          <a:xfrm>
            <a:off x="5165527" y="4751070"/>
            <a:ext cx="91440" cy="2240161"/>
          </a:xfrm>
          <a:prstGeom prst="roundRect">
            <a:avLst>
              <a:gd name="adj" fmla="val 95438"/>
            </a:avLst>
          </a:prstGeom>
          <a:solidFill>
            <a:srgbClr val="4950BC"/>
          </a:solidFill>
        </p:spPr>
      </p:sp>
      <p:sp>
        <p:nvSpPr>
          <p:cNvPr id="21" name="Text 19"/>
          <p:cNvSpPr/>
          <p:nvPr/>
        </p:nvSpPr>
        <p:spPr>
          <a:xfrm>
            <a:off x="5487591" y="4981694"/>
            <a:ext cx="3313867" cy="324564"/>
          </a:xfrm>
          <a:prstGeom prst="rect">
            <a:avLst/>
          </a:prstGeom>
          <a:noFill/>
        </p:spPr>
        <p:txBody>
          <a:bodyPr wrap="none" lIns="0" tIns="0" rIns="0" bIns="0" rtlCol="0" anchor="t"/>
          <a:lstStyle/>
          <a:p>
            <a:pPr marL="0" indent="0" algn="l">
              <a:lnSpc>
                <a:spcPts val="2550"/>
              </a:lnSpc>
              <a:buNone/>
            </a:pPr>
            <a:r>
              <a:rPr lang="en-US" sz="2000" b="1" dirty="0">
                <a:solidFill>
                  <a:srgbClr val="272525"/>
                </a:solidFill>
                <a:latin typeface="Inter Bold" pitchFamily="34" charset="0"/>
                <a:ea typeface="Inter Bold" pitchFamily="34" charset="-122"/>
                <a:cs typeface="Inter Bold" pitchFamily="34" charset="-120"/>
              </a:rPr>
              <a:t>Limited Economic Context</a:t>
            </a:r>
            <a:endParaRPr lang="en-US" sz="2000" dirty="0"/>
          </a:p>
        </p:txBody>
      </p:sp>
      <p:sp>
        <p:nvSpPr>
          <p:cNvPr id="22" name="Text 20"/>
          <p:cNvSpPr/>
          <p:nvPr/>
        </p:nvSpPr>
        <p:spPr>
          <a:xfrm>
            <a:off x="5487591" y="5430917"/>
            <a:ext cx="3723680" cy="132969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anose="02000503000000020004" pitchFamily="34" charset="0"/>
                <a:ea typeface="Inter" panose="02000503000000020004" pitchFamily="34" charset="-122"/>
                <a:cs typeface="Inter" panose="02000503000000020004" pitchFamily="34" charset="-120"/>
              </a:rPr>
              <a:t>Investment decisions lacked integration with macroeconomic indicators, resulting in incomplete risk assessment frameworks.</a:t>
            </a:r>
            <a:endParaRPr lang="en-US" sz="1600" dirty="0"/>
          </a:p>
        </p:txBody>
      </p:sp>
      <p:pic>
        <p:nvPicPr>
          <p:cNvPr id="26" name="Picture 25" descr="Screenshot 2025-11-10 at 2.34.10 AM"/>
          <p:cNvPicPr>
            <a:picLocks noChangeAspect="1"/>
          </p:cNvPicPr>
          <p:nvPr/>
        </p:nvPicPr>
        <p:blipFill>
          <a:blip r:embed="rId1"/>
          <a:stretch>
            <a:fillRect/>
          </a:stretch>
        </p:blipFill>
        <p:spPr>
          <a:xfrm>
            <a:off x="12382500" y="7797800"/>
            <a:ext cx="2247900" cy="3746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5200" y="508635"/>
            <a:ext cx="7113032" cy="576024"/>
          </a:xfrm>
          <a:prstGeom prst="rect">
            <a:avLst/>
          </a:prstGeom>
          <a:noFill/>
        </p:spPr>
        <p:txBody>
          <a:bodyPr wrap="none" lIns="0" tIns="0" rIns="0" bIns="0" rtlCol="0" anchor="t"/>
          <a:lstStyle/>
          <a:p>
            <a:pPr marL="0" indent="0" algn="l">
              <a:lnSpc>
                <a:spcPts val="4500"/>
              </a:lnSpc>
              <a:buNone/>
            </a:pPr>
            <a:r>
              <a:rPr lang="en-US" sz="3600" b="1" dirty="0">
                <a:solidFill>
                  <a:srgbClr val="000000"/>
                </a:solidFill>
                <a:latin typeface="Inter Bold" pitchFamily="34" charset="0"/>
                <a:ea typeface="Inter Bold" pitchFamily="34" charset="-122"/>
                <a:cs typeface="Inter Bold" pitchFamily="34" charset="-120"/>
              </a:rPr>
              <a:t>Multi-Tier Solution Architecture</a:t>
            </a:r>
            <a:endParaRPr lang="en-US" sz="3600" dirty="0"/>
          </a:p>
        </p:txBody>
      </p:sp>
      <p:sp>
        <p:nvSpPr>
          <p:cNvPr id="3" name="Shape 1"/>
          <p:cNvSpPr/>
          <p:nvPr/>
        </p:nvSpPr>
        <p:spPr>
          <a:xfrm>
            <a:off x="829508" y="1729740"/>
            <a:ext cx="184309" cy="829508"/>
          </a:xfrm>
          <a:prstGeom prst="roundRect">
            <a:avLst>
              <a:gd name="adj" fmla="val 42009"/>
            </a:avLst>
          </a:prstGeom>
          <a:solidFill>
            <a:srgbClr val="DADBF1"/>
          </a:solidFill>
          <a:ln w="7620">
            <a:solidFill>
              <a:srgbClr val="C0C1D7"/>
            </a:solidFill>
            <a:prstDash val="solid"/>
          </a:ln>
        </p:spPr>
      </p:sp>
      <p:sp>
        <p:nvSpPr>
          <p:cNvPr id="4" name="Shape 2"/>
          <p:cNvSpPr/>
          <p:nvPr/>
        </p:nvSpPr>
        <p:spPr>
          <a:xfrm>
            <a:off x="645200" y="1608773"/>
            <a:ext cx="553045" cy="553045"/>
          </a:xfrm>
          <a:prstGeom prst="roundRect">
            <a:avLst>
              <a:gd name="adj" fmla="val 82670"/>
            </a:avLst>
          </a:prstGeom>
          <a:solidFill>
            <a:srgbClr val="DADBF1"/>
          </a:solidFill>
          <a:ln w="7620">
            <a:solidFill>
              <a:srgbClr val="C0C1D7"/>
            </a:solidFill>
            <a:prstDash val="solid"/>
          </a:ln>
        </p:spPr>
      </p:sp>
      <p:pic>
        <p:nvPicPr>
          <p:cNvPr id="5"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3431" y="1747004"/>
            <a:ext cx="276463" cy="276463"/>
          </a:xfrm>
          <a:prstGeom prst="rect">
            <a:avLst/>
          </a:prstGeom>
        </p:spPr>
      </p:pic>
      <p:sp>
        <p:nvSpPr>
          <p:cNvPr id="6" name="Text 3"/>
          <p:cNvSpPr/>
          <p:nvPr/>
        </p:nvSpPr>
        <p:spPr>
          <a:xfrm>
            <a:off x="1382554" y="1637586"/>
            <a:ext cx="2530554" cy="287893"/>
          </a:xfrm>
          <a:prstGeom prst="rect">
            <a:avLst/>
          </a:prstGeom>
          <a:noFill/>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Data Acquisition Layer</a:t>
            </a:r>
            <a:endParaRPr lang="en-US" sz="1800" dirty="0"/>
          </a:p>
        </p:txBody>
      </p:sp>
      <p:sp>
        <p:nvSpPr>
          <p:cNvPr id="7" name="Text 4"/>
          <p:cNvSpPr/>
          <p:nvPr/>
        </p:nvSpPr>
        <p:spPr>
          <a:xfrm>
            <a:off x="1382554" y="2036088"/>
            <a:ext cx="12602647" cy="294799"/>
          </a:xfrm>
          <a:prstGeom prst="rect">
            <a:avLst/>
          </a:prstGeom>
          <a:noFill/>
        </p:spPr>
        <p:txBody>
          <a:bodyPr wrap="none" lIns="0" tIns="0" rIns="0" bIns="0" rtlCol="0" anchor="t"/>
          <a:lstStyle/>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Yahoo Finance API for equities, Federal Reserve FRED for economics, synthetic transaction generation for fraud modeling</a:t>
            </a:r>
            <a:endParaRPr lang="en-US" sz="1450" dirty="0"/>
          </a:p>
        </p:txBody>
      </p:sp>
      <p:sp>
        <p:nvSpPr>
          <p:cNvPr id="8" name="Shape 5"/>
          <p:cNvSpPr/>
          <p:nvPr/>
        </p:nvSpPr>
        <p:spPr>
          <a:xfrm>
            <a:off x="1105972" y="3020139"/>
            <a:ext cx="184309" cy="829508"/>
          </a:xfrm>
          <a:prstGeom prst="roundRect">
            <a:avLst>
              <a:gd name="adj" fmla="val 42009"/>
            </a:avLst>
          </a:prstGeom>
          <a:solidFill>
            <a:srgbClr val="DADBF1"/>
          </a:solidFill>
          <a:ln w="7620">
            <a:solidFill>
              <a:srgbClr val="C0C1D7"/>
            </a:solidFill>
            <a:prstDash val="solid"/>
          </a:ln>
        </p:spPr>
      </p:sp>
      <p:sp>
        <p:nvSpPr>
          <p:cNvPr id="9" name="Shape 6"/>
          <p:cNvSpPr/>
          <p:nvPr/>
        </p:nvSpPr>
        <p:spPr>
          <a:xfrm>
            <a:off x="921663" y="2899172"/>
            <a:ext cx="553045" cy="553045"/>
          </a:xfrm>
          <a:prstGeom prst="roundRect">
            <a:avLst>
              <a:gd name="adj" fmla="val 82670"/>
            </a:avLst>
          </a:prstGeom>
          <a:solidFill>
            <a:srgbClr val="DADBF1"/>
          </a:solidFill>
          <a:ln w="7620">
            <a:solidFill>
              <a:srgbClr val="C0C1D7"/>
            </a:solidFill>
            <a:prstDash val="solid"/>
          </a:ln>
        </p:spPr>
      </p:sp>
      <p:pic>
        <p:nvPicPr>
          <p:cNvPr id="10"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1059894" y="3037403"/>
            <a:ext cx="276463" cy="276463"/>
          </a:xfrm>
          <a:prstGeom prst="rect">
            <a:avLst/>
          </a:prstGeom>
        </p:spPr>
      </p:pic>
      <p:sp>
        <p:nvSpPr>
          <p:cNvPr id="11" name="Text 7"/>
          <p:cNvSpPr/>
          <p:nvPr/>
        </p:nvSpPr>
        <p:spPr>
          <a:xfrm>
            <a:off x="1659017" y="2927985"/>
            <a:ext cx="2584966" cy="287893"/>
          </a:xfrm>
          <a:prstGeom prst="rect">
            <a:avLst/>
          </a:prstGeom>
          <a:noFill/>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Storage &amp; Optimization</a:t>
            </a:r>
            <a:endParaRPr lang="en-US" sz="1800" dirty="0"/>
          </a:p>
        </p:txBody>
      </p:sp>
      <p:sp>
        <p:nvSpPr>
          <p:cNvPr id="12" name="Text 8"/>
          <p:cNvSpPr/>
          <p:nvPr/>
        </p:nvSpPr>
        <p:spPr>
          <a:xfrm>
            <a:off x="1659017" y="3326487"/>
            <a:ext cx="12326183" cy="294799"/>
          </a:xfrm>
          <a:prstGeom prst="rect">
            <a:avLst/>
          </a:prstGeom>
          <a:noFill/>
        </p:spPr>
        <p:txBody>
          <a:bodyPr wrap="none" lIns="0" tIns="0" rIns="0" bIns="0" rtlCol="0" anchor="t"/>
          <a:lstStyle/>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Databricks Delta Lake with partitioning, Z-ordering, change data feed, and ACID transaction support</a:t>
            </a:r>
            <a:endParaRPr lang="en-US" sz="1450" dirty="0"/>
          </a:p>
        </p:txBody>
      </p:sp>
      <p:sp>
        <p:nvSpPr>
          <p:cNvPr id="13" name="Shape 9"/>
          <p:cNvSpPr/>
          <p:nvPr/>
        </p:nvSpPr>
        <p:spPr>
          <a:xfrm>
            <a:off x="1382554" y="4310539"/>
            <a:ext cx="184309" cy="829508"/>
          </a:xfrm>
          <a:prstGeom prst="roundRect">
            <a:avLst>
              <a:gd name="adj" fmla="val 42009"/>
            </a:avLst>
          </a:prstGeom>
          <a:solidFill>
            <a:srgbClr val="DADBF1"/>
          </a:solidFill>
          <a:ln w="7620">
            <a:solidFill>
              <a:srgbClr val="C0C1D7"/>
            </a:solidFill>
            <a:prstDash val="solid"/>
          </a:ln>
        </p:spPr>
      </p:sp>
      <p:sp>
        <p:nvSpPr>
          <p:cNvPr id="14" name="Shape 10"/>
          <p:cNvSpPr/>
          <p:nvPr/>
        </p:nvSpPr>
        <p:spPr>
          <a:xfrm>
            <a:off x="1198245" y="4189571"/>
            <a:ext cx="553045" cy="553045"/>
          </a:xfrm>
          <a:prstGeom prst="roundRect">
            <a:avLst>
              <a:gd name="adj" fmla="val 82670"/>
            </a:avLst>
          </a:prstGeom>
          <a:solidFill>
            <a:srgbClr val="DADBF1"/>
          </a:solidFill>
          <a:ln w="7620">
            <a:solidFill>
              <a:srgbClr val="C0C1D7"/>
            </a:solidFill>
            <a:prstDash val="solid"/>
          </a:ln>
        </p:spPr>
      </p:sp>
      <p:pic>
        <p:nvPicPr>
          <p:cNvPr id="15"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1336477" y="4327803"/>
            <a:ext cx="276463" cy="276463"/>
          </a:xfrm>
          <a:prstGeom prst="rect">
            <a:avLst/>
          </a:prstGeom>
        </p:spPr>
      </p:pic>
      <p:sp>
        <p:nvSpPr>
          <p:cNvPr id="16" name="Text 11"/>
          <p:cNvSpPr/>
          <p:nvPr/>
        </p:nvSpPr>
        <p:spPr>
          <a:xfrm>
            <a:off x="1935599" y="4218384"/>
            <a:ext cx="2304336" cy="287893"/>
          </a:xfrm>
          <a:prstGeom prst="rect">
            <a:avLst/>
          </a:prstGeom>
          <a:noFill/>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Processing Engine</a:t>
            </a:r>
            <a:endParaRPr lang="en-US" sz="1800" dirty="0"/>
          </a:p>
        </p:txBody>
      </p:sp>
      <p:sp>
        <p:nvSpPr>
          <p:cNvPr id="17" name="Text 12"/>
          <p:cNvSpPr/>
          <p:nvPr/>
        </p:nvSpPr>
        <p:spPr>
          <a:xfrm>
            <a:off x="1935599" y="4616887"/>
            <a:ext cx="12049601" cy="294799"/>
          </a:xfrm>
          <a:prstGeom prst="rect">
            <a:avLst/>
          </a:prstGeom>
          <a:noFill/>
        </p:spPr>
        <p:txBody>
          <a:bodyPr wrap="none" lIns="0" tIns="0" rIns="0" bIns="0" rtlCol="0" anchor="t"/>
          <a:lstStyle/>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PySpark distributed computing with Spark SQL and window functions for time-series analytics</a:t>
            </a:r>
            <a:endParaRPr lang="en-US" sz="1450" dirty="0"/>
          </a:p>
        </p:txBody>
      </p:sp>
      <p:sp>
        <p:nvSpPr>
          <p:cNvPr id="18" name="Shape 13"/>
          <p:cNvSpPr/>
          <p:nvPr/>
        </p:nvSpPr>
        <p:spPr>
          <a:xfrm>
            <a:off x="1659017" y="5600938"/>
            <a:ext cx="184309" cy="829508"/>
          </a:xfrm>
          <a:prstGeom prst="roundRect">
            <a:avLst>
              <a:gd name="adj" fmla="val 42009"/>
            </a:avLst>
          </a:prstGeom>
          <a:solidFill>
            <a:srgbClr val="DADBF1"/>
          </a:solidFill>
          <a:ln w="7620">
            <a:solidFill>
              <a:srgbClr val="C0C1D7"/>
            </a:solidFill>
            <a:prstDash val="solid"/>
          </a:ln>
        </p:spPr>
      </p:sp>
      <p:sp>
        <p:nvSpPr>
          <p:cNvPr id="19" name="Shape 14"/>
          <p:cNvSpPr/>
          <p:nvPr/>
        </p:nvSpPr>
        <p:spPr>
          <a:xfrm>
            <a:off x="1474708" y="5479971"/>
            <a:ext cx="553045" cy="553045"/>
          </a:xfrm>
          <a:prstGeom prst="roundRect">
            <a:avLst>
              <a:gd name="adj" fmla="val 82670"/>
            </a:avLst>
          </a:prstGeom>
          <a:solidFill>
            <a:srgbClr val="DADBF1"/>
          </a:solidFill>
          <a:ln w="7620">
            <a:solidFill>
              <a:srgbClr val="C0C1D7"/>
            </a:solidFill>
            <a:prstDash val="solid"/>
          </a:ln>
        </p:spPr>
      </p:sp>
      <p:pic>
        <p:nvPicPr>
          <p:cNvPr id="20"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1612940" y="5618202"/>
            <a:ext cx="276463" cy="276463"/>
          </a:xfrm>
          <a:prstGeom prst="rect">
            <a:avLst/>
          </a:prstGeom>
        </p:spPr>
      </p:pic>
      <p:sp>
        <p:nvSpPr>
          <p:cNvPr id="21" name="Text 15"/>
          <p:cNvSpPr/>
          <p:nvPr/>
        </p:nvSpPr>
        <p:spPr>
          <a:xfrm>
            <a:off x="2212062" y="5508784"/>
            <a:ext cx="2304336" cy="287893"/>
          </a:xfrm>
          <a:prstGeom prst="rect">
            <a:avLst/>
          </a:prstGeom>
          <a:noFill/>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Feature Engineering</a:t>
            </a:r>
            <a:endParaRPr lang="en-US" sz="1800" dirty="0"/>
          </a:p>
        </p:txBody>
      </p:sp>
      <p:sp>
        <p:nvSpPr>
          <p:cNvPr id="22" name="Text 16"/>
          <p:cNvSpPr/>
          <p:nvPr/>
        </p:nvSpPr>
        <p:spPr>
          <a:xfrm>
            <a:off x="2212062" y="5907286"/>
            <a:ext cx="11773138" cy="294799"/>
          </a:xfrm>
          <a:prstGeom prst="rect">
            <a:avLst/>
          </a:prstGeom>
          <a:noFill/>
        </p:spPr>
        <p:txBody>
          <a:bodyPr wrap="none" lIns="0" tIns="0" rIns="0" bIns="0" rtlCol="0" anchor="t"/>
          <a:lstStyle/>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15+ technical indicators including moving averages, RSI, Bollinger Bands, and volatility metrics</a:t>
            </a:r>
            <a:endParaRPr lang="en-US" sz="1450" dirty="0"/>
          </a:p>
        </p:txBody>
      </p:sp>
      <p:sp>
        <p:nvSpPr>
          <p:cNvPr id="23" name="Shape 17"/>
          <p:cNvSpPr/>
          <p:nvPr/>
        </p:nvSpPr>
        <p:spPr>
          <a:xfrm>
            <a:off x="1382554" y="6891337"/>
            <a:ext cx="184309" cy="829508"/>
          </a:xfrm>
          <a:prstGeom prst="roundRect">
            <a:avLst>
              <a:gd name="adj" fmla="val 42009"/>
            </a:avLst>
          </a:prstGeom>
          <a:solidFill>
            <a:srgbClr val="DADBF1"/>
          </a:solidFill>
          <a:ln w="7620">
            <a:solidFill>
              <a:srgbClr val="C0C1D7"/>
            </a:solidFill>
            <a:prstDash val="solid"/>
          </a:ln>
        </p:spPr>
      </p:sp>
      <p:sp>
        <p:nvSpPr>
          <p:cNvPr id="24" name="Shape 18"/>
          <p:cNvSpPr/>
          <p:nvPr/>
        </p:nvSpPr>
        <p:spPr>
          <a:xfrm>
            <a:off x="1198245" y="6770370"/>
            <a:ext cx="553045" cy="553045"/>
          </a:xfrm>
          <a:prstGeom prst="roundRect">
            <a:avLst>
              <a:gd name="adj" fmla="val 82670"/>
            </a:avLst>
          </a:prstGeom>
          <a:solidFill>
            <a:srgbClr val="DADBF1"/>
          </a:solidFill>
          <a:ln w="7620">
            <a:solidFill>
              <a:srgbClr val="C0C1D7"/>
            </a:solidFill>
            <a:prstDash val="solid"/>
          </a:ln>
        </p:spPr>
      </p:sp>
      <p:pic>
        <p:nvPicPr>
          <p:cNvPr id="25" name="Image 4" descr="preencoded.png"/>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1336477" y="6908602"/>
            <a:ext cx="276463" cy="276463"/>
          </a:xfrm>
          <a:prstGeom prst="rect">
            <a:avLst/>
          </a:prstGeom>
        </p:spPr>
      </p:pic>
      <p:sp>
        <p:nvSpPr>
          <p:cNvPr id="26" name="Text 19"/>
          <p:cNvSpPr/>
          <p:nvPr/>
        </p:nvSpPr>
        <p:spPr>
          <a:xfrm>
            <a:off x="1935599" y="6799183"/>
            <a:ext cx="2304336" cy="287893"/>
          </a:xfrm>
          <a:prstGeom prst="rect">
            <a:avLst/>
          </a:prstGeom>
          <a:noFill/>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ML &amp; AI Layer</a:t>
            </a:r>
            <a:endParaRPr lang="en-US" sz="1800" dirty="0"/>
          </a:p>
        </p:txBody>
      </p:sp>
      <p:sp>
        <p:nvSpPr>
          <p:cNvPr id="27" name="Text 20"/>
          <p:cNvSpPr/>
          <p:nvPr/>
        </p:nvSpPr>
        <p:spPr>
          <a:xfrm>
            <a:off x="1935599" y="7197685"/>
            <a:ext cx="12049601" cy="294799"/>
          </a:xfrm>
          <a:prstGeom prst="rect">
            <a:avLst/>
          </a:prstGeom>
          <a:noFill/>
        </p:spPr>
        <p:txBody>
          <a:bodyPr wrap="none" lIns="0" tIns="0" rIns="0" bIns="0" rtlCol="0" anchor="t"/>
          <a:lstStyle/>
          <a:p>
            <a:pPr marL="0" indent="0" algn="l">
              <a:lnSpc>
                <a:spcPts val="230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ARIMA/Prophet forecasting, classification models, and Databricks Foundation Models with ai_gen() function</a:t>
            </a:r>
            <a:endParaRPr lang="en-US" sz="1450" dirty="0"/>
          </a:p>
        </p:txBody>
      </p:sp>
      <p:pic>
        <p:nvPicPr>
          <p:cNvPr id="28" name="Picture 27" descr="Screenshot 2025-11-10 at 2.34.10 AM"/>
          <p:cNvPicPr>
            <a:picLocks noChangeAspect="1"/>
          </p:cNvPicPr>
          <p:nvPr/>
        </p:nvPicPr>
        <p:blipFill>
          <a:blip r:embed="rId7"/>
          <a:stretch>
            <a:fillRect/>
          </a:stretch>
        </p:blipFill>
        <p:spPr>
          <a:xfrm>
            <a:off x="12382500" y="7783830"/>
            <a:ext cx="2247900" cy="3746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0773" y="579477"/>
            <a:ext cx="6804541" cy="420410"/>
          </a:xfrm>
          <a:prstGeom prst="rect">
            <a:avLst/>
          </a:prstGeom>
          <a:noFill/>
        </p:spPr>
        <p:txBody>
          <a:bodyPr wrap="none" lIns="0" tIns="0" rIns="0" bIns="0" rtlCol="0" anchor="t"/>
          <a:lstStyle/>
          <a:p>
            <a:pPr marL="0" indent="0" algn="l">
              <a:lnSpc>
                <a:spcPts val="3300"/>
              </a:lnSpc>
              <a:buNone/>
            </a:pPr>
            <a:r>
              <a:rPr lang="en-US" sz="2600" b="1" dirty="0">
                <a:solidFill>
                  <a:srgbClr val="000000"/>
                </a:solidFill>
                <a:latin typeface="Inter Bold" pitchFamily="34" charset="0"/>
                <a:ea typeface="Inter Bold" pitchFamily="34" charset="-122"/>
                <a:cs typeface="Inter Bold" pitchFamily="34" charset="-120"/>
              </a:rPr>
              <a:t>Phase 1: Comprehensive Data Acquisition</a:t>
            </a:r>
            <a:endParaRPr lang="en-US" sz="2600" dirty="0"/>
          </a:p>
        </p:txBody>
      </p:sp>
      <p:sp>
        <p:nvSpPr>
          <p:cNvPr id="3" name="Text 1"/>
          <p:cNvSpPr/>
          <p:nvPr/>
        </p:nvSpPr>
        <p:spPr>
          <a:xfrm>
            <a:off x="470773" y="1336000"/>
            <a:ext cx="2415064" cy="252174"/>
          </a:xfrm>
          <a:prstGeom prst="rect">
            <a:avLst/>
          </a:prstGeom>
          <a:noFill/>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Multi-Source Integration</a:t>
            </a:r>
            <a:endParaRPr lang="en-US" sz="1550" dirty="0"/>
          </a:p>
        </p:txBody>
      </p:sp>
      <p:sp>
        <p:nvSpPr>
          <p:cNvPr id="4" name="Text 2"/>
          <p:cNvSpPr/>
          <p:nvPr/>
        </p:nvSpPr>
        <p:spPr>
          <a:xfrm>
            <a:off x="470773" y="1722596"/>
            <a:ext cx="8081962" cy="645795"/>
          </a:xfrm>
          <a:prstGeom prst="rect">
            <a:avLst/>
          </a:prstGeom>
          <a:noFill/>
        </p:spPr>
        <p:txBody>
          <a:bodyPr wrap="square" lIns="0" tIns="0" rIns="0" bIns="0" rtlCol="0" anchor="t"/>
          <a:lstStyle/>
          <a:p>
            <a:pPr marL="0" indent="0" algn="l">
              <a:lnSpc>
                <a:spcPts val="165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We established robust connections to four critical data sources, ingesting over 60,000 records with perfect reliability. This foundation enables comprehensive market analysis combining equity performance, macroeconomic trends, cryptocurrency dynamics, and transaction behavior.</a:t>
            </a:r>
            <a:endParaRPr lang="en-US" sz="1050" dirty="0"/>
          </a:p>
        </p:txBody>
      </p:sp>
      <p:pic>
        <p:nvPicPr>
          <p:cNvPr id="5" name="Image 0" descr="preencoded.png"/>
          <p:cNvPicPr>
            <a:picLocks noChangeAspect="1"/>
          </p:cNvPicPr>
          <p:nvPr/>
        </p:nvPicPr>
        <p:blipFill>
          <a:blip r:embed="rId1"/>
          <a:stretch>
            <a:fillRect/>
          </a:stretch>
        </p:blipFill>
        <p:spPr>
          <a:xfrm>
            <a:off x="470773" y="2519720"/>
            <a:ext cx="8081962" cy="4525804"/>
          </a:xfrm>
          <a:prstGeom prst="rect">
            <a:avLst/>
          </a:prstGeom>
        </p:spPr>
      </p:pic>
      <p:sp>
        <p:nvSpPr>
          <p:cNvPr id="6" name="Shape 3"/>
          <p:cNvSpPr/>
          <p:nvPr/>
        </p:nvSpPr>
        <p:spPr>
          <a:xfrm>
            <a:off x="8888492" y="1352907"/>
            <a:ext cx="5278636" cy="1597104"/>
          </a:xfrm>
          <a:prstGeom prst="roundRect">
            <a:avLst>
              <a:gd name="adj" fmla="val 3538"/>
            </a:avLst>
          </a:prstGeom>
          <a:solidFill>
            <a:srgbClr val="DADBF1"/>
          </a:solidFill>
          <a:ln w="7620">
            <a:solidFill>
              <a:srgbClr val="4950BC"/>
            </a:solidFill>
            <a:prstDash val="solid"/>
          </a:ln>
        </p:spPr>
      </p:sp>
      <p:sp>
        <p:nvSpPr>
          <p:cNvPr id="7" name="Shape 4"/>
          <p:cNvSpPr/>
          <p:nvPr/>
        </p:nvSpPr>
        <p:spPr>
          <a:xfrm>
            <a:off x="9030533" y="1494949"/>
            <a:ext cx="403503" cy="403503"/>
          </a:xfrm>
          <a:prstGeom prst="roundRect">
            <a:avLst>
              <a:gd name="adj" fmla="val 22659275"/>
            </a:avLst>
          </a:prstGeom>
          <a:solidFill>
            <a:srgbClr val="4950BC"/>
          </a:solidFill>
        </p:spPr>
      </p:sp>
      <p:pic>
        <p:nvPicPr>
          <p:cNvPr id="8"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41500" y="1605796"/>
            <a:ext cx="181570" cy="181570"/>
          </a:xfrm>
          <a:prstGeom prst="rect">
            <a:avLst/>
          </a:prstGeom>
        </p:spPr>
      </p:pic>
      <p:sp>
        <p:nvSpPr>
          <p:cNvPr id="9" name="Text 5"/>
          <p:cNvSpPr/>
          <p:nvPr/>
        </p:nvSpPr>
        <p:spPr>
          <a:xfrm>
            <a:off x="9030533" y="2032873"/>
            <a:ext cx="1681520" cy="210145"/>
          </a:xfrm>
          <a:prstGeom prst="rect">
            <a:avLst/>
          </a:prstGeom>
          <a:noFill/>
        </p:spPr>
        <p:txBody>
          <a:bodyPr wrap="none" lIns="0" tIns="0" rIns="0" bIns="0" rtlCol="0" anchor="t"/>
          <a:lstStyle/>
          <a:p>
            <a:pPr marL="0" indent="0" algn="l">
              <a:lnSpc>
                <a:spcPts val="1650"/>
              </a:lnSpc>
              <a:buNone/>
            </a:pPr>
            <a:r>
              <a:rPr lang="en-US" sz="1300" b="1" dirty="0">
                <a:solidFill>
                  <a:srgbClr val="272525"/>
                </a:solidFill>
                <a:latin typeface="Inter Bold" pitchFamily="34" charset="0"/>
                <a:ea typeface="Inter Bold" pitchFamily="34" charset="-122"/>
                <a:cs typeface="Inter Bold" pitchFamily="34" charset="-120"/>
              </a:rPr>
              <a:t>Equities</a:t>
            </a:r>
            <a:endParaRPr lang="en-US" sz="1300" dirty="0"/>
          </a:p>
        </p:txBody>
      </p:sp>
      <p:sp>
        <p:nvSpPr>
          <p:cNvPr id="10" name="Text 6"/>
          <p:cNvSpPr/>
          <p:nvPr/>
        </p:nvSpPr>
        <p:spPr>
          <a:xfrm>
            <a:off x="9030533" y="2377440"/>
            <a:ext cx="4994553" cy="430530"/>
          </a:xfrm>
          <a:prstGeom prst="rect">
            <a:avLst/>
          </a:prstGeom>
          <a:noFill/>
        </p:spPr>
        <p:txBody>
          <a:bodyPr wrap="square" lIns="0" tIns="0" rIns="0" bIns="0" rtlCol="0" anchor="t"/>
          <a:lstStyle/>
          <a:p>
            <a:pPr marL="0" indent="0" algn="l">
              <a:lnSpc>
                <a:spcPts val="165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10 tickers spanning banking (JPM, BAC, GS) and technology (AAPL, MSFT) sectors</a:t>
            </a:r>
            <a:endParaRPr lang="en-US" sz="1050" dirty="0"/>
          </a:p>
        </p:txBody>
      </p:sp>
      <p:sp>
        <p:nvSpPr>
          <p:cNvPr id="11" name="Shape 7"/>
          <p:cNvSpPr/>
          <p:nvPr/>
        </p:nvSpPr>
        <p:spPr>
          <a:xfrm>
            <a:off x="8888492" y="3084433"/>
            <a:ext cx="5278636" cy="1381839"/>
          </a:xfrm>
          <a:prstGeom prst="roundRect">
            <a:avLst>
              <a:gd name="adj" fmla="val 4089"/>
            </a:avLst>
          </a:prstGeom>
          <a:solidFill>
            <a:srgbClr val="DADBF1"/>
          </a:solidFill>
          <a:ln w="7620">
            <a:solidFill>
              <a:srgbClr val="4950BC"/>
            </a:solidFill>
            <a:prstDash val="solid"/>
          </a:ln>
        </p:spPr>
      </p:sp>
      <p:sp>
        <p:nvSpPr>
          <p:cNvPr id="12" name="Shape 8"/>
          <p:cNvSpPr/>
          <p:nvPr/>
        </p:nvSpPr>
        <p:spPr>
          <a:xfrm>
            <a:off x="9030533" y="3226475"/>
            <a:ext cx="403503" cy="403503"/>
          </a:xfrm>
          <a:prstGeom prst="roundRect">
            <a:avLst>
              <a:gd name="adj" fmla="val 22659275"/>
            </a:avLst>
          </a:prstGeom>
          <a:solidFill>
            <a:srgbClr val="4950BC"/>
          </a:solidFill>
        </p:spPr>
      </p:sp>
      <p:pic>
        <p:nvPicPr>
          <p:cNvPr id="13" name="Image 2" descr="preencoded.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9141500" y="3337322"/>
            <a:ext cx="181570" cy="181570"/>
          </a:xfrm>
          <a:prstGeom prst="rect">
            <a:avLst/>
          </a:prstGeom>
        </p:spPr>
      </p:pic>
      <p:sp>
        <p:nvSpPr>
          <p:cNvPr id="14" name="Text 9"/>
          <p:cNvSpPr/>
          <p:nvPr/>
        </p:nvSpPr>
        <p:spPr>
          <a:xfrm>
            <a:off x="9030533" y="3764399"/>
            <a:ext cx="1681520" cy="210145"/>
          </a:xfrm>
          <a:prstGeom prst="rect">
            <a:avLst/>
          </a:prstGeom>
          <a:noFill/>
        </p:spPr>
        <p:txBody>
          <a:bodyPr wrap="none" lIns="0" tIns="0" rIns="0" bIns="0" rtlCol="0" anchor="t"/>
          <a:lstStyle/>
          <a:p>
            <a:pPr marL="0" indent="0" algn="l">
              <a:lnSpc>
                <a:spcPts val="1650"/>
              </a:lnSpc>
              <a:buNone/>
            </a:pPr>
            <a:r>
              <a:rPr lang="en-US" sz="1300" b="1" dirty="0">
                <a:solidFill>
                  <a:srgbClr val="272525"/>
                </a:solidFill>
                <a:latin typeface="Inter Bold" pitchFamily="34" charset="0"/>
                <a:ea typeface="Inter Bold" pitchFamily="34" charset="-122"/>
                <a:cs typeface="Inter Bold" pitchFamily="34" charset="-120"/>
              </a:rPr>
              <a:t>Economics</a:t>
            </a:r>
            <a:endParaRPr lang="en-US" sz="1300" dirty="0"/>
          </a:p>
        </p:txBody>
      </p:sp>
      <p:sp>
        <p:nvSpPr>
          <p:cNvPr id="15" name="Text 10"/>
          <p:cNvSpPr/>
          <p:nvPr/>
        </p:nvSpPr>
        <p:spPr>
          <a:xfrm>
            <a:off x="9030533" y="4108966"/>
            <a:ext cx="4994553" cy="215265"/>
          </a:xfrm>
          <a:prstGeom prst="rect">
            <a:avLst/>
          </a:prstGeom>
          <a:noFill/>
        </p:spPr>
        <p:txBody>
          <a:bodyPr wrap="none" lIns="0" tIns="0" rIns="0" bIns="0" rtlCol="0" anchor="t"/>
          <a:lstStyle/>
          <a:p>
            <a:pPr marL="0" indent="0" algn="l">
              <a:lnSpc>
                <a:spcPts val="165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6 FRED series: GDP, unemployment, CPI, Fed Funds, Treasury rates, USD/EUR</a:t>
            </a:r>
            <a:endParaRPr lang="en-US" sz="1050" dirty="0"/>
          </a:p>
        </p:txBody>
      </p:sp>
      <p:sp>
        <p:nvSpPr>
          <p:cNvPr id="16" name="Shape 11"/>
          <p:cNvSpPr/>
          <p:nvPr/>
        </p:nvSpPr>
        <p:spPr>
          <a:xfrm>
            <a:off x="8888492" y="4600694"/>
            <a:ext cx="5278636" cy="1381839"/>
          </a:xfrm>
          <a:prstGeom prst="roundRect">
            <a:avLst>
              <a:gd name="adj" fmla="val 4089"/>
            </a:avLst>
          </a:prstGeom>
          <a:solidFill>
            <a:srgbClr val="DADBF1"/>
          </a:solidFill>
          <a:ln w="7620">
            <a:solidFill>
              <a:srgbClr val="4950BC"/>
            </a:solidFill>
            <a:prstDash val="solid"/>
          </a:ln>
        </p:spPr>
      </p:sp>
      <p:sp>
        <p:nvSpPr>
          <p:cNvPr id="17" name="Shape 12"/>
          <p:cNvSpPr/>
          <p:nvPr/>
        </p:nvSpPr>
        <p:spPr>
          <a:xfrm>
            <a:off x="9030533" y="4742736"/>
            <a:ext cx="403503" cy="403503"/>
          </a:xfrm>
          <a:prstGeom prst="roundRect">
            <a:avLst>
              <a:gd name="adj" fmla="val 22659275"/>
            </a:avLst>
          </a:prstGeom>
          <a:solidFill>
            <a:srgbClr val="4950BC"/>
          </a:solidFill>
        </p:spPr>
      </p:sp>
      <p:pic>
        <p:nvPicPr>
          <p:cNvPr id="18" name="Image 3" descr="preencoded.png"/>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9141500" y="4853583"/>
            <a:ext cx="181570" cy="181570"/>
          </a:xfrm>
          <a:prstGeom prst="rect">
            <a:avLst/>
          </a:prstGeom>
        </p:spPr>
      </p:pic>
      <p:sp>
        <p:nvSpPr>
          <p:cNvPr id="19" name="Text 13"/>
          <p:cNvSpPr/>
          <p:nvPr/>
        </p:nvSpPr>
        <p:spPr>
          <a:xfrm>
            <a:off x="9030533" y="5280660"/>
            <a:ext cx="1681520" cy="210145"/>
          </a:xfrm>
          <a:prstGeom prst="rect">
            <a:avLst/>
          </a:prstGeom>
          <a:noFill/>
        </p:spPr>
        <p:txBody>
          <a:bodyPr wrap="none" lIns="0" tIns="0" rIns="0" bIns="0" rtlCol="0" anchor="t"/>
          <a:lstStyle/>
          <a:p>
            <a:pPr marL="0" indent="0" algn="l">
              <a:lnSpc>
                <a:spcPts val="1650"/>
              </a:lnSpc>
              <a:buNone/>
            </a:pPr>
            <a:r>
              <a:rPr lang="en-US" sz="1300" b="1" dirty="0">
                <a:solidFill>
                  <a:srgbClr val="272525"/>
                </a:solidFill>
                <a:latin typeface="Inter Bold" pitchFamily="34" charset="0"/>
                <a:ea typeface="Inter Bold" pitchFamily="34" charset="-122"/>
                <a:cs typeface="Inter Bold" pitchFamily="34" charset="-120"/>
              </a:rPr>
              <a:t>Crypto Assets</a:t>
            </a:r>
            <a:endParaRPr lang="en-US" sz="1300" dirty="0"/>
          </a:p>
        </p:txBody>
      </p:sp>
      <p:sp>
        <p:nvSpPr>
          <p:cNvPr id="20" name="Text 14"/>
          <p:cNvSpPr/>
          <p:nvPr/>
        </p:nvSpPr>
        <p:spPr>
          <a:xfrm>
            <a:off x="9030533" y="5625227"/>
            <a:ext cx="4994553" cy="215265"/>
          </a:xfrm>
          <a:prstGeom prst="rect">
            <a:avLst/>
          </a:prstGeom>
          <a:noFill/>
        </p:spPr>
        <p:txBody>
          <a:bodyPr wrap="none" lIns="0" tIns="0" rIns="0" bIns="0" rtlCol="0" anchor="t"/>
          <a:lstStyle/>
          <a:p>
            <a:pPr marL="0" indent="0" algn="l">
              <a:lnSpc>
                <a:spcPts val="165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5 digital currencies: BTC, ETH, BNB, XRP, ADA</a:t>
            </a:r>
            <a:endParaRPr lang="en-US" sz="1050" dirty="0"/>
          </a:p>
        </p:txBody>
      </p:sp>
      <p:sp>
        <p:nvSpPr>
          <p:cNvPr id="21" name="Shape 15"/>
          <p:cNvSpPr/>
          <p:nvPr/>
        </p:nvSpPr>
        <p:spPr>
          <a:xfrm>
            <a:off x="8888492" y="6116955"/>
            <a:ext cx="5278636" cy="1381839"/>
          </a:xfrm>
          <a:prstGeom prst="roundRect">
            <a:avLst>
              <a:gd name="adj" fmla="val 4089"/>
            </a:avLst>
          </a:prstGeom>
          <a:solidFill>
            <a:srgbClr val="DADBF1"/>
          </a:solidFill>
          <a:ln w="7620">
            <a:solidFill>
              <a:srgbClr val="4950BC"/>
            </a:solidFill>
            <a:prstDash val="solid"/>
          </a:ln>
        </p:spPr>
      </p:sp>
      <p:sp>
        <p:nvSpPr>
          <p:cNvPr id="22" name="Shape 16"/>
          <p:cNvSpPr/>
          <p:nvPr/>
        </p:nvSpPr>
        <p:spPr>
          <a:xfrm>
            <a:off x="9030533" y="6258997"/>
            <a:ext cx="403503" cy="403503"/>
          </a:xfrm>
          <a:prstGeom prst="roundRect">
            <a:avLst>
              <a:gd name="adj" fmla="val 22659275"/>
            </a:avLst>
          </a:prstGeom>
          <a:solidFill>
            <a:srgbClr val="4950BC"/>
          </a:solidFill>
        </p:spPr>
      </p:sp>
      <p:pic>
        <p:nvPicPr>
          <p:cNvPr id="23" name="Image 4" descr="preencoded.png"/>
          <p:cNvPicPr>
            <a:picLocks noChangeAspect="1"/>
          </p:cNvPicPr>
          <p:nvPr/>
        </p:nvPicPr>
        <p:blipFill>
          <a:blip r:embed="rId2">
            <a:extLst>
              <a:ext uri="{96DAC541-7B7A-43D3-8B79-37D633B846F1}">
                <asvg:svgBlip xmlns:asvg="http://schemas.microsoft.com/office/drawing/2016/SVG/main" r:embed="rId6"/>
              </a:ext>
            </a:extLst>
          </a:blip>
          <a:stretch>
            <a:fillRect/>
          </a:stretch>
        </p:blipFill>
        <p:spPr>
          <a:xfrm>
            <a:off x="9141500" y="6369844"/>
            <a:ext cx="181570" cy="181570"/>
          </a:xfrm>
          <a:prstGeom prst="rect">
            <a:avLst/>
          </a:prstGeom>
        </p:spPr>
      </p:pic>
      <p:sp>
        <p:nvSpPr>
          <p:cNvPr id="24" name="Text 17"/>
          <p:cNvSpPr/>
          <p:nvPr/>
        </p:nvSpPr>
        <p:spPr>
          <a:xfrm>
            <a:off x="9030533" y="6796921"/>
            <a:ext cx="1681520" cy="210145"/>
          </a:xfrm>
          <a:prstGeom prst="rect">
            <a:avLst/>
          </a:prstGeom>
          <a:noFill/>
        </p:spPr>
        <p:txBody>
          <a:bodyPr wrap="none" lIns="0" tIns="0" rIns="0" bIns="0" rtlCol="0" anchor="t"/>
          <a:lstStyle/>
          <a:p>
            <a:pPr marL="0" indent="0" algn="l">
              <a:lnSpc>
                <a:spcPts val="1650"/>
              </a:lnSpc>
              <a:buNone/>
            </a:pPr>
            <a:r>
              <a:rPr lang="en-US" sz="1300" b="1" dirty="0">
                <a:solidFill>
                  <a:srgbClr val="272525"/>
                </a:solidFill>
                <a:latin typeface="Inter Bold" pitchFamily="34" charset="0"/>
                <a:ea typeface="Inter Bold" pitchFamily="34" charset="-122"/>
                <a:cs typeface="Inter Bold" pitchFamily="34" charset="-120"/>
              </a:rPr>
              <a:t>Transactions</a:t>
            </a:r>
            <a:endParaRPr lang="en-US" sz="1300" dirty="0"/>
          </a:p>
        </p:txBody>
      </p:sp>
      <p:sp>
        <p:nvSpPr>
          <p:cNvPr id="25" name="Text 18"/>
          <p:cNvSpPr/>
          <p:nvPr/>
        </p:nvSpPr>
        <p:spPr>
          <a:xfrm>
            <a:off x="9030533" y="7141488"/>
            <a:ext cx="4994553" cy="215265"/>
          </a:xfrm>
          <a:prstGeom prst="rect">
            <a:avLst/>
          </a:prstGeom>
          <a:noFill/>
        </p:spPr>
        <p:txBody>
          <a:bodyPr wrap="none" lIns="0" tIns="0" rIns="0" bIns="0" rtlCol="0" anchor="t"/>
          <a:lstStyle/>
          <a:p>
            <a:pPr marL="0" indent="0" algn="l">
              <a:lnSpc>
                <a:spcPts val="165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50K synthetic records with 1.5% fraud rate matching industry benchmarks</a:t>
            </a:r>
            <a:endParaRPr lang="en-US" sz="1050" dirty="0"/>
          </a:p>
        </p:txBody>
      </p:sp>
      <p:pic>
        <p:nvPicPr>
          <p:cNvPr id="26" name="Picture 25" descr="Screenshot 2025-11-10 at 2.34.10 AM"/>
          <p:cNvPicPr>
            <a:picLocks noChangeAspect="1"/>
          </p:cNvPicPr>
          <p:nvPr/>
        </p:nvPicPr>
        <p:blipFill>
          <a:blip r:embed="rId7"/>
          <a:stretch>
            <a:fillRect/>
          </a:stretch>
        </p:blipFill>
        <p:spPr>
          <a:xfrm>
            <a:off x="12382500" y="7797800"/>
            <a:ext cx="2247900" cy="3746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362" y="616744"/>
            <a:ext cx="7313057" cy="544116"/>
          </a:xfrm>
          <a:prstGeom prst="rect">
            <a:avLst/>
          </a:prstGeom>
          <a:noFill/>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Data Quality &amp; Integrity Assurance</a:t>
            </a:r>
            <a:endParaRPr lang="en-US" sz="3400" dirty="0"/>
          </a:p>
        </p:txBody>
      </p:sp>
      <p:sp>
        <p:nvSpPr>
          <p:cNvPr id="3" name="Text 1"/>
          <p:cNvSpPr/>
          <p:nvPr/>
        </p:nvSpPr>
        <p:spPr>
          <a:xfrm>
            <a:off x="1701284" y="2640568"/>
            <a:ext cx="2141458" cy="435173"/>
          </a:xfrm>
          <a:prstGeom prst="rect">
            <a:avLst/>
          </a:prstGeom>
          <a:noFill/>
        </p:spPr>
        <p:txBody>
          <a:bodyPr wrap="none" lIns="0" tIns="0" rIns="0" bIns="0" rtlCol="0" anchor="t"/>
          <a:lstStyle/>
          <a:p>
            <a:pPr marL="0" indent="0" algn="ctr">
              <a:lnSpc>
                <a:spcPts val="3400"/>
              </a:lnSpc>
              <a:buNone/>
            </a:pPr>
            <a:r>
              <a:rPr lang="en-US" sz="3400" b="1" dirty="0">
                <a:solidFill>
                  <a:srgbClr val="272525"/>
                </a:solidFill>
                <a:latin typeface="Inter Bold" pitchFamily="34" charset="0"/>
                <a:ea typeface="Inter Bold" pitchFamily="34" charset="-122"/>
                <a:cs typeface="Inter Bold" pitchFamily="34" charset="-120"/>
              </a:rPr>
              <a:t>100%</a:t>
            </a:r>
            <a:endParaRPr lang="en-US" sz="3400" dirty="0"/>
          </a:p>
        </p:txBody>
      </p:sp>
      <p:pic>
        <p:nvPicPr>
          <p:cNvPr id="4" name="Image 0" descr="preencoded.png"/>
          <p:cNvPicPr>
            <a:picLocks noChangeAspect="1"/>
          </p:cNvPicPr>
          <p:nvPr/>
        </p:nvPicPr>
        <p:blipFill>
          <a:blip r:embed="rId1"/>
          <a:stretch>
            <a:fillRect/>
          </a:stretch>
        </p:blipFill>
        <p:spPr>
          <a:xfrm>
            <a:off x="1466255" y="1552456"/>
            <a:ext cx="2611636" cy="2611636"/>
          </a:xfrm>
          <a:prstGeom prst="rect">
            <a:avLst/>
          </a:prstGeom>
        </p:spPr>
      </p:pic>
      <p:sp>
        <p:nvSpPr>
          <p:cNvPr id="5" name="Text 2"/>
          <p:cNvSpPr/>
          <p:nvPr/>
        </p:nvSpPr>
        <p:spPr>
          <a:xfrm>
            <a:off x="1404461" y="4381619"/>
            <a:ext cx="2735342" cy="272058"/>
          </a:xfrm>
          <a:prstGeom prst="rect">
            <a:avLst/>
          </a:prstGeom>
          <a:noFill/>
        </p:spPr>
        <p:txBody>
          <a:bodyPr wrap="none" lIns="0" tIns="0" rIns="0" bIns="0" rtlCol="0" anchor="t"/>
          <a:lstStyle/>
          <a:p>
            <a:pPr marL="0" indent="0" algn="ctr">
              <a:lnSpc>
                <a:spcPts val="2100"/>
              </a:lnSpc>
              <a:buNone/>
            </a:pPr>
            <a:r>
              <a:rPr lang="en-US" sz="1700" b="1" dirty="0">
                <a:solidFill>
                  <a:srgbClr val="272525"/>
                </a:solidFill>
                <a:latin typeface="Inter Bold" pitchFamily="34" charset="0"/>
                <a:ea typeface="Inter Bold" pitchFamily="34" charset="-122"/>
                <a:cs typeface="Inter Bold" pitchFamily="34" charset="-120"/>
              </a:rPr>
              <a:t>Stock Data Completeness</a:t>
            </a:r>
            <a:endParaRPr lang="en-US" sz="1700" dirty="0"/>
          </a:p>
        </p:txBody>
      </p:sp>
      <p:sp>
        <p:nvSpPr>
          <p:cNvPr id="6" name="Text 3"/>
          <p:cNvSpPr/>
          <p:nvPr/>
        </p:nvSpPr>
        <p:spPr>
          <a:xfrm>
            <a:off x="609362" y="4758095"/>
            <a:ext cx="4325541" cy="278487"/>
          </a:xfrm>
          <a:prstGeom prst="rect">
            <a:avLst/>
          </a:prstGeom>
          <a:noFill/>
        </p:spPr>
        <p:txBody>
          <a:bodyPr wrap="none" lIns="0" tIns="0" rIns="0" bIns="0" rtlCol="0" anchor="t"/>
          <a:lstStyle/>
          <a:p>
            <a:pPr marL="0" indent="0" algn="ctr">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Full coverage across all equity features</a:t>
            </a:r>
            <a:endParaRPr lang="en-US" sz="1350" dirty="0"/>
          </a:p>
        </p:txBody>
      </p:sp>
      <p:sp>
        <p:nvSpPr>
          <p:cNvPr id="7" name="Text 4"/>
          <p:cNvSpPr/>
          <p:nvPr/>
        </p:nvSpPr>
        <p:spPr>
          <a:xfrm>
            <a:off x="6244352" y="2640568"/>
            <a:ext cx="2141458" cy="435173"/>
          </a:xfrm>
          <a:prstGeom prst="rect">
            <a:avLst/>
          </a:prstGeom>
          <a:noFill/>
        </p:spPr>
        <p:txBody>
          <a:bodyPr wrap="none" lIns="0" tIns="0" rIns="0" bIns="0" rtlCol="0" anchor="t"/>
          <a:lstStyle/>
          <a:p>
            <a:pPr marL="0" indent="0" algn="ctr">
              <a:lnSpc>
                <a:spcPts val="3400"/>
              </a:lnSpc>
              <a:buNone/>
            </a:pPr>
            <a:r>
              <a:rPr lang="en-US" sz="3400" b="1" dirty="0">
                <a:solidFill>
                  <a:srgbClr val="272525"/>
                </a:solidFill>
                <a:latin typeface="Inter Bold" pitchFamily="34" charset="0"/>
                <a:ea typeface="Inter Bold" pitchFamily="34" charset="-122"/>
                <a:cs typeface="Inter Bold" pitchFamily="34" charset="-120"/>
              </a:rPr>
              <a:t>95.6%</a:t>
            </a:r>
            <a:endParaRPr lang="en-US" sz="3400" dirty="0"/>
          </a:p>
        </p:txBody>
      </p:sp>
      <p:pic>
        <p:nvPicPr>
          <p:cNvPr id="8" name="Image 1" descr="preencoded.png"/>
          <p:cNvPicPr>
            <a:picLocks noChangeAspect="1"/>
          </p:cNvPicPr>
          <p:nvPr/>
        </p:nvPicPr>
        <p:blipFill>
          <a:blip r:embed="rId2"/>
          <a:stretch>
            <a:fillRect/>
          </a:stretch>
        </p:blipFill>
        <p:spPr>
          <a:xfrm>
            <a:off x="6009323" y="1538486"/>
            <a:ext cx="2611636" cy="2611636"/>
          </a:xfrm>
          <a:prstGeom prst="rect">
            <a:avLst/>
          </a:prstGeom>
        </p:spPr>
      </p:pic>
      <p:sp>
        <p:nvSpPr>
          <p:cNvPr id="9" name="Text 5"/>
          <p:cNvSpPr/>
          <p:nvPr/>
        </p:nvSpPr>
        <p:spPr>
          <a:xfrm>
            <a:off x="5752743" y="4381619"/>
            <a:ext cx="3124795" cy="272058"/>
          </a:xfrm>
          <a:prstGeom prst="rect">
            <a:avLst/>
          </a:prstGeom>
          <a:noFill/>
        </p:spPr>
        <p:txBody>
          <a:bodyPr wrap="none" lIns="0" tIns="0" rIns="0" bIns="0" rtlCol="0" anchor="t"/>
          <a:lstStyle/>
          <a:p>
            <a:pPr marL="0" indent="0" algn="ctr">
              <a:lnSpc>
                <a:spcPts val="2100"/>
              </a:lnSpc>
              <a:buNone/>
            </a:pPr>
            <a:r>
              <a:rPr lang="en-US" sz="1700" b="1" dirty="0">
                <a:solidFill>
                  <a:srgbClr val="272525"/>
                </a:solidFill>
                <a:latin typeface="Inter Bold" pitchFamily="34" charset="0"/>
                <a:ea typeface="Inter Bold" pitchFamily="34" charset="-122"/>
                <a:cs typeface="Inter Bold" pitchFamily="34" charset="-120"/>
              </a:rPr>
              <a:t>Economic Indicator Coverage</a:t>
            </a:r>
            <a:endParaRPr lang="en-US" sz="1700" dirty="0"/>
          </a:p>
        </p:txBody>
      </p:sp>
      <p:sp>
        <p:nvSpPr>
          <p:cNvPr id="10" name="Text 6"/>
          <p:cNvSpPr/>
          <p:nvPr/>
        </p:nvSpPr>
        <p:spPr>
          <a:xfrm>
            <a:off x="5152430" y="4758095"/>
            <a:ext cx="4325541" cy="278487"/>
          </a:xfrm>
          <a:prstGeom prst="rect">
            <a:avLst/>
          </a:prstGeom>
          <a:noFill/>
        </p:spPr>
        <p:txBody>
          <a:bodyPr wrap="none" lIns="0" tIns="0" rIns="0" bIns="0" rtlCol="0" anchor="t"/>
          <a:lstStyle/>
          <a:p>
            <a:pPr marL="0" indent="0" algn="ctr">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Forward-fill applied for missing values</a:t>
            </a:r>
            <a:endParaRPr lang="en-US" sz="1350" dirty="0"/>
          </a:p>
        </p:txBody>
      </p:sp>
      <p:sp>
        <p:nvSpPr>
          <p:cNvPr id="11" name="Text 7"/>
          <p:cNvSpPr/>
          <p:nvPr/>
        </p:nvSpPr>
        <p:spPr>
          <a:xfrm>
            <a:off x="10787420" y="2640568"/>
            <a:ext cx="2141458" cy="435173"/>
          </a:xfrm>
          <a:prstGeom prst="rect">
            <a:avLst/>
          </a:prstGeom>
          <a:noFill/>
        </p:spPr>
        <p:txBody>
          <a:bodyPr wrap="none" lIns="0" tIns="0" rIns="0" bIns="0" rtlCol="0" anchor="t"/>
          <a:lstStyle/>
          <a:p>
            <a:pPr marL="0" indent="0" algn="ctr">
              <a:lnSpc>
                <a:spcPts val="3400"/>
              </a:lnSpc>
              <a:buNone/>
            </a:pPr>
            <a:r>
              <a:rPr lang="en-US" sz="3400" b="1" dirty="0">
                <a:solidFill>
                  <a:srgbClr val="272525"/>
                </a:solidFill>
                <a:latin typeface="Inter Bold" pitchFamily="34" charset="0"/>
                <a:ea typeface="Inter Bold" pitchFamily="34" charset="-122"/>
                <a:cs typeface="Inter Bold" pitchFamily="34" charset="-120"/>
              </a:rPr>
              <a:t>0</a:t>
            </a:r>
            <a:endParaRPr lang="en-US" sz="3400" dirty="0"/>
          </a:p>
        </p:txBody>
      </p:sp>
      <p:pic>
        <p:nvPicPr>
          <p:cNvPr id="12" name="Image 2" descr="preencoded.png"/>
          <p:cNvPicPr>
            <a:picLocks noChangeAspect="1"/>
          </p:cNvPicPr>
          <p:nvPr/>
        </p:nvPicPr>
        <p:blipFill>
          <a:blip r:embed="rId3"/>
          <a:stretch>
            <a:fillRect/>
          </a:stretch>
        </p:blipFill>
        <p:spPr>
          <a:xfrm>
            <a:off x="10552390" y="1552456"/>
            <a:ext cx="2611636" cy="2611636"/>
          </a:xfrm>
          <a:prstGeom prst="rect">
            <a:avLst/>
          </a:prstGeom>
        </p:spPr>
      </p:pic>
      <p:sp>
        <p:nvSpPr>
          <p:cNvPr id="13" name="Text 8"/>
          <p:cNvSpPr/>
          <p:nvPr/>
        </p:nvSpPr>
        <p:spPr>
          <a:xfrm>
            <a:off x="10770037" y="4381619"/>
            <a:ext cx="2176343" cy="272058"/>
          </a:xfrm>
          <a:prstGeom prst="rect">
            <a:avLst/>
          </a:prstGeom>
          <a:noFill/>
        </p:spPr>
        <p:txBody>
          <a:bodyPr wrap="none" lIns="0" tIns="0" rIns="0" bIns="0" rtlCol="0" anchor="t"/>
          <a:lstStyle/>
          <a:p>
            <a:pPr marL="0" indent="0" algn="ctr">
              <a:lnSpc>
                <a:spcPts val="2100"/>
              </a:lnSpc>
              <a:buNone/>
            </a:pPr>
            <a:r>
              <a:rPr lang="en-US" sz="1700" b="1" dirty="0">
                <a:solidFill>
                  <a:srgbClr val="272525"/>
                </a:solidFill>
                <a:latin typeface="Inter Bold" pitchFamily="34" charset="0"/>
                <a:ea typeface="Inter Bold" pitchFamily="34" charset="-122"/>
                <a:cs typeface="Inter Bold" pitchFamily="34" charset="-120"/>
              </a:rPr>
              <a:t>Failed Data Loads</a:t>
            </a:r>
            <a:endParaRPr lang="en-US" sz="1700" dirty="0"/>
          </a:p>
        </p:txBody>
      </p:sp>
      <p:sp>
        <p:nvSpPr>
          <p:cNvPr id="14" name="Text 9"/>
          <p:cNvSpPr/>
          <p:nvPr/>
        </p:nvSpPr>
        <p:spPr>
          <a:xfrm>
            <a:off x="9695498" y="4758095"/>
            <a:ext cx="4325541" cy="278487"/>
          </a:xfrm>
          <a:prstGeom prst="rect">
            <a:avLst/>
          </a:prstGeom>
          <a:noFill/>
        </p:spPr>
        <p:txBody>
          <a:bodyPr wrap="none" lIns="0" tIns="0" rIns="0" bIns="0" rtlCol="0" anchor="t"/>
          <a:lstStyle/>
          <a:p>
            <a:pPr marL="0" indent="0" algn="ctr">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Perfect reliability throughout ingestion</a:t>
            </a:r>
            <a:endParaRPr lang="en-US" sz="1350" dirty="0"/>
          </a:p>
        </p:txBody>
      </p:sp>
      <p:sp>
        <p:nvSpPr>
          <p:cNvPr id="15" name="Text 10"/>
          <p:cNvSpPr/>
          <p:nvPr/>
        </p:nvSpPr>
        <p:spPr>
          <a:xfrm>
            <a:off x="609362" y="5406509"/>
            <a:ext cx="3607594" cy="326469"/>
          </a:xfrm>
          <a:prstGeom prst="rect">
            <a:avLst/>
          </a:prstGeom>
          <a:noFill/>
        </p:spPr>
        <p:txBody>
          <a:bodyPr wrap="none" lIns="0" tIns="0" rIns="0" bIns="0" rtlCol="0" anchor="t"/>
          <a:lstStyle/>
          <a:p>
            <a:pPr marL="0" indent="0" algn="l">
              <a:lnSpc>
                <a:spcPts val="2550"/>
              </a:lnSpc>
              <a:buNone/>
            </a:pPr>
            <a:r>
              <a:rPr lang="en-US" sz="2050" b="1" dirty="0">
                <a:solidFill>
                  <a:srgbClr val="000000"/>
                </a:solidFill>
                <a:latin typeface="Inter Bold" pitchFamily="34" charset="0"/>
                <a:ea typeface="Inter Bold" pitchFamily="34" charset="-122"/>
                <a:cs typeface="Inter Bold" pitchFamily="34" charset="-120"/>
              </a:rPr>
              <a:t>Rigorous Cleaning Protocols</a:t>
            </a:r>
            <a:endParaRPr lang="en-US" sz="2050" dirty="0"/>
          </a:p>
        </p:txBody>
      </p:sp>
      <p:sp>
        <p:nvSpPr>
          <p:cNvPr id="16" name="Text 11"/>
          <p:cNvSpPr/>
          <p:nvPr/>
        </p:nvSpPr>
        <p:spPr>
          <a:xfrm>
            <a:off x="609362" y="5907048"/>
            <a:ext cx="6493431" cy="278487"/>
          </a:xfrm>
          <a:prstGeom prst="rect">
            <a:avLst/>
          </a:prstGeom>
          <a:noFill/>
        </p:spPr>
        <p:txBody>
          <a:bodyPr wrap="none" lIns="0" tIns="0" rIns="0" bIns="0" rtlCol="0" anchor="t"/>
          <a:lstStyle/>
          <a:p>
            <a:pPr marL="342900" indent="-342900" algn="l">
              <a:lnSpc>
                <a:spcPts val="2150"/>
              </a:lnSpc>
              <a:buSzPct val="100000"/>
              <a:buChar char="•"/>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Null value removal and duplicate detection across all sources</a:t>
            </a:r>
            <a:endParaRPr lang="en-US" sz="1350" dirty="0"/>
          </a:p>
        </p:txBody>
      </p:sp>
      <p:sp>
        <p:nvSpPr>
          <p:cNvPr id="17" name="Text 12"/>
          <p:cNvSpPr/>
          <p:nvPr/>
        </p:nvSpPr>
        <p:spPr>
          <a:xfrm>
            <a:off x="609362" y="6246376"/>
            <a:ext cx="6493431" cy="278487"/>
          </a:xfrm>
          <a:prstGeom prst="rect">
            <a:avLst/>
          </a:prstGeom>
          <a:noFill/>
        </p:spPr>
        <p:txBody>
          <a:bodyPr wrap="none" lIns="0" tIns="0" rIns="0" bIns="0" rtlCol="0" anchor="t"/>
          <a:lstStyle/>
          <a:p>
            <a:pPr marL="342900" indent="-342900" algn="l">
              <a:lnSpc>
                <a:spcPts val="2150"/>
              </a:lnSpc>
              <a:buSzPct val="100000"/>
              <a:buChar char="•"/>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Statistical outlier filtering to ensure data integrity</a:t>
            </a:r>
            <a:endParaRPr lang="en-US" sz="1350" dirty="0"/>
          </a:p>
        </p:txBody>
      </p:sp>
      <p:sp>
        <p:nvSpPr>
          <p:cNvPr id="18" name="Text 13"/>
          <p:cNvSpPr/>
          <p:nvPr/>
        </p:nvSpPr>
        <p:spPr>
          <a:xfrm>
            <a:off x="609362" y="6571734"/>
            <a:ext cx="6493431" cy="278487"/>
          </a:xfrm>
          <a:prstGeom prst="rect">
            <a:avLst/>
          </a:prstGeom>
          <a:noFill/>
        </p:spPr>
        <p:txBody>
          <a:bodyPr wrap="none" lIns="0" tIns="0" rIns="0" bIns="0" rtlCol="0" anchor="t"/>
          <a:lstStyle/>
          <a:p>
            <a:pPr marL="342900" indent="-342900" algn="l">
              <a:lnSpc>
                <a:spcPts val="2150"/>
              </a:lnSpc>
              <a:buSzPct val="100000"/>
              <a:buChar char="•"/>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Schema standardization for consistent downstream processing</a:t>
            </a:r>
            <a:endParaRPr lang="en-US" sz="1350" dirty="0"/>
          </a:p>
        </p:txBody>
      </p:sp>
      <p:sp>
        <p:nvSpPr>
          <p:cNvPr id="19" name="Text 14"/>
          <p:cNvSpPr/>
          <p:nvPr/>
        </p:nvSpPr>
        <p:spPr>
          <a:xfrm>
            <a:off x="609362" y="6925032"/>
            <a:ext cx="6493431" cy="278487"/>
          </a:xfrm>
          <a:prstGeom prst="rect">
            <a:avLst/>
          </a:prstGeom>
          <a:noFill/>
        </p:spPr>
        <p:txBody>
          <a:bodyPr wrap="none" lIns="0" tIns="0" rIns="0" bIns="0" rtlCol="0" anchor="t"/>
          <a:lstStyle/>
          <a:p>
            <a:pPr marL="342900" indent="-342900" algn="l">
              <a:lnSpc>
                <a:spcPts val="2150"/>
              </a:lnSpc>
              <a:buSzPct val="100000"/>
              <a:buChar char="•"/>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Full data lineage tracking via ingestion_date columns</a:t>
            </a:r>
            <a:endParaRPr lang="en-US" sz="1350" dirty="0"/>
          </a:p>
        </p:txBody>
      </p:sp>
      <p:sp>
        <p:nvSpPr>
          <p:cNvPr id="20" name="Text 15"/>
          <p:cNvSpPr/>
          <p:nvPr/>
        </p:nvSpPr>
        <p:spPr>
          <a:xfrm>
            <a:off x="7535228" y="5406509"/>
            <a:ext cx="3760827" cy="326469"/>
          </a:xfrm>
          <a:prstGeom prst="rect">
            <a:avLst/>
          </a:prstGeom>
          <a:noFill/>
        </p:spPr>
        <p:txBody>
          <a:bodyPr wrap="none" lIns="0" tIns="0" rIns="0" bIns="0" rtlCol="0" anchor="t"/>
          <a:lstStyle/>
          <a:p>
            <a:pPr marL="0" indent="0" algn="l">
              <a:lnSpc>
                <a:spcPts val="2550"/>
              </a:lnSpc>
              <a:buNone/>
            </a:pPr>
            <a:r>
              <a:rPr lang="en-US" sz="2050" b="1" dirty="0">
                <a:solidFill>
                  <a:srgbClr val="000000"/>
                </a:solidFill>
                <a:latin typeface="Inter Bold" pitchFamily="34" charset="0"/>
                <a:ea typeface="Inter Bold" pitchFamily="34" charset="-122"/>
                <a:cs typeface="Inter Bold" pitchFamily="34" charset="-120"/>
              </a:rPr>
              <a:t>Incremental Loading Strategy</a:t>
            </a:r>
            <a:endParaRPr lang="en-US" sz="2050" dirty="0"/>
          </a:p>
        </p:txBody>
      </p:sp>
      <p:sp>
        <p:nvSpPr>
          <p:cNvPr id="21" name="Text 16"/>
          <p:cNvSpPr/>
          <p:nvPr/>
        </p:nvSpPr>
        <p:spPr>
          <a:xfrm>
            <a:off x="7535228" y="5907048"/>
            <a:ext cx="6493431" cy="835462"/>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Date-based pipeline architecture supports daily updates without reprocessing historical data, enabling efficient operations and minimizing compute costs while maintaining data freshness.</a:t>
            </a:r>
            <a:endParaRPr lang="en-US" sz="1350" dirty="0"/>
          </a:p>
        </p:txBody>
      </p:sp>
      <p:sp>
        <p:nvSpPr>
          <p:cNvPr id="22" name="Text 17"/>
          <p:cNvSpPr/>
          <p:nvPr/>
        </p:nvSpPr>
        <p:spPr>
          <a:xfrm>
            <a:off x="7535228" y="6899196"/>
            <a:ext cx="6493431" cy="556974"/>
          </a:xfrm>
          <a:prstGeom prst="rect">
            <a:avLst/>
          </a:prstGeom>
          <a:noFill/>
        </p:spPr>
        <p:txBody>
          <a:bodyPr wrap="square" lIns="0" tIns="0" rIns="0" bIns="0" rtlCol="0" anchor="t"/>
          <a:lstStyle/>
          <a:p>
            <a:pPr marL="0" indent="0" algn="l">
              <a:lnSpc>
                <a:spcPts val="2150"/>
              </a:lnSpc>
              <a:buNone/>
            </a:pPr>
            <a:r>
              <a:rPr lang="en-US" sz="1350" b="1" dirty="0">
                <a:solidFill>
                  <a:srgbClr val="272525"/>
                </a:solidFill>
                <a:latin typeface="Inter" panose="02000503000000020004" pitchFamily="34" charset="0"/>
                <a:ea typeface="Inter" panose="02000503000000020004" pitchFamily="34" charset="-122"/>
                <a:cs typeface="Inter" panose="02000503000000020004" pitchFamily="34" charset="-120"/>
              </a:rPr>
              <a:t>Delta Lake Advantages:</a:t>
            </a: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 ACID transactions, time travel capabilities, automatic schema evolution, and change data feed for downstream consumers.</a:t>
            </a:r>
            <a:endParaRPr lang="en-US" sz="1350" dirty="0"/>
          </a:p>
        </p:txBody>
      </p:sp>
      <p:pic>
        <p:nvPicPr>
          <p:cNvPr id="26" name="Picture 25" descr="Screenshot 2025-11-10 at 2.34.10 AM"/>
          <p:cNvPicPr>
            <a:picLocks noChangeAspect="1"/>
          </p:cNvPicPr>
          <p:nvPr/>
        </p:nvPicPr>
        <p:blipFill>
          <a:blip r:embed="rId4"/>
          <a:stretch>
            <a:fillRect/>
          </a:stretch>
        </p:blipFill>
        <p:spPr>
          <a:xfrm>
            <a:off x="12382500" y="7783830"/>
            <a:ext cx="2247900" cy="374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458748" y="481132"/>
            <a:ext cx="5432822" cy="409575"/>
          </a:xfrm>
          <a:prstGeom prst="rect">
            <a:avLst/>
          </a:prstGeom>
          <a:noFill/>
        </p:spPr>
        <p:txBody>
          <a:bodyPr wrap="none" lIns="0" tIns="0" rIns="0" bIns="0" rtlCol="0" anchor="t"/>
          <a:lstStyle/>
          <a:p>
            <a:pPr marL="0" indent="0" algn="l">
              <a:lnSpc>
                <a:spcPts val="3200"/>
              </a:lnSpc>
              <a:buNone/>
            </a:pPr>
            <a:r>
              <a:rPr lang="en-US" sz="2550" b="1" dirty="0">
                <a:solidFill>
                  <a:srgbClr val="000000"/>
                </a:solidFill>
                <a:latin typeface="Inter Bold" pitchFamily="34" charset="0"/>
                <a:ea typeface="Inter Bold" pitchFamily="34" charset="-122"/>
                <a:cs typeface="Inter Bold" pitchFamily="34" charset="-120"/>
              </a:rPr>
              <a:t>Automated Pipeline Infrastructure</a:t>
            </a:r>
            <a:endParaRPr lang="en-US" sz="2550" dirty="0"/>
          </a:p>
        </p:txBody>
      </p:sp>
      <p:sp>
        <p:nvSpPr>
          <p:cNvPr id="4" name="Text 1"/>
          <p:cNvSpPr/>
          <p:nvPr/>
        </p:nvSpPr>
        <p:spPr>
          <a:xfrm>
            <a:off x="458748" y="1218248"/>
            <a:ext cx="3119557" cy="245626"/>
          </a:xfrm>
          <a:prstGeom prst="rect">
            <a:avLst/>
          </a:prstGeom>
          <a:noFill/>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Production-Ready Orchestration</a:t>
            </a:r>
            <a:endParaRPr lang="en-US" sz="1500" dirty="0"/>
          </a:p>
        </p:txBody>
      </p:sp>
      <p:sp>
        <p:nvSpPr>
          <p:cNvPr id="5" name="Text 2"/>
          <p:cNvSpPr/>
          <p:nvPr/>
        </p:nvSpPr>
        <p:spPr>
          <a:xfrm>
            <a:off x="458748" y="1594842"/>
            <a:ext cx="3526036" cy="838676"/>
          </a:xfrm>
          <a:prstGeom prst="rect">
            <a:avLst/>
          </a:prstGeom>
          <a:noFill/>
        </p:spPr>
        <p:txBody>
          <a:bodyPr wrap="square" lIns="0" tIns="0" rIns="0" bIns="0" rtlCol="0" anchor="t"/>
          <a:lstStyle/>
          <a:p>
            <a:pPr marL="0" indent="0" algn="l">
              <a:lnSpc>
                <a:spcPts val="1650"/>
              </a:lnSpc>
              <a:buNone/>
            </a:pPr>
            <a:r>
              <a:rPr lang="en-US" sz="1000" dirty="0">
                <a:solidFill>
                  <a:srgbClr val="272525"/>
                </a:solidFill>
                <a:latin typeface="Inter" panose="02000503000000020004" pitchFamily="34" charset="0"/>
                <a:ea typeface="Inter" panose="02000503000000020004" pitchFamily="34" charset="-122"/>
                <a:cs typeface="Inter" panose="02000503000000020004" pitchFamily="34" charset="-120"/>
              </a:rPr>
              <a:t>Our automated ingestion pipeline features comprehensive monitoring, intelligent error handling, and performance optimization to ensure reliable daily operations at scale.</a:t>
            </a:r>
            <a:endParaRPr lang="en-US" sz="1000" dirty="0"/>
          </a:p>
        </p:txBody>
      </p:sp>
      <p:sp>
        <p:nvSpPr>
          <p:cNvPr id="6" name="Text 3"/>
          <p:cNvSpPr/>
          <p:nvPr/>
        </p:nvSpPr>
        <p:spPr>
          <a:xfrm>
            <a:off x="458748" y="2580918"/>
            <a:ext cx="130969" cy="163830"/>
          </a:xfrm>
          <a:prstGeom prst="rect">
            <a:avLst/>
          </a:prstGeom>
          <a:noFill/>
        </p:spPr>
        <p:txBody>
          <a:bodyPr wrap="none" lIns="0" tIns="0" rIns="0" bIns="0" rtlCol="0" anchor="t"/>
          <a:lstStyle/>
          <a:p>
            <a:pPr marL="0" indent="0" algn="l">
              <a:lnSpc>
                <a:spcPts val="1650"/>
              </a:lnSpc>
              <a:buNone/>
            </a:pPr>
            <a:r>
              <a:rPr lang="en-US" sz="1000" dirty="0">
                <a:solidFill>
                  <a:srgbClr val="272525"/>
                </a:solidFill>
                <a:latin typeface="Inter Light" pitchFamily="34" charset="0"/>
                <a:ea typeface="Inter Light" pitchFamily="34" charset="-122"/>
                <a:cs typeface="Inter Light" pitchFamily="34" charset="-120"/>
              </a:rPr>
              <a:t>01</a:t>
            </a:r>
            <a:endParaRPr lang="en-US" sz="1000" dirty="0"/>
          </a:p>
        </p:txBody>
      </p:sp>
      <p:sp>
        <p:nvSpPr>
          <p:cNvPr id="7" name="Shape 4"/>
          <p:cNvSpPr/>
          <p:nvPr/>
        </p:nvSpPr>
        <p:spPr>
          <a:xfrm>
            <a:off x="458748" y="2788444"/>
            <a:ext cx="3526036" cy="15240"/>
          </a:xfrm>
          <a:prstGeom prst="rect">
            <a:avLst/>
          </a:prstGeom>
          <a:solidFill>
            <a:srgbClr val="4950BC"/>
          </a:solidFill>
        </p:spPr>
      </p:sp>
      <p:sp>
        <p:nvSpPr>
          <p:cNvPr id="8" name="Text 5"/>
          <p:cNvSpPr/>
          <p:nvPr/>
        </p:nvSpPr>
        <p:spPr>
          <a:xfrm>
            <a:off x="458748" y="2884408"/>
            <a:ext cx="1638300" cy="204788"/>
          </a:xfrm>
          <a:prstGeom prst="rect">
            <a:avLst/>
          </a:prstGeom>
          <a:noFill/>
        </p:spPr>
        <p:txBody>
          <a:bodyPr wrap="none" lIns="0" tIns="0" rIns="0" bIns="0" rtlCol="0" anchor="t"/>
          <a:lstStyle/>
          <a:p>
            <a:pPr marL="0" indent="0" algn="l">
              <a:lnSpc>
                <a:spcPts val="1600"/>
              </a:lnSpc>
              <a:buNone/>
            </a:pPr>
            <a:r>
              <a:rPr lang="en-US" sz="1250" b="1" dirty="0">
                <a:solidFill>
                  <a:srgbClr val="272525"/>
                </a:solidFill>
                <a:latin typeface="Inter Bold" pitchFamily="34" charset="0"/>
                <a:ea typeface="Inter Bold" pitchFamily="34" charset="-122"/>
                <a:cs typeface="Inter Bold" pitchFamily="34" charset="-120"/>
              </a:rPr>
              <a:t>Pipeline Tracking</a:t>
            </a:r>
            <a:endParaRPr lang="en-US" sz="1250" dirty="0"/>
          </a:p>
        </p:txBody>
      </p:sp>
      <p:sp>
        <p:nvSpPr>
          <p:cNvPr id="9" name="Text 6"/>
          <p:cNvSpPr/>
          <p:nvPr/>
        </p:nvSpPr>
        <p:spPr>
          <a:xfrm>
            <a:off x="458748" y="3220164"/>
            <a:ext cx="3526036" cy="419338"/>
          </a:xfrm>
          <a:prstGeom prst="rect">
            <a:avLst/>
          </a:prstGeom>
          <a:noFill/>
        </p:spPr>
        <p:txBody>
          <a:bodyPr wrap="square" lIns="0" tIns="0" rIns="0" bIns="0" rtlCol="0" anchor="t"/>
          <a:lstStyle/>
          <a:p>
            <a:pPr marL="0" indent="0" algn="l">
              <a:lnSpc>
                <a:spcPts val="1650"/>
              </a:lnSpc>
              <a:buNone/>
            </a:pPr>
            <a:r>
              <a:rPr lang="en-US" sz="1000" dirty="0">
                <a:solidFill>
                  <a:srgbClr val="272525"/>
                </a:solidFill>
                <a:latin typeface="Inter" panose="02000503000000020004" pitchFamily="34" charset="0"/>
                <a:ea typeface="Inter" panose="02000503000000020004" pitchFamily="34" charset="-122"/>
                <a:cs typeface="Inter" panose="02000503000000020004" pitchFamily="34" charset="-120"/>
              </a:rPr>
              <a:t>Table-level monitoring with timestamps, record counts, and load status</a:t>
            </a:r>
            <a:endParaRPr lang="en-US" sz="1000" dirty="0"/>
          </a:p>
        </p:txBody>
      </p:sp>
      <p:sp>
        <p:nvSpPr>
          <p:cNvPr id="10" name="Text 7"/>
          <p:cNvSpPr/>
          <p:nvPr/>
        </p:nvSpPr>
        <p:spPr>
          <a:xfrm>
            <a:off x="458748" y="3868698"/>
            <a:ext cx="130969" cy="163830"/>
          </a:xfrm>
          <a:prstGeom prst="rect">
            <a:avLst/>
          </a:prstGeom>
          <a:noFill/>
        </p:spPr>
        <p:txBody>
          <a:bodyPr wrap="none" lIns="0" tIns="0" rIns="0" bIns="0" rtlCol="0" anchor="t"/>
          <a:lstStyle/>
          <a:p>
            <a:pPr marL="0" indent="0" algn="l">
              <a:lnSpc>
                <a:spcPts val="1650"/>
              </a:lnSpc>
              <a:buNone/>
            </a:pPr>
            <a:r>
              <a:rPr lang="en-US" sz="1000" dirty="0">
                <a:solidFill>
                  <a:srgbClr val="272525"/>
                </a:solidFill>
                <a:latin typeface="Inter Light" pitchFamily="34" charset="0"/>
                <a:ea typeface="Inter Light" pitchFamily="34" charset="-122"/>
                <a:cs typeface="Inter Light" pitchFamily="34" charset="-120"/>
              </a:rPr>
              <a:t>02</a:t>
            </a:r>
            <a:endParaRPr lang="en-US" sz="1000" dirty="0"/>
          </a:p>
        </p:txBody>
      </p:sp>
      <p:sp>
        <p:nvSpPr>
          <p:cNvPr id="11" name="Shape 8"/>
          <p:cNvSpPr/>
          <p:nvPr/>
        </p:nvSpPr>
        <p:spPr>
          <a:xfrm>
            <a:off x="458748" y="4076224"/>
            <a:ext cx="3526036" cy="15240"/>
          </a:xfrm>
          <a:prstGeom prst="rect">
            <a:avLst/>
          </a:prstGeom>
          <a:solidFill>
            <a:srgbClr val="4950BC"/>
          </a:solidFill>
        </p:spPr>
      </p:sp>
      <p:sp>
        <p:nvSpPr>
          <p:cNvPr id="12" name="Text 9"/>
          <p:cNvSpPr/>
          <p:nvPr/>
        </p:nvSpPr>
        <p:spPr>
          <a:xfrm>
            <a:off x="458748" y="4172188"/>
            <a:ext cx="1638300" cy="204788"/>
          </a:xfrm>
          <a:prstGeom prst="rect">
            <a:avLst/>
          </a:prstGeom>
          <a:noFill/>
        </p:spPr>
        <p:txBody>
          <a:bodyPr wrap="none" lIns="0" tIns="0" rIns="0" bIns="0" rtlCol="0" anchor="t"/>
          <a:lstStyle/>
          <a:p>
            <a:pPr marL="0" indent="0" algn="l">
              <a:lnSpc>
                <a:spcPts val="1600"/>
              </a:lnSpc>
              <a:buNone/>
            </a:pPr>
            <a:r>
              <a:rPr lang="en-US" sz="1250" b="1" dirty="0">
                <a:solidFill>
                  <a:srgbClr val="272525"/>
                </a:solidFill>
                <a:latin typeface="Inter Bold" pitchFamily="34" charset="0"/>
                <a:ea typeface="Inter Bold" pitchFamily="34" charset="-122"/>
                <a:cs typeface="Inter Bold" pitchFamily="34" charset="-120"/>
              </a:rPr>
              <a:t>Incremental Logic</a:t>
            </a:r>
            <a:endParaRPr lang="en-US" sz="1250" dirty="0"/>
          </a:p>
        </p:txBody>
      </p:sp>
      <p:sp>
        <p:nvSpPr>
          <p:cNvPr id="13" name="Text 10"/>
          <p:cNvSpPr/>
          <p:nvPr/>
        </p:nvSpPr>
        <p:spPr>
          <a:xfrm>
            <a:off x="458748" y="4507944"/>
            <a:ext cx="3526036" cy="419338"/>
          </a:xfrm>
          <a:prstGeom prst="rect">
            <a:avLst/>
          </a:prstGeom>
          <a:noFill/>
        </p:spPr>
        <p:txBody>
          <a:bodyPr wrap="square" lIns="0" tIns="0" rIns="0" bIns="0" rtlCol="0" anchor="t"/>
          <a:lstStyle/>
          <a:p>
            <a:pPr marL="0" indent="0" algn="l">
              <a:lnSpc>
                <a:spcPts val="1650"/>
              </a:lnSpc>
              <a:buNone/>
            </a:pPr>
            <a:r>
              <a:rPr lang="en-US" sz="1000" dirty="0">
                <a:solidFill>
                  <a:srgbClr val="272525"/>
                </a:solidFill>
                <a:latin typeface="Inter" panose="02000503000000020004" pitchFamily="34" charset="0"/>
                <a:ea typeface="Inter" panose="02000503000000020004" pitchFamily="34" charset="-122"/>
                <a:cs typeface="Inter" panose="02000503000000020004" pitchFamily="34" charset="-120"/>
              </a:rPr>
              <a:t>Last_load_date tracking prevents redundant data reprocessing</a:t>
            </a:r>
            <a:endParaRPr lang="en-US" sz="1000" dirty="0"/>
          </a:p>
        </p:txBody>
      </p:sp>
      <p:sp>
        <p:nvSpPr>
          <p:cNvPr id="14" name="Text 11"/>
          <p:cNvSpPr/>
          <p:nvPr/>
        </p:nvSpPr>
        <p:spPr>
          <a:xfrm>
            <a:off x="458748" y="5156478"/>
            <a:ext cx="130969" cy="163830"/>
          </a:xfrm>
          <a:prstGeom prst="rect">
            <a:avLst/>
          </a:prstGeom>
          <a:noFill/>
        </p:spPr>
        <p:txBody>
          <a:bodyPr wrap="none" lIns="0" tIns="0" rIns="0" bIns="0" rtlCol="0" anchor="t"/>
          <a:lstStyle/>
          <a:p>
            <a:pPr marL="0" indent="0" algn="l">
              <a:lnSpc>
                <a:spcPts val="1650"/>
              </a:lnSpc>
              <a:buNone/>
            </a:pPr>
            <a:r>
              <a:rPr lang="en-US" sz="1000" dirty="0">
                <a:solidFill>
                  <a:srgbClr val="272525"/>
                </a:solidFill>
                <a:latin typeface="Inter Light" pitchFamily="34" charset="0"/>
                <a:ea typeface="Inter Light" pitchFamily="34" charset="-122"/>
                <a:cs typeface="Inter Light" pitchFamily="34" charset="-120"/>
              </a:rPr>
              <a:t>03</a:t>
            </a:r>
            <a:endParaRPr lang="en-US" sz="1000" dirty="0"/>
          </a:p>
        </p:txBody>
      </p:sp>
      <p:sp>
        <p:nvSpPr>
          <p:cNvPr id="15" name="Shape 12"/>
          <p:cNvSpPr/>
          <p:nvPr/>
        </p:nvSpPr>
        <p:spPr>
          <a:xfrm>
            <a:off x="458748" y="5364004"/>
            <a:ext cx="3526036" cy="15240"/>
          </a:xfrm>
          <a:prstGeom prst="rect">
            <a:avLst/>
          </a:prstGeom>
          <a:solidFill>
            <a:srgbClr val="4950BC"/>
          </a:solidFill>
        </p:spPr>
      </p:sp>
      <p:sp>
        <p:nvSpPr>
          <p:cNvPr id="16" name="Text 13"/>
          <p:cNvSpPr/>
          <p:nvPr/>
        </p:nvSpPr>
        <p:spPr>
          <a:xfrm>
            <a:off x="458748" y="5459968"/>
            <a:ext cx="1638300" cy="204788"/>
          </a:xfrm>
          <a:prstGeom prst="rect">
            <a:avLst/>
          </a:prstGeom>
          <a:noFill/>
        </p:spPr>
        <p:txBody>
          <a:bodyPr wrap="none" lIns="0" tIns="0" rIns="0" bIns="0" rtlCol="0" anchor="t"/>
          <a:lstStyle/>
          <a:p>
            <a:pPr marL="0" indent="0" algn="l">
              <a:lnSpc>
                <a:spcPts val="1600"/>
              </a:lnSpc>
              <a:buNone/>
            </a:pPr>
            <a:r>
              <a:rPr lang="en-US" sz="1250" b="1" dirty="0">
                <a:solidFill>
                  <a:srgbClr val="272525"/>
                </a:solidFill>
                <a:latin typeface="Inter Bold" pitchFamily="34" charset="0"/>
                <a:ea typeface="Inter Bold" pitchFamily="34" charset="-122"/>
                <a:cs typeface="Inter Bold" pitchFamily="34" charset="-120"/>
              </a:rPr>
              <a:t>Error Handling</a:t>
            </a:r>
            <a:endParaRPr lang="en-US" sz="1250" dirty="0"/>
          </a:p>
        </p:txBody>
      </p:sp>
      <p:sp>
        <p:nvSpPr>
          <p:cNvPr id="17" name="Text 14"/>
          <p:cNvSpPr/>
          <p:nvPr/>
        </p:nvSpPr>
        <p:spPr>
          <a:xfrm>
            <a:off x="458748" y="5795724"/>
            <a:ext cx="3526036" cy="419338"/>
          </a:xfrm>
          <a:prstGeom prst="rect">
            <a:avLst/>
          </a:prstGeom>
          <a:noFill/>
        </p:spPr>
        <p:txBody>
          <a:bodyPr wrap="square" lIns="0" tIns="0" rIns="0" bIns="0" rtlCol="0" anchor="t"/>
          <a:lstStyle/>
          <a:p>
            <a:pPr marL="0" indent="0" algn="l">
              <a:lnSpc>
                <a:spcPts val="1650"/>
              </a:lnSpc>
              <a:buNone/>
            </a:pPr>
            <a:r>
              <a:rPr lang="en-US" sz="1000" dirty="0">
                <a:solidFill>
                  <a:srgbClr val="272525"/>
                </a:solidFill>
                <a:latin typeface="Inter" panose="02000503000000020004" pitchFamily="34" charset="0"/>
                <a:ea typeface="Inter" panose="02000503000000020004" pitchFamily="34" charset="-122"/>
                <a:cs typeface="Inter" panose="02000503000000020004" pitchFamily="34" charset="-120"/>
              </a:rPr>
              <a:t>Try-catch blocks with fallback logic and comprehensive logging</a:t>
            </a:r>
            <a:endParaRPr lang="en-US" sz="1000" dirty="0"/>
          </a:p>
        </p:txBody>
      </p:sp>
      <p:sp>
        <p:nvSpPr>
          <p:cNvPr id="18" name="Text 15"/>
          <p:cNvSpPr/>
          <p:nvPr/>
        </p:nvSpPr>
        <p:spPr>
          <a:xfrm>
            <a:off x="458748" y="6444258"/>
            <a:ext cx="130969" cy="163830"/>
          </a:xfrm>
          <a:prstGeom prst="rect">
            <a:avLst/>
          </a:prstGeom>
          <a:noFill/>
        </p:spPr>
        <p:txBody>
          <a:bodyPr wrap="none" lIns="0" tIns="0" rIns="0" bIns="0" rtlCol="0" anchor="t"/>
          <a:lstStyle/>
          <a:p>
            <a:pPr marL="0" indent="0" algn="l">
              <a:lnSpc>
                <a:spcPts val="1650"/>
              </a:lnSpc>
              <a:buNone/>
            </a:pPr>
            <a:r>
              <a:rPr lang="en-US" sz="1000" dirty="0">
                <a:solidFill>
                  <a:srgbClr val="272525"/>
                </a:solidFill>
                <a:latin typeface="Inter Light" pitchFamily="34" charset="0"/>
                <a:ea typeface="Inter Light" pitchFamily="34" charset="-122"/>
                <a:cs typeface="Inter Light" pitchFamily="34" charset="-120"/>
              </a:rPr>
              <a:t>04</a:t>
            </a:r>
            <a:endParaRPr lang="en-US" sz="1000" dirty="0"/>
          </a:p>
        </p:txBody>
      </p:sp>
      <p:sp>
        <p:nvSpPr>
          <p:cNvPr id="19" name="Shape 16"/>
          <p:cNvSpPr/>
          <p:nvPr/>
        </p:nvSpPr>
        <p:spPr>
          <a:xfrm>
            <a:off x="458748" y="6651784"/>
            <a:ext cx="3526036" cy="15240"/>
          </a:xfrm>
          <a:prstGeom prst="rect">
            <a:avLst/>
          </a:prstGeom>
          <a:solidFill>
            <a:srgbClr val="4950BC"/>
          </a:solidFill>
        </p:spPr>
      </p:sp>
      <p:sp>
        <p:nvSpPr>
          <p:cNvPr id="20" name="Text 17"/>
          <p:cNvSpPr/>
          <p:nvPr/>
        </p:nvSpPr>
        <p:spPr>
          <a:xfrm>
            <a:off x="458748" y="6747748"/>
            <a:ext cx="1638300" cy="204788"/>
          </a:xfrm>
          <a:prstGeom prst="rect">
            <a:avLst/>
          </a:prstGeom>
          <a:noFill/>
        </p:spPr>
        <p:txBody>
          <a:bodyPr wrap="none" lIns="0" tIns="0" rIns="0" bIns="0" rtlCol="0" anchor="t"/>
          <a:lstStyle/>
          <a:p>
            <a:pPr marL="0" indent="0" algn="l">
              <a:lnSpc>
                <a:spcPts val="1600"/>
              </a:lnSpc>
              <a:buNone/>
            </a:pPr>
            <a:r>
              <a:rPr lang="en-US" sz="1250" b="1" dirty="0">
                <a:solidFill>
                  <a:srgbClr val="272525"/>
                </a:solidFill>
                <a:latin typeface="Inter Bold" pitchFamily="34" charset="0"/>
                <a:ea typeface="Inter Bold" pitchFamily="34" charset="-122"/>
                <a:cs typeface="Inter Bold" pitchFamily="34" charset="-120"/>
              </a:rPr>
              <a:t>Query Optimization</a:t>
            </a:r>
            <a:endParaRPr lang="en-US" sz="1250" dirty="0"/>
          </a:p>
        </p:txBody>
      </p:sp>
      <p:sp>
        <p:nvSpPr>
          <p:cNvPr id="21" name="Text 18"/>
          <p:cNvSpPr/>
          <p:nvPr/>
        </p:nvSpPr>
        <p:spPr>
          <a:xfrm>
            <a:off x="458748" y="7083504"/>
            <a:ext cx="3526036" cy="419338"/>
          </a:xfrm>
          <a:prstGeom prst="rect">
            <a:avLst/>
          </a:prstGeom>
          <a:noFill/>
        </p:spPr>
        <p:txBody>
          <a:bodyPr wrap="square" lIns="0" tIns="0" rIns="0" bIns="0" rtlCol="0" anchor="t"/>
          <a:lstStyle/>
          <a:p>
            <a:pPr marL="0" indent="0" algn="l">
              <a:lnSpc>
                <a:spcPts val="1650"/>
              </a:lnSpc>
              <a:buNone/>
            </a:pPr>
            <a:r>
              <a:rPr lang="en-US" sz="1000" dirty="0">
                <a:solidFill>
                  <a:srgbClr val="272525"/>
                </a:solidFill>
                <a:latin typeface="Inter" panose="02000503000000020004" pitchFamily="34" charset="0"/>
                <a:ea typeface="Inter" panose="02000503000000020004" pitchFamily="34" charset="-122"/>
                <a:cs typeface="Inter" panose="02000503000000020004" pitchFamily="34" charset="-120"/>
              </a:rPr>
              <a:t>Partitioning and Z-ordering for accelerated time-series queries</a:t>
            </a:r>
            <a:endParaRPr lang="en-US" sz="1000" dirty="0"/>
          </a:p>
        </p:txBody>
      </p:sp>
      <p:sp>
        <p:nvSpPr>
          <p:cNvPr id="22" name="Text 19"/>
          <p:cNvSpPr/>
          <p:nvPr/>
        </p:nvSpPr>
        <p:spPr>
          <a:xfrm>
            <a:off x="4312206" y="1218248"/>
            <a:ext cx="2482810" cy="245626"/>
          </a:xfrm>
          <a:prstGeom prst="rect">
            <a:avLst/>
          </a:prstGeom>
          <a:noFill/>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Scalability &amp; Performance</a:t>
            </a:r>
            <a:endParaRPr lang="en-US" sz="1500" dirty="0"/>
          </a:p>
        </p:txBody>
      </p:sp>
      <p:sp>
        <p:nvSpPr>
          <p:cNvPr id="23" name="Shape 20"/>
          <p:cNvSpPr/>
          <p:nvPr/>
        </p:nvSpPr>
        <p:spPr>
          <a:xfrm>
            <a:off x="4312206" y="1611273"/>
            <a:ext cx="4380667" cy="976074"/>
          </a:xfrm>
          <a:prstGeom prst="roundRect">
            <a:avLst>
              <a:gd name="adj" fmla="val 5640"/>
            </a:avLst>
          </a:prstGeom>
          <a:solidFill>
            <a:srgbClr val="C7C9EA"/>
          </a:solidFill>
        </p:spPr>
      </p:sp>
      <p:pic>
        <p:nvPicPr>
          <p:cNvPr id="24" name="Image 1" descr="preencoded.png"/>
          <p:cNvPicPr>
            <a:picLocks noChangeAspect="1"/>
          </p:cNvPicPr>
          <p:nvPr/>
        </p:nvPicPr>
        <p:blipFill>
          <a:blip r:embed="rId2"/>
          <a:stretch>
            <a:fillRect/>
          </a:stretch>
        </p:blipFill>
        <p:spPr>
          <a:xfrm>
            <a:off x="4443174" y="1812727"/>
            <a:ext cx="163830" cy="130969"/>
          </a:xfrm>
          <a:prstGeom prst="rect">
            <a:avLst/>
          </a:prstGeom>
        </p:spPr>
      </p:pic>
      <p:sp>
        <p:nvSpPr>
          <p:cNvPr id="25" name="Text 21"/>
          <p:cNvSpPr/>
          <p:nvPr/>
        </p:nvSpPr>
        <p:spPr>
          <a:xfrm>
            <a:off x="4737973" y="1774984"/>
            <a:ext cx="3823930" cy="629007"/>
          </a:xfrm>
          <a:prstGeom prst="rect">
            <a:avLst/>
          </a:prstGeom>
          <a:noFill/>
        </p:spPr>
        <p:txBody>
          <a:bodyPr wrap="square" lIns="0" tIns="0" rIns="0" bIns="0" rtlCol="0" anchor="t"/>
          <a:lstStyle/>
          <a:p>
            <a:pPr marL="0" indent="0" algn="l">
              <a:lnSpc>
                <a:spcPts val="1650"/>
              </a:lnSpc>
              <a:buNone/>
            </a:pPr>
            <a:r>
              <a:rPr lang="en-US" sz="1000" b="1" dirty="0">
                <a:solidFill>
                  <a:srgbClr val="000000"/>
                </a:solidFill>
                <a:latin typeface="Inter" panose="02000503000000020004" pitchFamily="34" charset="0"/>
                <a:ea typeface="Inter" panose="02000503000000020004" pitchFamily="34" charset="-122"/>
                <a:cs typeface="Inter" panose="02000503000000020004" pitchFamily="34" charset="-120"/>
              </a:rPr>
              <a:t>Partitioning Strategy:</a:t>
            </a:r>
            <a:r>
              <a:rPr lang="en-US" sz="1000" dirty="0">
                <a:solidFill>
                  <a:srgbClr val="000000"/>
                </a:solidFill>
                <a:latin typeface="Inter" panose="02000503000000020004" pitchFamily="34" charset="0"/>
                <a:ea typeface="Inter" panose="02000503000000020004" pitchFamily="34" charset="-122"/>
                <a:cs typeface="Inter" panose="02000503000000020004" pitchFamily="34" charset="-120"/>
              </a:rPr>
              <a:t> Data partitioned by ticker and economic indicator for parallel processing and query pruning efficiency.</a:t>
            </a:r>
            <a:endParaRPr lang="en-US" sz="1000" dirty="0"/>
          </a:p>
        </p:txBody>
      </p:sp>
      <p:sp>
        <p:nvSpPr>
          <p:cNvPr id="26" name="Shape 22"/>
          <p:cNvSpPr/>
          <p:nvPr/>
        </p:nvSpPr>
        <p:spPr>
          <a:xfrm>
            <a:off x="4312206" y="2734747"/>
            <a:ext cx="4380667" cy="766405"/>
          </a:xfrm>
          <a:prstGeom prst="roundRect">
            <a:avLst>
              <a:gd name="adj" fmla="val 7183"/>
            </a:avLst>
          </a:prstGeom>
          <a:solidFill>
            <a:srgbClr val="C7C9EA"/>
          </a:solidFill>
        </p:spPr>
      </p:sp>
      <p:pic>
        <p:nvPicPr>
          <p:cNvPr id="27" name="Image 2" descr="preencoded.png"/>
          <p:cNvPicPr>
            <a:picLocks noChangeAspect="1"/>
          </p:cNvPicPr>
          <p:nvPr/>
        </p:nvPicPr>
        <p:blipFill>
          <a:blip r:embed="rId2"/>
          <a:stretch>
            <a:fillRect/>
          </a:stretch>
        </p:blipFill>
        <p:spPr>
          <a:xfrm>
            <a:off x="4443174" y="2936200"/>
            <a:ext cx="163830" cy="130969"/>
          </a:xfrm>
          <a:prstGeom prst="rect">
            <a:avLst/>
          </a:prstGeom>
        </p:spPr>
      </p:pic>
      <p:sp>
        <p:nvSpPr>
          <p:cNvPr id="28" name="Text 23"/>
          <p:cNvSpPr/>
          <p:nvPr/>
        </p:nvSpPr>
        <p:spPr>
          <a:xfrm>
            <a:off x="4737973" y="2898457"/>
            <a:ext cx="3823930" cy="419338"/>
          </a:xfrm>
          <a:prstGeom prst="rect">
            <a:avLst/>
          </a:prstGeom>
          <a:noFill/>
        </p:spPr>
        <p:txBody>
          <a:bodyPr wrap="square" lIns="0" tIns="0" rIns="0" bIns="0" rtlCol="0" anchor="t"/>
          <a:lstStyle/>
          <a:p>
            <a:pPr marL="0" indent="0" algn="l">
              <a:lnSpc>
                <a:spcPts val="1650"/>
              </a:lnSpc>
              <a:buNone/>
            </a:pPr>
            <a:r>
              <a:rPr lang="en-US" sz="1000" b="1" dirty="0">
                <a:solidFill>
                  <a:srgbClr val="000000"/>
                </a:solidFill>
                <a:latin typeface="Inter" panose="02000503000000020004" pitchFamily="34" charset="0"/>
                <a:ea typeface="Inter" panose="02000503000000020004" pitchFamily="34" charset="-122"/>
                <a:cs typeface="Inter" panose="02000503000000020004" pitchFamily="34" charset="-120"/>
              </a:rPr>
              <a:t>Z-Ordering:</a:t>
            </a:r>
            <a:r>
              <a:rPr lang="en-US" sz="1000" dirty="0">
                <a:solidFill>
                  <a:srgbClr val="000000"/>
                </a:solidFill>
                <a:latin typeface="Inter" panose="02000503000000020004" pitchFamily="34" charset="0"/>
                <a:ea typeface="Inter" panose="02000503000000020004" pitchFamily="34" charset="-122"/>
                <a:cs typeface="Inter" panose="02000503000000020004" pitchFamily="34" charset="-120"/>
              </a:rPr>
              <a:t> Optimized by date column to accelerate time-series analysis patterns common in financial analytics.</a:t>
            </a:r>
            <a:endParaRPr lang="en-US" sz="1000" dirty="0"/>
          </a:p>
        </p:txBody>
      </p:sp>
      <p:sp>
        <p:nvSpPr>
          <p:cNvPr id="29" name="Shape 24"/>
          <p:cNvSpPr/>
          <p:nvPr/>
        </p:nvSpPr>
        <p:spPr>
          <a:xfrm>
            <a:off x="4312206" y="3648551"/>
            <a:ext cx="4380667" cy="976074"/>
          </a:xfrm>
          <a:prstGeom prst="roundRect">
            <a:avLst>
              <a:gd name="adj" fmla="val 5640"/>
            </a:avLst>
          </a:prstGeom>
          <a:solidFill>
            <a:srgbClr val="C7C9EA"/>
          </a:solidFill>
        </p:spPr>
      </p:sp>
      <p:pic>
        <p:nvPicPr>
          <p:cNvPr id="30" name="Image 3" descr="preencoded.png"/>
          <p:cNvPicPr>
            <a:picLocks noChangeAspect="1"/>
          </p:cNvPicPr>
          <p:nvPr/>
        </p:nvPicPr>
        <p:blipFill>
          <a:blip r:embed="rId2"/>
          <a:stretch>
            <a:fillRect/>
          </a:stretch>
        </p:blipFill>
        <p:spPr>
          <a:xfrm>
            <a:off x="4443174" y="3850005"/>
            <a:ext cx="163830" cy="130969"/>
          </a:xfrm>
          <a:prstGeom prst="rect">
            <a:avLst/>
          </a:prstGeom>
        </p:spPr>
      </p:pic>
      <p:sp>
        <p:nvSpPr>
          <p:cNvPr id="31" name="Text 25"/>
          <p:cNvSpPr/>
          <p:nvPr/>
        </p:nvSpPr>
        <p:spPr>
          <a:xfrm>
            <a:off x="4737973" y="3812262"/>
            <a:ext cx="3823930" cy="629007"/>
          </a:xfrm>
          <a:prstGeom prst="rect">
            <a:avLst/>
          </a:prstGeom>
          <a:noFill/>
        </p:spPr>
        <p:txBody>
          <a:bodyPr wrap="square" lIns="0" tIns="0" rIns="0" bIns="0" rtlCol="0" anchor="t"/>
          <a:lstStyle/>
          <a:p>
            <a:pPr marL="0" indent="0" algn="l">
              <a:lnSpc>
                <a:spcPts val="1650"/>
              </a:lnSpc>
              <a:buNone/>
            </a:pPr>
            <a:r>
              <a:rPr lang="en-US" sz="1000" b="1" dirty="0">
                <a:solidFill>
                  <a:srgbClr val="000000"/>
                </a:solidFill>
                <a:latin typeface="Inter" panose="02000503000000020004" pitchFamily="34" charset="0"/>
                <a:ea typeface="Inter" panose="02000503000000020004" pitchFamily="34" charset="-122"/>
                <a:cs typeface="Inter" panose="02000503000000020004" pitchFamily="34" charset="-120"/>
              </a:rPr>
              <a:t>Production Deployment:</a:t>
            </a:r>
            <a:r>
              <a:rPr lang="en-US" sz="1000" dirty="0">
                <a:solidFill>
                  <a:srgbClr val="000000"/>
                </a:solidFill>
                <a:latin typeface="Inter" panose="02000503000000020004" pitchFamily="34" charset="0"/>
                <a:ea typeface="Inter" panose="02000503000000020004" pitchFamily="34" charset="-122"/>
                <a:cs typeface="Inter" panose="02000503000000020004" pitchFamily="34" charset="-120"/>
              </a:rPr>
              <a:t> Pipeline designed for daily execution via Databricks Jobs with automated alerting and monitoring.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02707"/>
            <a:ext cx="13042821" cy="1417558"/>
          </a:xfrm>
          <a:prstGeom prst="rect">
            <a:avLst/>
          </a:prstGeom>
          <a:noFill/>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Advanced Feature Engineering: Technical Indicators</a:t>
            </a:r>
            <a:endParaRPr lang="en-US" sz="4450" dirty="0"/>
          </a:p>
        </p:txBody>
      </p:sp>
      <p:sp>
        <p:nvSpPr>
          <p:cNvPr id="3" name="Text 1"/>
          <p:cNvSpPr/>
          <p:nvPr/>
        </p:nvSpPr>
        <p:spPr>
          <a:xfrm>
            <a:off x="793790" y="2210991"/>
            <a:ext cx="6328053" cy="425291"/>
          </a:xfrm>
          <a:prstGeom prst="rect">
            <a:avLst/>
          </a:prstGeom>
          <a:noFill/>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Algorithmic Trading Signal Generation</a:t>
            </a:r>
            <a:endParaRPr lang="en-US" sz="2650" dirty="0"/>
          </a:p>
        </p:txBody>
      </p:sp>
      <p:sp>
        <p:nvSpPr>
          <p:cNvPr id="4" name="Text 2"/>
          <p:cNvSpPr/>
          <p:nvPr/>
        </p:nvSpPr>
        <p:spPr>
          <a:xfrm>
            <a:off x="793790" y="2976443"/>
            <a:ext cx="13042821" cy="725805"/>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We engineered 15+ sophisticated technical indicators using Spark window functions to power trading algorithms, risk models, and portfolio optimization strategies.</a:t>
            </a:r>
            <a:endParaRPr lang="en-US" sz="1750" dirty="0"/>
          </a:p>
        </p:txBody>
      </p:sp>
      <p:sp>
        <p:nvSpPr>
          <p:cNvPr id="5" name="Text 3"/>
          <p:cNvSpPr/>
          <p:nvPr/>
        </p:nvSpPr>
        <p:spPr>
          <a:xfrm>
            <a:off x="793790" y="4240887"/>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Moving Averages</a:t>
            </a:r>
            <a:endParaRPr lang="en-US" sz="2200" dirty="0"/>
          </a:p>
        </p:txBody>
      </p:sp>
      <p:sp>
        <p:nvSpPr>
          <p:cNvPr id="6" name="Text 4"/>
          <p:cNvSpPr/>
          <p:nvPr/>
        </p:nvSpPr>
        <p:spPr>
          <a:xfrm>
            <a:off x="793790" y="4731306"/>
            <a:ext cx="3048000" cy="1451610"/>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7, 14, 50, and 200-day MAs for trend identification and momentum analysis across multiple timeframes</a:t>
            </a:r>
            <a:endParaRPr lang="en-US" sz="1750" dirty="0"/>
          </a:p>
        </p:txBody>
      </p:sp>
      <p:sp>
        <p:nvSpPr>
          <p:cNvPr id="7" name="Text 5"/>
          <p:cNvSpPr/>
          <p:nvPr/>
        </p:nvSpPr>
        <p:spPr>
          <a:xfrm>
            <a:off x="4125278" y="4240887"/>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RSI Momentum</a:t>
            </a:r>
            <a:endParaRPr lang="en-US" sz="2200" dirty="0"/>
          </a:p>
        </p:txBody>
      </p:sp>
      <p:sp>
        <p:nvSpPr>
          <p:cNvPr id="8" name="Text 6"/>
          <p:cNvSpPr/>
          <p:nvPr/>
        </p:nvSpPr>
        <p:spPr>
          <a:xfrm>
            <a:off x="4125278" y="4731306"/>
            <a:ext cx="3048119" cy="1451610"/>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14-period Relative Strength Index to detect overbought and oversold conditions for entry/exit signals</a:t>
            </a:r>
            <a:endParaRPr lang="en-US" sz="1750" dirty="0"/>
          </a:p>
        </p:txBody>
      </p:sp>
      <p:sp>
        <p:nvSpPr>
          <p:cNvPr id="9" name="Text 7"/>
          <p:cNvSpPr/>
          <p:nvPr/>
        </p:nvSpPr>
        <p:spPr>
          <a:xfrm>
            <a:off x="7456884" y="4240887"/>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Bollinger Bands</a:t>
            </a:r>
            <a:endParaRPr lang="en-US" sz="2200" dirty="0"/>
          </a:p>
        </p:txBody>
      </p:sp>
      <p:sp>
        <p:nvSpPr>
          <p:cNvPr id="10" name="Text 8"/>
          <p:cNvSpPr/>
          <p:nvPr/>
        </p:nvSpPr>
        <p:spPr>
          <a:xfrm>
            <a:off x="7456884" y="4731306"/>
            <a:ext cx="3048119" cy="1814513"/>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20-day MA with ±2 standard deviation channels to identify volatility expansion and contraction patterns</a:t>
            </a:r>
            <a:endParaRPr lang="en-US" sz="1750" dirty="0"/>
          </a:p>
        </p:txBody>
      </p:sp>
      <p:sp>
        <p:nvSpPr>
          <p:cNvPr id="11" name="Text 9"/>
          <p:cNvSpPr/>
          <p:nvPr/>
        </p:nvSpPr>
        <p:spPr>
          <a:xfrm>
            <a:off x="10788491" y="4240887"/>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Volatility Metrics</a:t>
            </a:r>
            <a:endParaRPr lang="en-US" sz="2200" dirty="0"/>
          </a:p>
        </p:txBody>
      </p:sp>
      <p:sp>
        <p:nvSpPr>
          <p:cNvPr id="12" name="Text 10"/>
          <p:cNvSpPr/>
          <p:nvPr/>
        </p:nvSpPr>
        <p:spPr>
          <a:xfrm>
            <a:off x="10788491" y="4731306"/>
            <a:ext cx="3048119" cy="1451610"/>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20-day and 50-day rolling standard deviations for dynamic risk assessment and position sizing</a:t>
            </a:r>
            <a:endParaRPr lang="en-US" sz="1750" dirty="0"/>
          </a:p>
        </p:txBody>
      </p:sp>
      <p:sp>
        <p:nvSpPr>
          <p:cNvPr id="13" name="Text 11"/>
          <p:cNvSpPr/>
          <p:nvPr/>
        </p:nvSpPr>
        <p:spPr>
          <a:xfrm>
            <a:off x="793790" y="6800969"/>
            <a:ext cx="13042821" cy="725805"/>
          </a:xfrm>
          <a:prstGeom prst="rect">
            <a:avLst/>
          </a:prstGeom>
          <a:noFill/>
        </p:spPr>
        <p:txBody>
          <a:bodyPr wrap="square" lIns="0" tIns="0" rIns="0" bIns="0" rtlCol="0" anchor="t"/>
          <a:lstStyle/>
          <a:p>
            <a:pPr marL="0" indent="0" algn="l">
              <a:lnSpc>
                <a:spcPts val="2850"/>
              </a:lnSpc>
              <a:buNone/>
            </a:pPr>
            <a:r>
              <a:rPr lang="en-US" sz="1750" b="1" dirty="0">
                <a:solidFill>
                  <a:srgbClr val="272525"/>
                </a:solidFill>
                <a:latin typeface="Inter" panose="02000503000000020004" pitchFamily="34" charset="0"/>
                <a:ea typeface="Inter" panose="02000503000000020004" pitchFamily="34" charset="-122"/>
                <a:cs typeface="Inter" panose="02000503000000020004" pitchFamily="34" charset="-120"/>
              </a:rPr>
              <a:t>Daily Returns:</a:t>
            </a: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 Percentage change calculations enable performance tracking and return attribution analysis across the portfolio.</a:t>
            </a:r>
            <a:endParaRPr lang="en-US" sz="1750" dirty="0"/>
          </a:p>
        </p:txBody>
      </p:sp>
      <p:pic>
        <p:nvPicPr>
          <p:cNvPr id="26" name="Picture 25" descr="Screenshot 2025-11-10 at 2.34.10 AM"/>
          <p:cNvPicPr>
            <a:picLocks noChangeAspect="1"/>
          </p:cNvPicPr>
          <p:nvPr/>
        </p:nvPicPr>
        <p:blipFill>
          <a:blip r:embed="rId1"/>
          <a:stretch>
            <a:fillRect/>
          </a:stretch>
        </p:blipFill>
        <p:spPr>
          <a:xfrm>
            <a:off x="12382500" y="7797800"/>
            <a:ext cx="2247900" cy="3746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2673" y="339923"/>
            <a:ext cx="4761548" cy="386358"/>
          </a:xfrm>
          <a:prstGeom prst="rect">
            <a:avLst/>
          </a:prstGeom>
          <a:noFill/>
        </p:spPr>
        <p:txBody>
          <a:bodyPr wrap="none" lIns="0" tIns="0" rIns="0" bIns="0" rtlCol="0" anchor="t"/>
          <a:lstStyle/>
          <a:p>
            <a:pPr marL="0" indent="0" algn="l">
              <a:lnSpc>
                <a:spcPts val="3000"/>
              </a:lnSpc>
              <a:buNone/>
            </a:pPr>
            <a:r>
              <a:rPr lang="en-US" sz="2400" b="1" dirty="0">
                <a:solidFill>
                  <a:srgbClr val="000000"/>
                </a:solidFill>
                <a:latin typeface="Inter Bold" pitchFamily="34" charset="0"/>
                <a:ea typeface="Inter Bold" pitchFamily="34" charset="-122"/>
                <a:cs typeface="Inter Bold" pitchFamily="34" charset="-120"/>
              </a:rPr>
              <a:t>Contextual Feature Engineering</a:t>
            </a:r>
            <a:endParaRPr lang="en-US" sz="2400" dirty="0"/>
          </a:p>
        </p:txBody>
      </p:sp>
      <p:sp>
        <p:nvSpPr>
          <p:cNvPr id="3" name="Text 1"/>
          <p:cNvSpPr/>
          <p:nvPr/>
        </p:nvSpPr>
        <p:spPr>
          <a:xfrm>
            <a:off x="432673" y="1035248"/>
            <a:ext cx="2497693" cy="231815"/>
          </a:xfrm>
          <a:prstGeom prst="rect">
            <a:avLst/>
          </a:prstGeom>
          <a:noFill/>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Macroeconomic Integration</a:t>
            </a:r>
            <a:endParaRPr lang="en-US" sz="1450" dirty="0"/>
          </a:p>
        </p:txBody>
      </p:sp>
      <p:pic>
        <p:nvPicPr>
          <p:cNvPr id="4" name="Image 0" descr="preencoded.png"/>
          <p:cNvPicPr>
            <a:picLocks noChangeAspect="1"/>
          </p:cNvPicPr>
          <p:nvPr/>
        </p:nvPicPr>
        <p:blipFill>
          <a:blip r:embed="rId1"/>
          <a:stretch>
            <a:fillRect/>
          </a:stretch>
        </p:blipFill>
        <p:spPr>
          <a:xfrm>
            <a:off x="432673" y="1406128"/>
            <a:ext cx="6731794" cy="6731794"/>
          </a:xfrm>
          <a:prstGeom prst="rect">
            <a:avLst/>
          </a:prstGeom>
        </p:spPr>
      </p:pic>
      <p:sp>
        <p:nvSpPr>
          <p:cNvPr id="5" name="Text 2"/>
          <p:cNvSpPr/>
          <p:nvPr/>
        </p:nvSpPr>
        <p:spPr>
          <a:xfrm>
            <a:off x="432673" y="8276987"/>
            <a:ext cx="6731794" cy="395288"/>
          </a:xfrm>
          <a:prstGeom prst="rect">
            <a:avLst/>
          </a:prstGeom>
          <a:noFill/>
        </p:spPr>
        <p:txBody>
          <a:bodyPr wrap="square" lIns="0" tIns="0" rIns="0" bIns="0" rtlCol="0" anchor="t"/>
          <a:lstStyle/>
          <a:p>
            <a:pPr marL="0" indent="0" algn="l">
              <a:lnSpc>
                <a:spcPts val="1550"/>
              </a:lnSpc>
              <a:buNone/>
            </a:pPr>
            <a:r>
              <a:rPr lang="en-US" sz="950" dirty="0">
                <a:solidFill>
                  <a:srgbClr val="272525"/>
                </a:solidFill>
                <a:latin typeface="Inter" panose="02000503000000020004" pitchFamily="34" charset="0"/>
                <a:ea typeface="Inter" panose="02000503000000020004" pitchFamily="34" charset="-122"/>
                <a:cs typeface="Inter" panose="02000503000000020004" pitchFamily="34" charset="-120"/>
              </a:rPr>
              <a:t>We solved the frequency mismatch challenge between daily stock prices and monthly economic indicators using advanced forward-fill logic with LAST_VALUE IGNORE NULLS window functions.</a:t>
            </a:r>
            <a:endParaRPr lang="en-US" sz="950" dirty="0"/>
          </a:p>
        </p:txBody>
      </p:sp>
      <p:sp>
        <p:nvSpPr>
          <p:cNvPr id="6" name="Text 3"/>
          <p:cNvSpPr/>
          <p:nvPr/>
        </p:nvSpPr>
        <p:spPr>
          <a:xfrm>
            <a:off x="432673" y="8783479"/>
            <a:ext cx="6731794" cy="395288"/>
          </a:xfrm>
          <a:prstGeom prst="rect">
            <a:avLst/>
          </a:prstGeom>
          <a:noFill/>
        </p:spPr>
        <p:txBody>
          <a:bodyPr wrap="square" lIns="0" tIns="0" rIns="0" bIns="0" rtlCol="0" anchor="t"/>
          <a:lstStyle/>
          <a:p>
            <a:pPr marL="0" indent="0" algn="l">
              <a:lnSpc>
                <a:spcPts val="1550"/>
              </a:lnSpc>
              <a:buNone/>
            </a:pPr>
            <a:r>
              <a:rPr lang="en-US" sz="950" dirty="0">
                <a:solidFill>
                  <a:srgbClr val="272525"/>
                </a:solidFill>
                <a:latin typeface="Inter" panose="02000503000000020004" pitchFamily="34" charset="0"/>
                <a:ea typeface="Inter" panose="02000503000000020004" pitchFamily="34" charset="-122"/>
                <a:cs typeface="Inter" panose="02000503000000020004" pitchFamily="34" charset="-120"/>
              </a:rPr>
              <a:t>This approach ensures every trading day record includes current macroeconomic context from GDP, unemployment, CPI, Federal Funds rate, Treasury yields, and currency exchange rates.</a:t>
            </a:r>
            <a:endParaRPr lang="en-US" sz="950" dirty="0"/>
          </a:p>
        </p:txBody>
      </p:sp>
      <p:sp>
        <p:nvSpPr>
          <p:cNvPr id="7" name="Text 4"/>
          <p:cNvSpPr/>
          <p:nvPr/>
        </p:nvSpPr>
        <p:spPr>
          <a:xfrm>
            <a:off x="7473553" y="1035248"/>
            <a:ext cx="2274808" cy="231815"/>
          </a:xfrm>
          <a:prstGeom prst="rect">
            <a:avLst/>
          </a:prstGeom>
          <a:noFill/>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Fraud Detection Features</a:t>
            </a:r>
            <a:endParaRPr lang="en-US" sz="1450" dirty="0"/>
          </a:p>
        </p:txBody>
      </p:sp>
      <p:pic>
        <p:nvPicPr>
          <p:cNvPr id="8" name="Image 1" descr="preencoded.png"/>
          <p:cNvPicPr>
            <a:picLocks noChangeAspect="1"/>
          </p:cNvPicPr>
          <p:nvPr/>
        </p:nvPicPr>
        <p:blipFill>
          <a:blip r:embed="rId2"/>
          <a:stretch>
            <a:fillRect/>
          </a:stretch>
        </p:blipFill>
        <p:spPr>
          <a:xfrm>
            <a:off x="7920355" y="1405890"/>
            <a:ext cx="6710045" cy="6710045"/>
          </a:xfrm>
          <a:prstGeom prst="rect">
            <a:avLst/>
          </a:prstGeom>
        </p:spPr>
      </p:pic>
      <p:sp>
        <p:nvSpPr>
          <p:cNvPr id="9" name="Text 5"/>
          <p:cNvSpPr/>
          <p:nvPr/>
        </p:nvSpPr>
        <p:spPr>
          <a:xfrm>
            <a:off x="7473553" y="8276987"/>
            <a:ext cx="6731794" cy="395288"/>
          </a:xfrm>
          <a:prstGeom prst="rect">
            <a:avLst/>
          </a:prstGeom>
          <a:noFill/>
        </p:spPr>
        <p:txBody>
          <a:bodyPr wrap="square" lIns="0" tIns="0" rIns="0" bIns="0" rtlCol="0" anchor="t"/>
          <a:lstStyle/>
          <a:p>
            <a:pPr marL="0" indent="0" algn="l">
              <a:lnSpc>
                <a:spcPts val="1550"/>
              </a:lnSpc>
              <a:buNone/>
            </a:pPr>
            <a:r>
              <a:rPr lang="en-US" sz="950" b="1" dirty="0">
                <a:solidFill>
                  <a:srgbClr val="272525"/>
                </a:solidFill>
                <a:latin typeface="Inter" panose="02000503000000020004" pitchFamily="34" charset="0"/>
                <a:ea typeface="Inter" panose="02000503000000020004" pitchFamily="34" charset="-122"/>
                <a:cs typeface="Inter" panose="02000503000000020004" pitchFamily="34" charset="-120"/>
              </a:rPr>
              <a:t>Behavioral Patterns:</a:t>
            </a:r>
            <a:r>
              <a:rPr lang="en-US" sz="950" dirty="0">
                <a:solidFill>
                  <a:srgbClr val="272525"/>
                </a:solidFill>
                <a:latin typeface="Inter" panose="02000503000000020004" pitchFamily="34" charset="0"/>
                <a:ea typeface="Inter" panose="02000503000000020004" pitchFamily="34" charset="-122"/>
                <a:cs typeface="Inter" panose="02000503000000020004" pitchFamily="34" charset="-120"/>
              </a:rPr>
              <a:t> Transaction hour and day of week analysis combined with customer 7-day activity patterns and merchant 30-day transaction volumes.</a:t>
            </a:r>
            <a:endParaRPr lang="en-US" sz="950" dirty="0"/>
          </a:p>
        </p:txBody>
      </p:sp>
      <p:sp>
        <p:nvSpPr>
          <p:cNvPr id="10" name="Text 6"/>
          <p:cNvSpPr/>
          <p:nvPr/>
        </p:nvSpPr>
        <p:spPr>
          <a:xfrm>
            <a:off x="7473553" y="8783479"/>
            <a:ext cx="6731794" cy="395288"/>
          </a:xfrm>
          <a:prstGeom prst="rect">
            <a:avLst/>
          </a:prstGeom>
          <a:noFill/>
        </p:spPr>
        <p:txBody>
          <a:bodyPr wrap="square" lIns="0" tIns="0" rIns="0" bIns="0" rtlCol="0" anchor="t"/>
          <a:lstStyle/>
          <a:p>
            <a:pPr marL="0" indent="0" algn="l">
              <a:lnSpc>
                <a:spcPts val="1550"/>
              </a:lnSpc>
              <a:buNone/>
            </a:pPr>
            <a:r>
              <a:rPr lang="en-US" sz="950" b="1" dirty="0">
                <a:solidFill>
                  <a:srgbClr val="272525"/>
                </a:solidFill>
                <a:latin typeface="Inter" panose="02000503000000020004" pitchFamily="34" charset="0"/>
                <a:ea typeface="Inter" panose="02000503000000020004" pitchFamily="34" charset="-122"/>
                <a:cs typeface="Inter" panose="02000503000000020004" pitchFamily="34" charset="-120"/>
              </a:rPr>
              <a:t>Risk Signals:</a:t>
            </a:r>
            <a:r>
              <a:rPr lang="en-US" sz="950" dirty="0">
                <a:solidFill>
                  <a:srgbClr val="272525"/>
                </a:solidFill>
                <a:latin typeface="Inter" panose="02000503000000020004" pitchFamily="34" charset="0"/>
                <a:ea typeface="Inter" panose="02000503000000020004" pitchFamily="34" charset="-122"/>
                <a:cs typeface="Inter" panose="02000503000000020004" pitchFamily="34" charset="-120"/>
              </a:rPr>
              <a:t> Amount deviation ratios, risky hour flags (midnight-5am transactions), merchant category risk encoding, and velocity checks.</a:t>
            </a:r>
            <a:endParaRPr lang="en-US" sz="950" dirty="0"/>
          </a:p>
        </p:txBody>
      </p:sp>
      <p:sp>
        <p:nvSpPr>
          <p:cNvPr id="11" name="Text 7"/>
          <p:cNvSpPr/>
          <p:nvPr/>
        </p:nvSpPr>
        <p:spPr>
          <a:xfrm>
            <a:off x="7473553" y="9289971"/>
            <a:ext cx="6731794" cy="395288"/>
          </a:xfrm>
          <a:prstGeom prst="rect">
            <a:avLst/>
          </a:prstGeom>
          <a:noFill/>
        </p:spPr>
        <p:txBody>
          <a:bodyPr wrap="square" lIns="0" tIns="0" rIns="0" bIns="0" rtlCol="0" anchor="t"/>
          <a:lstStyle/>
          <a:p>
            <a:pPr marL="0" indent="0" algn="l">
              <a:lnSpc>
                <a:spcPts val="1550"/>
              </a:lnSpc>
              <a:buNone/>
            </a:pPr>
            <a:r>
              <a:rPr lang="en-US" sz="950" b="1" dirty="0">
                <a:solidFill>
                  <a:srgbClr val="272525"/>
                </a:solidFill>
                <a:latin typeface="Inter" panose="02000503000000020004" pitchFamily="34" charset="0"/>
                <a:ea typeface="Inter" panose="02000503000000020004" pitchFamily="34" charset="-122"/>
                <a:cs typeface="Inter" panose="02000503000000020004" pitchFamily="34" charset="-120"/>
              </a:rPr>
              <a:t>Total Feature Set:</a:t>
            </a:r>
            <a:r>
              <a:rPr lang="en-US" sz="950" dirty="0">
                <a:solidFill>
                  <a:srgbClr val="272525"/>
                </a:solidFill>
                <a:latin typeface="Inter" panose="02000503000000020004" pitchFamily="34" charset="0"/>
                <a:ea typeface="Inter" panose="02000503000000020004" pitchFamily="34" charset="-122"/>
                <a:cs typeface="Inter" panose="02000503000000020004" pitchFamily="34" charset="-120"/>
              </a:rPr>
              <a:t> 15+ features per stock record, 13+ features per fraud transaction, with Z-ordering optimization on date and category dimensions.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7471" y="823793"/>
            <a:ext cx="9600843" cy="640675"/>
          </a:xfrm>
          <a:prstGeom prst="rect">
            <a:avLst/>
          </a:prstGeom>
          <a:noFill/>
        </p:spPr>
        <p:txBody>
          <a:bodyPr wrap="none" lIns="0" tIns="0" rIns="0" bIns="0" rtlCol="0" anchor="t"/>
          <a:lstStyle/>
          <a:p>
            <a:pPr marL="0" indent="0" algn="l">
              <a:lnSpc>
                <a:spcPts val="5000"/>
              </a:lnSpc>
              <a:buNone/>
            </a:pPr>
            <a:r>
              <a:rPr lang="en-US" sz="4000" b="1" dirty="0">
                <a:solidFill>
                  <a:srgbClr val="000000"/>
                </a:solidFill>
                <a:latin typeface="Inter Bold" pitchFamily="34" charset="0"/>
                <a:ea typeface="Inter Bold" pitchFamily="34" charset="-122"/>
                <a:cs typeface="Inter Bold" pitchFamily="34" charset="-120"/>
              </a:rPr>
              <a:t>Data Engineering Excellence Achieved</a:t>
            </a:r>
            <a:endParaRPr lang="en-US" sz="4000" dirty="0"/>
          </a:p>
        </p:txBody>
      </p:sp>
      <p:sp>
        <p:nvSpPr>
          <p:cNvPr id="3" name="Shape 1"/>
          <p:cNvSpPr/>
          <p:nvPr/>
        </p:nvSpPr>
        <p:spPr>
          <a:xfrm>
            <a:off x="717471" y="1874401"/>
            <a:ext cx="4261842" cy="2180392"/>
          </a:xfrm>
          <a:prstGeom prst="roundRect">
            <a:avLst>
              <a:gd name="adj" fmla="val 3949"/>
            </a:avLst>
          </a:prstGeom>
          <a:solidFill>
            <a:srgbClr val="4950BC"/>
          </a:solidFill>
          <a:ln w="7620">
            <a:solidFill>
              <a:srgbClr val="6269D5"/>
            </a:solidFill>
            <a:prstDash val="solid"/>
          </a:ln>
        </p:spPr>
      </p:sp>
      <p:sp>
        <p:nvSpPr>
          <p:cNvPr id="4" name="Text 2"/>
          <p:cNvSpPr/>
          <p:nvPr/>
        </p:nvSpPr>
        <p:spPr>
          <a:xfrm>
            <a:off x="929997" y="2086928"/>
            <a:ext cx="2774633" cy="320278"/>
          </a:xfrm>
          <a:prstGeom prst="rect">
            <a:avLst/>
          </a:prstGeom>
          <a:noFill/>
        </p:spPr>
        <p:txBody>
          <a:bodyPr wrap="none" lIns="0" tIns="0" rIns="0" bIns="0" rtlCol="0" anchor="t"/>
          <a:lstStyle/>
          <a:p>
            <a:pPr marL="0" indent="0" algn="l">
              <a:lnSpc>
                <a:spcPts val="2500"/>
              </a:lnSpc>
              <a:buNone/>
            </a:pPr>
            <a:r>
              <a:rPr lang="en-US" sz="2000" b="1" dirty="0">
                <a:solidFill>
                  <a:srgbClr val="FFFFFF"/>
                </a:solidFill>
                <a:latin typeface="Inter Bold" pitchFamily="34" charset="0"/>
                <a:ea typeface="Inter Bold" pitchFamily="34" charset="-122"/>
                <a:cs typeface="Inter Bold" pitchFamily="34" charset="-120"/>
              </a:rPr>
              <a:t>Delta Lake Foundation</a:t>
            </a:r>
            <a:endParaRPr lang="en-US" sz="2000" dirty="0"/>
          </a:p>
        </p:txBody>
      </p:sp>
      <p:sp>
        <p:nvSpPr>
          <p:cNvPr id="5" name="Text 3"/>
          <p:cNvSpPr/>
          <p:nvPr/>
        </p:nvSpPr>
        <p:spPr>
          <a:xfrm>
            <a:off x="929997" y="2530197"/>
            <a:ext cx="3836789" cy="1312069"/>
          </a:xfrm>
          <a:prstGeom prst="rect">
            <a:avLst/>
          </a:prstGeom>
          <a:noFill/>
        </p:spPr>
        <p:txBody>
          <a:bodyPr wrap="square" lIns="0" tIns="0" rIns="0" bIns="0" rtlCol="0" anchor="t"/>
          <a:lstStyle/>
          <a:p>
            <a:pPr marL="0" indent="0" algn="l">
              <a:lnSpc>
                <a:spcPts val="2550"/>
              </a:lnSpc>
              <a:buNone/>
            </a:pPr>
            <a:r>
              <a:rPr lang="en-US" sz="1600" dirty="0">
                <a:solidFill>
                  <a:srgbClr val="FFFFFF"/>
                </a:solidFill>
                <a:latin typeface="Inter" panose="02000503000000020004" pitchFamily="34" charset="0"/>
                <a:ea typeface="Inter" panose="02000503000000020004" pitchFamily="34" charset="-122"/>
                <a:cs typeface="Inter" panose="02000503000000020004" pitchFamily="34" charset="-120"/>
              </a:rPr>
              <a:t>ACID transactions, schema evolution, and time travel capabilities provide enterprise-grade data reliability and governance</a:t>
            </a:r>
            <a:endParaRPr lang="en-US" sz="1600" dirty="0"/>
          </a:p>
        </p:txBody>
      </p:sp>
      <p:sp>
        <p:nvSpPr>
          <p:cNvPr id="6" name="Shape 4"/>
          <p:cNvSpPr/>
          <p:nvPr/>
        </p:nvSpPr>
        <p:spPr>
          <a:xfrm>
            <a:off x="5184219" y="1874401"/>
            <a:ext cx="4261842" cy="2180392"/>
          </a:xfrm>
          <a:prstGeom prst="roundRect">
            <a:avLst>
              <a:gd name="adj" fmla="val 3949"/>
            </a:avLst>
          </a:prstGeom>
          <a:solidFill>
            <a:srgbClr val="4950BC"/>
          </a:solidFill>
          <a:ln w="7620">
            <a:solidFill>
              <a:srgbClr val="6269D5"/>
            </a:solidFill>
            <a:prstDash val="solid"/>
          </a:ln>
        </p:spPr>
      </p:sp>
      <p:sp>
        <p:nvSpPr>
          <p:cNvPr id="7" name="Text 5"/>
          <p:cNvSpPr/>
          <p:nvPr/>
        </p:nvSpPr>
        <p:spPr>
          <a:xfrm>
            <a:off x="5396746" y="2086928"/>
            <a:ext cx="3292793" cy="320278"/>
          </a:xfrm>
          <a:prstGeom prst="rect">
            <a:avLst/>
          </a:prstGeom>
          <a:noFill/>
        </p:spPr>
        <p:txBody>
          <a:bodyPr wrap="none" lIns="0" tIns="0" rIns="0" bIns="0" rtlCol="0" anchor="t"/>
          <a:lstStyle/>
          <a:p>
            <a:pPr marL="0" indent="0" algn="l">
              <a:lnSpc>
                <a:spcPts val="2500"/>
              </a:lnSpc>
              <a:buNone/>
            </a:pPr>
            <a:r>
              <a:rPr lang="en-US" sz="2000" b="1" dirty="0">
                <a:solidFill>
                  <a:srgbClr val="FFFFFF"/>
                </a:solidFill>
                <a:latin typeface="Inter Bold" pitchFamily="34" charset="0"/>
                <a:ea typeface="Inter Bold" pitchFamily="34" charset="-122"/>
                <a:cs typeface="Inter Bold" pitchFamily="34" charset="-120"/>
              </a:rPr>
              <a:t>Performance Optimization</a:t>
            </a:r>
            <a:endParaRPr lang="en-US" sz="2000" dirty="0"/>
          </a:p>
        </p:txBody>
      </p:sp>
      <p:sp>
        <p:nvSpPr>
          <p:cNvPr id="8" name="Text 6"/>
          <p:cNvSpPr/>
          <p:nvPr/>
        </p:nvSpPr>
        <p:spPr>
          <a:xfrm>
            <a:off x="5396746" y="2530197"/>
            <a:ext cx="3836789" cy="1312069"/>
          </a:xfrm>
          <a:prstGeom prst="rect">
            <a:avLst/>
          </a:prstGeom>
          <a:noFill/>
        </p:spPr>
        <p:txBody>
          <a:bodyPr wrap="square" lIns="0" tIns="0" rIns="0" bIns="0" rtlCol="0" anchor="t"/>
          <a:lstStyle/>
          <a:p>
            <a:pPr marL="0" indent="0" algn="l">
              <a:lnSpc>
                <a:spcPts val="2550"/>
              </a:lnSpc>
              <a:buNone/>
            </a:pPr>
            <a:r>
              <a:rPr lang="en-US" sz="1600" dirty="0">
                <a:solidFill>
                  <a:srgbClr val="FFFFFF"/>
                </a:solidFill>
                <a:latin typeface="Inter" panose="02000503000000020004" pitchFamily="34" charset="0"/>
                <a:ea typeface="Inter" panose="02000503000000020004" pitchFamily="34" charset="-122"/>
                <a:cs typeface="Inter" panose="02000503000000020004" pitchFamily="34" charset="-120"/>
              </a:rPr>
              <a:t>Strategic partitioning by ticker, Z-ordering by date, and auto-compaction deliver sub-second query response times</a:t>
            </a:r>
            <a:endParaRPr lang="en-US" sz="1600" dirty="0"/>
          </a:p>
        </p:txBody>
      </p:sp>
      <p:sp>
        <p:nvSpPr>
          <p:cNvPr id="9" name="Shape 7"/>
          <p:cNvSpPr/>
          <p:nvPr/>
        </p:nvSpPr>
        <p:spPr>
          <a:xfrm>
            <a:off x="9650968" y="1874401"/>
            <a:ext cx="4261842" cy="2180392"/>
          </a:xfrm>
          <a:prstGeom prst="roundRect">
            <a:avLst>
              <a:gd name="adj" fmla="val 3949"/>
            </a:avLst>
          </a:prstGeom>
          <a:solidFill>
            <a:srgbClr val="4950BC"/>
          </a:solidFill>
          <a:ln w="7620">
            <a:solidFill>
              <a:srgbClr val="6269D5"/>
            </a:solidFill>
            <a:prstDash val="solid"/>
          </a:ln>
        </p:spPr>
      </p:sp>
      <p:sp>
        <p:nvSpPr>
          <p:cNvPr id="10" name="Text 8"/>
          <p:cNvSpPr/>
          <p:nvPr/>
        </p:nvSpPr>
        <p:spPr>
          <a:xfrm>
            <a:off x="9863495" y="2086928"/>
            <a:ext cx="2899291" cy="320278"/>
          </a:xfrm>
          <a:prstGeom prst="rect">
            <a:avLst/>
          </a:prstGeom>
          <a:noFill/>
        </p:spPr>
        <p:txBody>
          <a:bodyPr wrap="none" lIns="0" tIns="0" rIns="0" bIns="0" rtlCol="0" anchor="t"/>
          <a:lstStyle/>
          <a:p>
            <a:pPr marL="0" indent="0" algn="l">
              <a:lnSpc>
                <a:spcPts val="2500"/>
              </a:lnSpc>
              <a:buNone/>
            </a:pPr>
            <a:r>
              <a:rPr lang="en-US" sz="2000" b="1" dirty="0">
                <a:solidFill>
                  <a:srgbClr val="FFFFFF"/>
                </a:solidFill>
                <a:latin typeface="Inter Bold" pitchFamily="34" charset="0"/>
                <a:ea typeface="Inter Bold" pitchFamily="34" charset="-122"/>
                <a:cs typeface="Inter Bold" pitchFamily="34" charset="-120"/>
              </a:rPr>
              <a:t>Complete Data Lineage</a:t>
            </a:r>
            <a:endParaRPr lang="en-US" sz="2000" dirty="0"/>
          </a:p>
        </p:txBody>
      </p:sp>
      <p:sp>
        <p:nvSpPr>
          <p:cNvPr id="11" name="Text 9"/>
          <p:cNvSpPr/>
          <p:nvPr/>
        </p:nvSpPr>
        <p:spPr>
          <a:xfrm>
            <a:off x="9863495" y="2530197"/>
            <a:ext cx="3836789" cy="984052"/>
          </a:xfrm>
          <a:prstGeom prst="rect">
            <a:avLst/>
          </a:prstGeom>
          <a:noFill/>
        </p:spPr>
        <p:txBody>
          <a:bodyPr wrap="square" lIns="0" tIns="0" rIns="0" bIns="0" rtlCol="0" anchor="t"/>
          <a:lstStyle/>
          <a:p>
            <a:pPr marL="0" indent="0" algn="l">
              <a:lnSpc>
                <a:spcPts val="2550"/>
              </a:lnSpc>
              <a:buNone/>
            </a:pPr>
            <a:r>
              <a:rPr lang="en-US" sz="1600" dirty="0">
                <a:solidFill>
                  <a:srgbClr val="FFFFFF"/>
                </a:solidFill>
                <a:latin typeface="Inter" panose="02000503000000020004" pitchFamily="34" charset="0"/>
                <a:ea typeface="Inter" panose="02000503000000020004" pitchFamily="34" charset="-122"/>
                <a:cs typeface="Inter" panose="02000503000000020004" pitchFamily="34" charset="-120"/>
              </a:rPr>
              <a:t>Pipeline tracking with ingestion timestamps across all 10 Delta tables ensures full auditability and compliance</a:t>
            </a:r>
            <a:endParaRPr lang="en-US" sz="1600" dirty="0"/>
          </a:p>
        </p:txBody>
      </p:sp>
      <p:sp>
        <p:nvSpPr>
          <p:cNvPr id="12" name="Shape 10"/>
          <p:cNvSpPr/>
          <p:nvPr/>
        </p:nvSpPr>
        <p:spPr>
          <a:xfrm>
            <a:off x="717471" y="4259699"/>
            <a:ext cx="6495217" cy="1524357"/>
          </a:xfrm>
          <a:prstGeom prst="roundRect">
            <a:avLst>
              <a:gd name="adj" fmla="val 5649"/>
            </a:avLst>
          </a:prstGeom>
          <a:solidFill>
            <a:srgbClr val="4950BC"/>
          </a:solidFill>
          <a:ln w="7620">
            <a:solidFill>
              <a:srgbClr val="6269D5"/>
            </a:solidFill>
            <a:prstDash val="solid"/>
          </a:ln>
        </p:spPr>
      </p:sp>
      <p:sp>
        <p:nvSpPr>
          <p:cNvPr id="13" name="Text 11"/>
          <p:cNvSpPr/>
          <p:nvPr/>
        </p:nvSpPr>
        <p:spPr>
          <a:xfrm>
            <a:off x="929997" y="4472226"/>
            <a:ext cx="2744986" cy="320278"/>
          </a:xfrm>
          <a:prstGeom prst="rect">
            <a:avLst/>
          </a:prstGeom>
          <a:noFill/>
        </p:spPr>
        <p:txBody>
          <a:bodyPr wrap="none" lIns="0" tIns="0" rIns="0" bIns="0" rtlCol="0" anchor="t"/>
          <a:lstStyle/>
          <a:p>
            <a:pPr marL="0" indent="0" algn="l">
              <a:lnSpc>
                <a:spcPts val="2500"/>
              </a:lnSpc>
              <a:buNone/>
            </a:pPr>
            <a:r>
              <a:rPr lang="en-US" sz="2000" b="1" dirty="0">
                <a:solidFill>
                  <a:srgbClr val="FFFFFF"/>
                </a:solidFill>
                <a:latin typeface="Inter Bold" pitchFamily="34" charset="0"/>
                <a:ea typeface="Inter Bold" pitchFamily="34" charset="-122"/>
                <a:cs typeface="Inter Bold" pitchFamily="34" charset="-120"/>
              </a:rPr>
              <a:t>Robust Error Handling</a:t>
            </a:r>
            <a:endParaRPr lang="en-US" sz="2000" dirty="0"/>
          </a:p>
        </p:txBody>
      </p:sp>
      <p:sp>
        <p:nvSpPr>
          <p:cNvPr id="14" name="Text 12"/>
          <p:cNvSpPr/>
          <p:nvPr/>
        </p:nvSpPr>
        <p:spPr>
          <a:xfrm>
            <a:off x="929997" y="4915495"/>
            <a:ext cx="6070163" cy="656034"/>
          </a:xfrm>
          <a:prstGeom prst="rect">
            <a:avLst/>
          </a:prstGeom>
          <a:noFill/>
        </p:spPr>
        <p:txBody>
          <a:bodyPr wrap="square" lIns="0" tIns="0" rIns="0" bIns="0" rtlCol="0" anchor="t"/>
          <a:lstStyle/>
          <a:p>
            <a:pPr marL="0" indent="0" algn="l">
              <a:lnSpc>
                <a:spcPts val="2550"/>
              </a:lnSpc>
              <a:buNone/>
            </a:pPr>
            <a:r>
              <a:rPr lang="en-US" sz="1600" dirty="0">
                <a:solidFill>
                  <a:srgbClr val="FFFFFF"/>
                </a:solidFill>
                <a:latin typeface="Inter" panose="02000503000000020004" pitchFamily="34" charset="0"/>
                <a:ea typeface="Inter" panose="02000503000000020004" pitchFamily="34" charset="-122"/>
                <a:cs typeface="Inter" panose="02000503000000020004" pitchFamily="34" charset="-120"/>
              </a:rPr>
              <a:t>Comprehensive try-catch blocks, fallback logic, and status monitoring guarantee 100% pipeline reliability</a:t>
            </a:r>
            <a:endParaRPr lang="en-US" sz="1600" dirty="0"/>
          </a:p>
        </p:txBody>
      </p:sp>
      <p:sp>
        <p:nvSpPr>
          <p:cNvPr id="15" name="Shape 13"/>
          <p:cNvSpPr/>
          <p:nvPr/>
        </p:nvSpPr>
        <p:spPr>
          <a:xfrm>
            <a:off x="7417594" y="4259699"/>
            <a:ext cx="6495217" cy="1524357"/>
          </a:xfrm>
          <a:prstGeom prst="roundRect">
            <a:avLst>
              <a:gd name="adj" fmla="val 5649"/>
            </a:avLst>
          </a:prstGeom>
          <a:solidFill>
            <a:srgbClr val="4950BC"/>
          </a:solidFill>
          <a:ln w="7620">
            <a:solidFill>
              <a:srgbClr val="6269D5"/>
            </a:solidFill>
            <a:prstDash val="solid"/>
          </a:ln>
        </p:spPr>
      </p:sp>
      <p:sp>
        <p:nvSpPr>
          <p:cNvPr id="16" name="Text 14"/>
          <p:cNvSpPr/>
          <p:nvPr/>
        </p:nvSpPr>
        <p:spPr>
          <a:xfrm>
            <a:off x="7630120" y="4472226"/>
            <a:ext cx="3038237" cy="320278"/>
          </a:xfrm>
          <a:prstGeom prst="rect">
            <a:avLst/>
          </a:prstGeom>
          <a:noFill/>
        </p:spPr>
        <p:txBody>
          <a:bodyPr wrap="none" lIns="0" tIns="0" rIns="0" bIns="0" rtlCol="0" anchor="t"/>
          <a:lstStyle/>
          <a:p>
            <a:pPr marL="0" indent="0" algn="l">
              <a:lnSpc>
                <a:spcPts val="2500"/>
              </a:lnSpc>
              <a:buNone/>
            </a:pPr>
            <a:r>
              <a:rPr lang="en-US" sz="2000" b="1" dirty="0">
                <a:solidFill>
                  <a:srgbClr val="FFFFFF"/>
                </a:solidFill>
                <a:latin typeface="Inter Bold" pitchFamily="34" charset="0"/>
                <a:ea typeface="Inter Bold" pitchFamily="34" charset="-122"/>
                <a:cs typeface="Inter Bold" pitchFamily="34" charset="-120"/>
              </a:rPr>
              <a:t>Cloud-Native Scalability</a:t>
            </a:r>
            <a:endParaRPr lang="en-US" sz="2000" dirty="0"/>
          </a:p>
        </p:txBody>
      </p:sp>
      <p:sp>
        <p:nvSpPr>
          <p:cNvPr id="17" name="Text 15"/>
          <p:cNvSpPr/>
          <p:nvPr/>
        </p:nvSpPr>
        <p:spPr>
          <a:xfrm>
            <a:off x="7630120" y="4915495"/>
            <a:ext cx="6070163" cy="656034"/>
          </a:xfrm>
          <a:prstGeom prst="rect">
            <a:avLst/>
          </a:prstGeom>
          <a:noFill/>
        </p:spPr>
        <p:txBody>
          <a:bodyPr wrap="square" lIns="0" tIns="0" rIns="0" bIns="0" rtlCol="0" anchor="t"/>
          <a:lstStyle/>
          <a:p>
            <a:pPr marL="0" indent="0" algn="l">
              <a:lnSpc>
                <a:spcPts val="2550"/>
              </a:lnSpc>
              <a:buNone/>
            </a:pPr>
            <a:r>
              <a:rPr lang="en-US" sz="1600" dirty="0">
                <a:solidFill>
                  <a:srgbClr val="FFFFFF"/>
                </a:solidFill>
                <a:latin typeface="Inter" panose="02000503000000020004" pitchFamily="34" charset="0"/>
                <a:ea typeface="Inter" panose="02000503000000020004" pitchFamily="34" charset="-122"/>
                <a:cs typeface="Inter" panose="02000503000000020004" pitchFamily="34" charset="-120"/>
              </a:rPr>
              <a:t>Architecture designed for millions of records with automated daily execution and elastic compute resources</a:t>
            </a:r>
            <a:endParaRPr lang="en-US" sz="1600" dirty="0"/>
          </a:p>
        </p:txBody>
      </p:sp>
      <p:sp>
        <p:nvSpPr>
          <p:cNvPr id="18" name="Shape 16"/>
          <p:cNvSpPr/>
          <p:nvPr/>
        </p:nvSpPr>
        <p:spPr>
          <a:xfrm>
            <a:off x="717471" y="6117132"/>
            <a:ext cx="13195459" cy="33218"/>
          </a:xfrm>
          <a:prstGeom prst="rect">
            <a:avLst/>
          </a:prstGeom>
          <a:solidFill>
            <a:srgbClr val="272525">
              <a:alpha val="50000"/>
            </a:srgbClr>
          </a:solidFill>
        </p:spPr>
      </p:sp>
      <p:sp>
        <p:nvSpPr>
          <p:cNvPr id="19" name="Text 17"/>
          <p:cNvSpPr/>
          <p:nvPr/>
        </p:nvSpPr>
        <p:spPr>
          <a:xfrm>
            <a:off x="717471" y="6565344"/>
            <a:ext cx="6347698" cy="656034"/>
          </a:xfrm>
          <a:prstGeom prst="rect">
            <a:avLst/>
          </a:prstGeom>
          <a:noFill/>
        </p:spPr>
        <p:txBody>
          <a:bodyPr wrap="square" lIns="0" tIns="0" rIns="0" bIns="0" rtlCol="0" anchor="t"/>
          <a:lstStyle/>
          <a:p>
            <a:pPr marL="0" indent="0" algn="l">
              <a:lnSpc>
                <a:spcPts val="2550"/>
              </a:lnSpc>
              <a:buNone/>
            </a:pPr>
            <a:r>
              <a:rPr lang="en-US" sz="1600" b="1" dirty="0">
                <a:solidFill>
                  <a:srgbClr val="272525"/>
                </a:solidFill>
                <a:latin typeface="Inter" panose="02000503000000020004" pitchFamily="34" charset="0"/>
                <a:ea typeface="Inter" panose="02000503000000020004" pitchFamily="34" charset="-122"/>
                <a:cs typeface="Inter" panose="02000503000000020004" pitchFamily="34" charset="-120"/>
              </a:rPr>
              <a:t>Next:</a:t>
            </a:r>
            <a:r>
              <a:rPr lang="en-US" sz="1600" dirty="0">
                <a:solidFill>
                  <a:srgbClr val="272525"/>
                </a:solidFill>
                <a:latin typeface="Inter" panose="02000503000000020004" pitchFamily="34" charset="0"/>
                <a:ea typeface="Inter" panose="02000503000000020004" pitchFamily="34" charset="-122"/>
                <a:cs typeface="Inter" panose="02000503000000020004" pitchFamily="34" charset="-120"/>
              </a:rPr>
              <a:t> Part 2 covers advanced analytics, machine learning models, AI-powered insights, and business impact metrics.</a:t>
            </a:r>
            <a:endParaRPr lang="en-US" sz="1600" dirty="0"/>
          </a:p>
        </p:txBody>
      </p:sp>
      <p:sp>
        <p:nvSpPr>
          <p:cNvPr id="20" name="Text 18"/>
          <p:cNvSpPr/>
          <p:nvPr/>
        </p:nvSpPr>
        <p:spPr>
          <a:xfrm>
            <a:off x="7572851" y="6565344"/>
            <a:ext cx="6347698" cy="328017"/>
          </a:xfrm>
          <a:prstGeom prst="rect">
            <a:avLst/>
          </a:prstGeom>
          <a:noFill/>
        </p:spPr>
        <p:txBody>
          <a:bodyPr wrap="none" lIns="0" tIns="0" rIns="0" bIns="0" rtlCol="0" anchor="t"/>
          <a:lstStyle/>
          <a:p>
            <a:pPr marL="0" indent="0" algn="r">
              <a:lnSpc>
                <a:spcPts val="2550"/>
              </a:lnSpc>
              <a:buNone/>
            </a:pPr>
            <a:r>
              <a:rPr lang="en-US" sz="1600" dirty="0">
                <a:solidFill>
                  <a:srgbClr val="272525"/>
                </a:solidFill>
                <a:latin typeface="Inter" panose="02000503000000020004" pitchFamily="34" charset="0"/>
                <a:ea typeface="Inter" panose="02000503000000020004" pitchFamily="34" charset="-122"/>
                <a:cs typeface="Inter" panose="02000503000000020004" pitchFamily="34" charset="-120"/>
              </a:rPr>
              <a:t>Nexus Bank Financial Analytics | Part 1 of 2</a:t>
            </a:r>
            <a:endParaRPr lang="en-US" sz="1600" dirty="0"/>
          </a:p>
        </p:txBody>
      </p:sp>
      <p:pic>
        <p:nvPicPr>
          <p:cNvPr id="26" name="Picture 25" descr="Screenshot 2025-11-10 at 2.34.10 AM"/>
          <p:cNvPicPr>
            <a:picLocks noChangeAspect="1"/>
          </p:cNvPicPr>
          <p:nvPr/>
        </p:nvPicPr>
        <p:blipFill>
          <a:blip r:embed="rId1"/>
          <a:stretch>
            <a:fillRect/>
          </a:stretch>
        </p:blipFill>
        <p:spPr>
          <a:xfrm>
            <a:off x="12382500" y="7783830"/>
            <a:ext cx="2247900" cy="3746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00407"/>
            <a:ext cx="7556421" cy="2126337"/>
          </a:xfrm>
          <a:prstGeom prst="rect">
            <a:avLst/>
          </a:prstGeom>
          <a:noFill/>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Nexus Bank Financial Analytics &amp; Modeling Platform</a:t>
            </a:r>
            <a:endParaRPr lang="en-US" sz="4450" dirty="0"/>
          </a:p>
        </p:txBody>
      </p:sp>
      <p:sp>
        <p:nvSpPr>
          <p:cNvPr id="4" name="Text 1"/>
          <p:cNvSpPr/>
          <p:nvPr/>
        </p:nvSpPr>
        <p:spPr>
          <a:xfrm>
            <a:off x="793790" y="4517469"/>
            <a:ext cx="7556421" cy="708660"/>
          </a:xfrm>
          <a:prstGeom prst="rect">
            <a:avLst/>
          </a:prstGeom>
          <a:noFill/>
        </p:spPr>
        <p:txBody>
          <a:bodyPr wrap="squar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Part 2: Predictive Modeling, Portfolio Analytics &amp; AI Integration</a:t>
            </a:r>
            <a:endParaRPr lang="en-US" sz="2200" dirty="0"/>
          </a:p>
        </p:txBody>
      </p:sp>
      <p:sp>
        <p:nvSpPr>
          <p:cNvPr id="5" name="Text 2"/>
          <p:cNvSpPr/>
          <p:nvPr/>
        </p:nvSpPr>
        <p:spPr>
          <a:xfrm>
            <a:off x="793790" y="5566291"/>
            <a:ext cx="7556421"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anose="02000503000000020004" pitchFamily="34" charset="0"/>
                <a:ea typeface="Inter" panose="02000503000000020004" pitchFamily="34" charset="-122"/>
                <a:cs typeface="Inter" panose="02000503000000020004" pitchFamily="34" charset="-120"/>
              </a:rPr>
              <a:t>Nexus Bank Analytics Team | November 2025</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1873" y="584954"/>
            <a:ext cx="9606439" cy="626626"/>
          </a:xfrm>
          <a:prstGeom prst="rect">
            <a:avLst/>
          </a:prstGeom>
          <a:noFill/>
        </p:spPr>
        <p:txBody>
          <a:bodyPr wrap="none" lIns="0" tIns="0" rIns="0" bIns="0" rtlCol="0" anchor="t"/>
          <a:lstStyle/>
          <a:p>
            <a:pPr marL="0" indent="0" algn="l">
              <a:lnSpc>
                <a:spcPts val="4900"/>
              </a:lnSpc>
              <a:buNone/>
            </a:pPr>
            <a:r>
              <a:rPr lang="en-US" sz="3900" b="1" dirty="0">
                <a:solidFill>
                  <a:srgbClr val="000000"/>
                </a:solidFill>
                <a:latin typeface="Inter Bold" pitchFamily="34" charset="0"/>
                <a:ea typeface="Inter Bold" pitchFamily="34" charset="-122"/>
                <a:cs typeface="Inter Bold" pitchFamily="34" charset="-120"/>
              </a:rPr>
              <a:t>Predictive Modeling: ARIMA vs Prophet</a:t>
            </a:r>
            <a:endParaRPr lang="en-US" sz="3900" dirty="0"/>
          </a:p>
        </p:txBody>
      </p:sp>
      <p:sp>
        <p:nvSpPr>
          <p:cNvPr id="3" name="Text 1"/>
          <p:cNvSpPr/>
          <p:nvPr/>
        </p:nvSpPr>
        <p:spPr>
          <a:xfrm>
            <a:off x="701873" y="1612702"/>
            <a:ext cx="13226653" cy="641985"/>
          </a:xfrm>
          <a:prstGeom prst="rect">
            <a:avLst/>
          </a:prstGeom>
          <a:noFill/>
        </p:spPr>
        <p:txBody>
          <a:bodyPr wrap="square" lIns="0" tIns="0" rIns="0" bIns="0" rtlCol="0" anchor="t"/>
          <a:lstStyle/>
          <a:p>
            <a:pPr marL="0" indent="0" algn="l">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Week 5 focused on developing sophisticated time-series forecasting models to predict stock price movements. We implemented two industry-standard approaches and validated their performance across 60 trading days of out-of-sample data.</a:t>
            </a:r>
            <a:endParaRPr lang="en-US" sz="1550" dirty="0"/>
          </a:p>
        </p:txBody>
      </p:sp>
      <p:sp>
        <p:nvSpPr>
          <p:cNvPr id="4" name="Text 2"/>
          <p:cNvSpPr/>
          <p:nvPr/>
        </p:nvSpPr>
        <p:spPr>
          <a:xfrm>
            <a:off x="701873" y="2680811"/>
            <a:ext cx="2506980" cy="313373"/>
          </a:xfrm>
          <a:prstGeom prst="rect">
            <a:avLst/>
          </a:prstGeom>
          <a:noFill/>
        </p:spPr>
        <p:txBody>
          <a:bodyPr wrap="none" lIns="0" tIns="0" rIns="0" bIns="0" rtlCol="0" anchor="t"/>
          <a:lstStyle/>
          <a:p>
            <a:pPr marL="0" indent="0" algn="l">
              <a:lnSpc>
                <a:spcPts val="2450"/>
              </a:lnSpc>
              <a:buNone/>
            </a:pPr>
            <a:r>
              <a:rPr lang="en-US" sz="1950" b="1" dirty="0">
                <a:solidFill>
                  <a:srgbClr val="000000"/>
                </a:solidFill>
                <a:latin typeface="Inter Bold" pitchFamily="34" charset="0"/>
                <a:ea typeface="Inter Bold" pitchFamily="34" charset="-122"/>
                <a:cs typeface="Inter Bold" pitchFamily="34" charset="-120"/>
              </a:rPr>
              <a:t>ARIMA(5,1,2) Model</a:t>
            </a:r>
            <a:endParaRPr lang="en-US" sz="1950" dirty="0"/>
          </a:p>
        </p:txBody>
      </p:sp>
      <p:sp>
        <p:nvSpPr>
          <p:cNvPr id="5" name="Text 3"/>
          <p:cNvSpPr/>
          <p:nvPr/>
        </p:nvSpPr>
        <p:spPr>
          <a:xfrm>
            <a:off x="701873" y="3194685"/>
            <a:ext cx="6368653" cy="320992"/>
          </a:xfrm>
          <a:prstGeom prst="rect">
            <a:avLst/>
          </a:prstGeom>
          <a:noFill/>
        </p:spPr>
        <p:txBody>
          <a:bodyPr wrap="none" lIns="0" tIns="0" rIns="0" bIns="0" rtlCol="0" anchor="t"/>
          <a:lstStyle/>
          <a:p>
            <a:pPr marL="0" indent="0" algn="l">
              <a:lnSpc>
                <a:spcPts val="2500"/>
              </a:lnSpc>
              <a:buNone/>
            </a:pPr>
            <a:r>
              <a:rPr lang="en-US" sz="1550" b="1" dirty="0">
                <a:solidFill>
                  <a:srgbClr val="272525"/>
                </a:solidFill>
                <a:latin typeface="Inter" panose="02000503000000020004" pitchFamily="34" charset="0"/>
                <a:ea typeface="Inter" panose="02000503000000020004" pitchFamily="34" charset="-122"/>
                <a:cs typeface="Inter" panose="02000503000000020004" pitchFamily="34" charset="-120"/>
              </a:rPr>
              <a:t>Autoregressive Integrated Moving Average</a:t>
            </a:r>
            <a:endParaRPr lang="en-US" sz="1550" dirty="0"/>
          </a:p>
        </p:txBody>
      </p:sp>
      <p:sp>
        <p:nvSpPr>
          <p:cNvPr id="6" name="Text 4"/>
          <p:cNvSpPr/>
          <p:nvPr/>
        </p:nvSpPr>
        <p:spPr>
          <a:xfrm>
            <a:off x="701873" y="3696176"/>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5 autoregressive terms</a:t>
            </a:r>
            <a:endParaRPr lang="en-US" sz="1550" dirty="0"/>
          </a:p>
        </p:txBody>
      </p:sp>
      <p:sp>
        <p:nvSpPr>
          <p:cNvPr id="7" name="Text 5"/>
          <p:cNvSpPr/>
          <p:nvPr/>
        </p:nvSpPr>
        <p:spPr>
          <a:xfrm>
            <a:off x="701873" y="4087297"/>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1 order of differencing</a:t>
            </a:r>
            <a:endParaRPr lang="en-US" sz="1550" dirty="0"/>
          </a:p>
        </p:txBody>
      </p:sp>
      <p:sp>
        <p:nvSpPr>
          <p:cNvPr id="8" name="Text 6"/>
          <p:cNvSpPr/>
          <p:nvPr/>
        </p:nvSpPr>
        <p:spPr>
          <a:xfrm>
            <a:off x="701873" y="4478417"/>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2 moving average terms</a:t>
            </a:r>
            <a:endParaRPr lang="en-US" sz="1550" dirty="0"/>
          </a:p>
        </p:txBody>
      </p:sp>
      <p:sp>
        <p:nvSpPr>
          <p:cNvPr id="9" name="Text 7"/>
          <p:cNvSpPr/>
          <p:nvPr/>
        </p:nvSpPr>
        <p:spPr>
          <a:xfrm>
            <a:off x="701873" y="4869537"/>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MAE: $2.34, RMSE: $3.12</a:t>
            </a:r>
            <a:endParaRPr lang="en-US" sz="1550" dirty="0"/>
          </a:p>
        </p:txBody>
      </p:sp>
      <p:sp>
        <p:nvSpPr>
          <p:cNvPr id="10" name="Text 8"/>
          <p:cNvSpPr/>
          <p:nvPr/>
        </p:nvSpPr>
        <p:spPr>
          <a:xfrm>
            <a:off x="701873" y="5260658"/>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MAPE: 3.8%, R²: 0.87</a:t>
            </a:r>
            <a:endParaRPr lang="en-US" sz="1550" dirty="0"/>
          </a:p>
        </p:txBody>
      </p:sp>
      <p:sp>
        <p:nvSpPr>
          <p:cNvPr id="11" name="Text 9"/>
          <p:cNvSpPr/>
          <p:nvPr/>
        </p:nvSpPr>
        <p:spPr>
          <a:xfrm>
            <a:off x="7567493" y="2680811"/>
            <a:ext cx="2506980" cy="313373"/>
          </a:xfrm>
          <a:prstGeom prst="rect">
            <a:avLst/>
          </a:prstGeom>
          <a:noFill/>
        </p:spPr>
        <p:txBody>
          <a:bodyPr wrap="none" lIns="0" tIns="0" rIns="0" bIns="0" rtlCol="0" anchor="t"/>
          <a:lstStyle/>
          <a:p>
            <a:pPr marL="0" indent="0" algn="l">
              <a:lnSpc>
                <a:spcPts val="2450"/>
              </a:lnSpc>
              <a:buNone/>
            </a:pPr>
            <a:r>
              <a:rPr lang="en-US" sz="1950" b="1" dirty="0">
                <a:solidFill>
                  <a:srgbClr val="000000"/>
                </a:solidFill>
                <a:latin typeface="Inter Bold" pitchFamily="34" charset="0"/>
                <a:ea typeface="Inter Bold" pitchFamily="34" charset="-122"/>
                <a:cs typeface="Inter Bold" pitchFamily="34" charset="-120"/>
              </a:rPr>
              <a:t>Facebook Prophet</a:t>
            </a:r>
            <a:endParaRPr lang="en-US" sz="1950" dirty="0"/>
          </a:p>
        </p:txBody>
      </p:sp>
      <p:sp>
        <p:nvSpPr>
          <p:cNvPr id="12" name="Text 10"/>
          <p:cNvSpPr/>
          <p:nvPr/>
        </p:nvSpPr>
        <p:spPr>
          <a:xfrm>
            <a:off x="7567493" y="3194685"/>
            <a:ext cx="6368653" cy="320992"/>
          </a:xfrm>
          <a:prstGeom prst="rect">
            <a:avLst/>
          </a:prstGeom>
          <a:noFill/>
        </p:spPr>
        <p:txBody>
          <a:bodyPr wrap="none" lIns="0" tIns="0" rIns="0" bIns="0" rtlCol="0" anchor="t"/>
          <a:lstStyle/>
          <a:p>
            <a:pPr marL="0" indent="0" algn="l">
              <a:lnSpc>
                <a:spcPts val="2500"/>
              </a:lnSpc>
              <a:buNone/>
            </a:pPr>
            <a:r>
              <a:rPr lang="en-US" sz="1550" b="1" dirty="0">
                <a:solidFill>
                  <a:srgbClr val="272525"/>
                </a:solidFill>
                <a:latin typeface="Inter" panose="02000503000000020004" pitchFamily="34" charset="0"/>
                <a:ea typeface="Inter" panose="02000503000000020004" pitchFamily="34" charset="-122"/>
                <a:cs typeface="Inter" panose="02000503000000020004" pitchFamily="34" charset="-120"/>
              </a:rPr>
              <a:t>Seasonality-Aware Forecasting</a:t>
            </a:r>
            <a:endParaRPr lang="en-US" sz="1550" dirty="0"/>
          </a:p>
        </p:txBody>
      </p:sp>
      <p:sp>
        <p:nvSpPr>
          <p:cNvPr id="13" name="Text 11"/>
          <p:cNvSpPr/>
          <p:nvPr/>
        </p:nvSpPr>
        <p:spPr>
          <a:xfrm>
            <a:off x="7567493" y="3696176"/>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Weekly pattern detection</a:t>
            </a:r>
            <a:endParaRPr lang="en-US" sz="1550" dirty="0"/>
          </a:p>
        </p:txBody>
      </p:sp>
      <p:sp>
        <p:nvSpPr>
          <p:cNvPr id="14" name="Text 12"/>
          <p:cNvSpPr/>
          <p:nvPr/>
        </p:nvSpPr>
        <p:spPr>
          <a:xfrm>
            <a:off x="7567493" y="4087297"/>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Yearly trend analysis</a:t>
            </a:r>
            <a:endParaRPr lang="en-US" sz="1550" dirty="0"/>
          </a:p>
        </p:txBody>
      </p:sp>
      <p:sp>
        <p:nvSpPr>
          <p:cNvPr id="15" name="Text 13"/>
          <p:cNvSpPr/>
          <p:nvPr/>
        </p:nvSpPr>
        <p:spPr>
          <a:xfrm>
            <a:off x="7567493" y="4478417"/>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Automatic changepoint detection</a:t>
            </a:r>
            <a:endParaRPr lang="en-US" sz="1550" dirty="0"/>
          </a:p>
        </p:txBody>
      </p:sp>
      <p:sp>
        <p:nvSpPr>
          <p:cNvPr id="16" name="Text 14"/>
          <p:cNvSpPr/>
          <p:nvPr/>
        </p:nvSpPr>
        <p:spPr>
          <a:xfrm>
            <a:off x="7567493" y="4869537"/>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MAE: $2.18, RMSE: $2.89</a:t>
            </a:r>
            <a:endParaRPr lang="en-US" sz="1550" dirty="0"/>
          </a:p>
        </p:txBody>
      </p:sp>
      <p:sp>
        <p:nvSpPr>
          <p:cNvPr id="17" name="Text 15"/>
          <p:cNvSpPr/>
          <p:nvPr/>
        </p:nvSpPr>
        <p:spPr>
          <a:xfrm>
            <a:off x="7567493" y="5260658"/>
            <a:ext cx="6368653" cy="320992"/>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MAPE: 3.2%, R²: 0.91</a:t>
            </a:r>
            <a:endParaRPr lang="en-US" sz="1550" dirty="0"/>
          </a:p>
        </p:txBody>
      </p:sp>
      <p:sp>
        <p:nvSpPr>
          <p:cNvPr id="18" name="Text 16"/>
          <p:cNvSpPr/>
          <p:nvPr/>
        </p:nvSpPr>
        <p:spPr>
          <a:xfrm>
            <a:off x="701873" y="5977652"/>
            <a:ext cx="4241721" cy="661749"/>
          </a:xfrm>
          <a:prstGeom prst="rect">
            <a:avLst/>
          </a:prstGeom>
          <a:noFill/>
        </p:spPr>
        <p:txBody>
          <a:bodyPr wrap="none" lIns="0" tIns="0" rIns="0" bIns="0" rtlCol="0" anchor="t"/>
          <a:lstStyle/>
          <a:p>
            <a:pPr marL="0" indent="0" algn="ctr">
              <a:lnSpc>
                <a:spcPts val="5200"/>
              </a:lnSpc>
              <a:buNone/>
            </a:pPr>
            <a:r>
              <a:rPr lang="en-US" sz="5200" b="1" dirty="0">
                <a:solidFill>
                  <a:srgbClr val="272525"/>
                </a:solidFill>
                <a:latin typeface="Inter Bold" pitchFamily="34" charset="0"/>
                <a:ea typeface="Inter Bold" pitchFamily="34" charset="-122"/>
                <a:cs typeface="Inter Bold" pitchFamily="34" charset="-120"/>
              </a:rPr>
              <a:t>78%</a:t>
            </a:r>
            <a:endParaRPr lang="en-US" sz="5200" dirty="0"/>
          </a:p>
        </p:txBody>
      </p:sp>
      <p:sp>
        <p:nvSpPr>
          <p:cNvPr id="19" name="Text 17"/>
          <p:cNvSpPr/>
          <p:nvPr/>
        </p:nvSpPr>
        <p:spPr>
          <a:xfrm>
            <a:off x="1569244" y="6890028"/>
            <a:ext cx="2506980" cy="313373"/>
          </a:xfrm>
          <a:prstGeom prst="rect">
            <a:avLst/>
          </a:prstGeom>
          <a:noFill/>
        </p:spPr>
        <p:txBody>
          <a:bodyPr wrap="none" lIns="0" tIns="0" rIns="0" bIns="0" rtlCol="0" anchor="t"/>
          <a:lstStyle/>
          <a:p>
            <a:pPr marL="0" indent="0" algn="ctr">
              <a:lnSpc>
                <a:spcPts val="2450"/>
              </a:lnSpc>
              <a:buNone/>
            </a:pPr>
            <a:r>
              <a:rPr lang="en-US" sz="1950" b="1" dirty="0">
                <a:solidFill>
                  <a:srgbClr val="272525"/>
                </a:solidFill>
                <a:latin typeface="Inter Bold" pitchFamily="34" charset="0"/>
                <a:ea typeface="Inter Bold" pitchFamily="34" charset="-122"/>
                <a:cs typeface="Inter Bold" pitchFamily="34" charset="-120"/>
              </a:rPr>
              <a:t>Within 5% Accuracy</a:t>
            </a:r>
            <a:endParaRPr lang="en-US" sz="1950" dirty="0"/>
          </a:p>
        </p:txBody>
      </p:sp>
      <p:sp>
        <p:nvSpPr>
          <p:cNvPr id="20" name="Text 18"/>
          <p:cNvSpPr/>
          <p:nvPr/>
        </p:nvSpPr>
        <p:spPr>
          <a:xfrm>
            <a:off x="701873" y="7323653"/>
            <a:ext cx="4241721" cy="320992"/>
          </a:xfrm>
          <a:prstGeom prst="rect">
            <a:avLst/>
          </a:prstGeom>
          <a:noFill/>
        </p:spPr>
        <p:txBody>
          <a:bodyPr wrap="none" lIns="0" tIns="0" rIns="0" bIns="0" rtlCol="0" anchor="t"/>
          <a:lstStyle/>
          <a:p>
            <a:pPr marL="0" indent="0" algn="ctr">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Forecasts meeting strict tolerance threshold</a:t>
            </a:r>
            <a:endParaRPr lang="en-US" sz="1550" dirty="0"/>
          </a:p>
        </p:txBody>
      </p:sp>
      <p:sp>
        <p:nvSpPr>
          <p:cNvPr id="21" name="Text 19"/>
          <p:cNvSpPr/>
          <p:nvPr/>
        </p:nvSpPr>
        <p:spPr>
          <a:xfrm>
            <a:off x="5194221" y="5977652"/>
            <a:ext cx="4241840" cy="661749"/>
          </a:xfrm>
          <a:prstGeom prst="rect">
            <a:avLst/>
          </a:prstGeom>
          <a:noFill/>
        </p:spPr>
        <p:txBody>
          <a:bodyPr wrap="none" lIns="0" tIns="0" rIns="0" bIns="0" rtlCol="0" anchor="t"/>
          <a:lstStyle/>
          <a:p>
            <a:pPr marL="0" indent="0" algn="ctr">
              <a:lnSpc>
                <a:spcPts val="5200"/>
              </a:lnSpc>
              <a:buNone/>
            </a:pPr>
            <a:r>
              <a:rPr lang="en-US" sz="5200" b="1" dirty="0">
                <a:solidFill>
                  <a:srgbClr val="272525"/>
                </a:solidFill>
                <a:latin typeface="Inter Bold" pitchFamily="34" charset="0"/>
                <a:ea typeface="Inter Bold" pitchFamily="34" charset="-122"/>
                <a:cs typeface="Inter Bold" pitchFamily="34" charset="-120"/>
              </a:rPr>
              <a:t>94%</a:t>
            </a:r>
            <a:endParaRPr lang="en-US" sz="5200" dirty="0"/>
          </a:p>
        </p:txBody>
      </p:sp>
      <p:sp>
        <p:nvSpPr>
          <p:cNvPr id="22" name="Text 20"/>
          <p:cNvSpPr/>
          <p:nvPr/>
        </p:nvSpPr>
        <p:spPr>
          <a:xfrm>
            <a:off x="6004560" y="6890028"/>
            <a:ext cx="2621042" cy="313373"/>
          </a:xfrm>
          <a:prstGeom prst="rect">
            <a:avLst/>
          </a:prstGeom>
          <a:noFill/>
        </p:spPr>
        <p:txBody>
          <a:bodyPr wrap="none" lIns="0" tIns="0" rIns="0" bIns="0" rtlCol="0" anchor="t"/>
          <a:lstStyle/>
          <a:p>
            <a:pPr marL="0" indent="0" algn="ctr">
              <a:lnSpc>
                <a:spcPts val="2450"/>
              </a:lnSpc>
              <a:buNone/>
            </a:pPr>
            <a:r>
              <a:rPr lang="en-US" sz="1950" b="1" dirty="0">
                <a:solidFill>
                  <a:srgbClr val="272525"/>
                </a:solidFill>
                <a:latin typeface="Inter Bold" pitchFamily="34" charset="0"/>
                <a:ea typeface="Inter Bold" pitchFamily="34" charset="-122"/>
                <a:cs typeface="Inter Bold" pitchFamily="34" charset="-120"/>
              </a:rPr>
              <a:t>Within 10% Accuracy</a:t>
            </a:r>
            <a:endParaRPr lang="en-US" sz="1950" dirty="0"/>
          </a:p>
        </p:txBody>
      </p:sp>
      <p:sp>
        <p:nvSpPr>
          <p:cNvPr id="23" name="Text 21"/>
          <p:cNvSpPr/>
          <p:nvPr/>
        </p:nvSpPr>
        <p:spPr>
          <a:xfrm>
            <a:off x="5194221" y="7323653"/>
            <a:ext cx="4241840" cy="320992"/>
          </a:xfrm>
          <a:prstGeom prst="rect">
            <a:avLst/>
          </a:prstGeom>
          <a:noFill/>
        </p:spPr>
        <p:txBody>
          <a:bodyPr wrap="none" lIns="0" tIns="0" rIns="0" bIns="0" rtlCol="0" anchor="t"/>
          <a:lstStyle/>
          <a:p>
            <a:pPr marL="0" indent="0" algn="ctr">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High confidence prediction range</a:t>
            </a:r>
            <a:endParaRPr lang="en-US" sz="1550" dirty="0"/>
          </a:p>
        </p:txBody>
      </p:sp>
      <p:sp>
        <p:nvSpPr>
          <p:cNvPr id="24" name="Text 22"/>
          <p:cNvSpPr/>
          <p:nvPr/>
        </p:nvSpPr>
        <p:spPr>
          <a:xfrm>
            <a:off x="9686687" y="5977652"/>
            <a:ext cx="4241840" cy="661749"/>
          </a:xfrm>
          <a:prstGeom prst="rect">
            <a:avLst/>
          </a:prstGeom>
          <a:noFill/>
        </p:spPr>
        <p:txBody>
          <a:bodyPr wrap="none" lIns="0" tIns="0" rIns="0" bIns="0" rtlCol="0" anchor="t"/>
          <a:lstStyle/>
          <a:p>
            <a:pPr marL="0" indent="0" algn="ctr">
              <a:lnSpc>
                <a:spcPts val="5200"/>
              </a:lnSpc>
              <a:buNone/>
            </a:pPr>
            <a:r>
              <a:rPr lang="en-US" sz="5200" b="1" dirty="0">
                <a:solidFill>
                  <a:srgbClr val="272525"/>
                </a:solidFill>
                <a:latin typeface="Inter Bold" pitchFamily="34" charset="0"/>
                <a:ea typeface="Inter Bold" pitchFamily="34" charset="-122"/>
                <a:cs typeface="Inter Bold" pitchFamily="34" charset="-120"/>
              </a:rPr>
              <a:t>60</a:t>
            </a:r>
            <a:endParaRPr lang="en-US" sz="5200" dirty="0"/>
          </a:p>
        </p:txBody>
      </p:sp>
      <p:sp>
        <p:nvSpPr>
          <p:cNvPr id="25" name="Text 23"/>
          <p:cNvSpPr/>
          <p:nvPr/>
        </p:nvSpPr>
        <p:spPr>
          <a:xfrm>
            <a:off x="10554057" y="6890028"/>
            <a:ext cx="2506980" cy="313373"/>
          </a:xfrm>
          <a:prstGeom prst="rect">
            <a:avLst/>
          </a:prstGeom>
          <a:noFill/>
        </p:spPr>
        <p:txBody>
          <a:bodyPr wrap="none" lIns="0" tIns="0" rIns="0" bIns="0" rtlCol="0" anchor="t"/>
          <a:lstStyle/>
          <a:p>
            <a:pPr marL="0" indent="0" algn="ctr">
              <a:lnSpc>
                <a:spcPts val="2450"/>
              </a:lnSpc>
              <a:buNone/>
            </a:pPr>
            <a:r>
              <a:rPr lang="en-US" sz="1950" b="1" dirty="0">
                <a:solidFill>
                  <a:srgbClr val="272525"/>
                </a:solidFill>
                <a:latin typeface="Inter Bold" pitchFamily="34" charset="0"/>
                <a:ea typeface="Inter Bold" pitchFamily="34" charset="-122"/>
                <a:cs typeface="Inter Bold" pitchFamily="34" charset="-120"/>
              </a:rPr>
              <a:t>Trading Days</a:t>
            </a:r>
            <a:endParaRPr lang="en-US" sz="1950" dirty="0"/>
          </a:p>
        </p:txBody>
      </p:sp>
      <p:sp>
        <p:nvSpPr>
          <p:cNvPr id="26" name="Text 24"/>
          <p:cNvSpPr/>
          <p:nvPr/>
        </p:nvSpPr>
        <p:spPr>
          <a:xfrm>
            <a:off x="9686687" y="7323653"/>
            <a:ext cx="4241840" cy="320992"/>
          </a:xfrm>
          <a:prstGeom prst="rect">
            <a:avLst/>
          </a:prstGeom>
          <a:noFill/>
        </p:spPr>
        <p:txBody>
          <a:bodyPr wrap="none" lIns="0" tIns="0" rIns="0" bIns="0" rtlCol="0" anchor="t"/>
          <a:lstStyle/>
          <a:p>
            <a:pPr marL="0" indent="0" algn="ctr">
              <a:lnSpc>
                <a:spcPts val="2500"/>
              </a:lnSpc>
              <a:buNone/>
            </a:pPr>
            <a:r>
              <a:rPr lang="en-US" sz="1550" dirty="0">
                <a:solidFill>
                  <a:srgbClr val="272525"/>
                </a:solidFill>
                <a:latin typeface="Inter" panose="02000503000000020004" pitchFamily="34" charset="0"/>
                <a:ea typeface="Inter" panose="02000503000000020004" pitchFamily="34" charset="-122"/>
                <a:cs typeface="Inter" panose="02000503000000020004" pitchFamily="34" charset="-120"/>
              </a:rPr>
              <a:t>Out-of-sample validation period</a:t>
            </a:r>
            <a:endParaRPr lang="en-US" sz="1550" dirty="0"/>
          </a:p>
        </p:txBody>
      </p:sp>
      <p:pic>
        <p:nvPicPr>
          <p:cNvPr id="27" name="Picture 26" descr="Screenshot 2025-11-10 at 2.34.10 AM"/>
          <p:cNvPicPr>
            <a:picLocks noChangeAspect="1"/>
          </p:cNvPicPr>
          <p:nvPr/>
        </p:nvPicPr>
        <p:blipFill>
          <a:blip r:embed="rId1"/>
          <a:stretch>
            <a:fillRect/>
          </a:stretch>
        </p:blipFill>
        <p:spPr>
          <a:xfrm>
            <a:off x="12382500" y="7797800"/>
            <a:ext cx="2247900" cy="3746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11029" y="732353"/>
            <a:ext cx="7921943" cy="1091089"/>
          </a:xfrm>
          <a:prstGeom prst="rect">
            <a:avLst/>
          </a:prstGeom>
          <a:noFill/>
        </p:spPr>
        <p:txBody>
          <a:bodyPr wrap="squar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Classification Models for Fraud Prevention</a:t>
            </a:r>
            <a:endParaRPr lang="en-US" sz="3400" dirty="0"/>
          </a:p>
        </p:txBody>
      </p:sp>
      <p:sp>
        <p:nvSpPr>
          <p:cNvPr id="4" name="Text 1"/>
          <p:cNvSpPr/>
          <p:nvPr/>
        </p:nvSpPr>
        <p:spPr>
          <a:xfrm>
            <a:off x="611029" y="2085261"/>
            <a:ext cx="7921943" cy="837605"/>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Advanced machine learning models were deployed to identify fraudulent transactions in real-time, leveraging ensemble methods and engineered features to minimize false positives while maintaining high detection rates.</a:t>
            </a:r>
            <a:endParaRPr lang="en-US" sz="1350" dirty="0"/>
          </a:p>
        </p:txBody>
      </p:sp>
      <p:sp>
        <p:nvSpPr>
          <p:cNvPr id="5" name="Text 2"/>
          <p:cNvSpPr/>
          <p:nvPr/>
        </p:nvSpPr>
        <p:spPr>
          <a:xfrm>
            <a:off x="611029" y="3293745"/>
            <a:ext cx="3456622" cy="272772"/>
          </a:xfrm>
          <a:prstGeom prst="rect">
            <a:avLst/>
          </a:prstGeom>
          <a:noFill/>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Model Performance Comparison</a:t>
            </a:r>
            <a:endParaRPr lang="en-US" sz="1700" dirty="0"/>
          </a:p>
        </p:txBody>
      </p:sp>
      <p:sp>
        <p:nvSpPr>
          <p:cNvPr id="6" name="Text 3"/>
          <p:cNvSpPr/>
          <p:nvPr/>
        </p:nvSpPr>
        <p:spPr>
          <a:xfrm>
            <a:off x="611029" y="3741063"/>
            <a:ext cx="4582835" cy="558403"/>
          </a:xfrm>
          <a:prstGeom prst="rect">
            <a:avLst/>
          </a:prstGeom>
          <a:noFill/>
        </p:spPr>
        <p:txBody>
          <a:bodyPr wrap="square" lIns="0" tIns="0" rIns="0" bIns="0" rtlCol="0" anchor="t"/>
          <a:lstStyle/>
          <a:p>
            <a:pPr marL="0" indent="0" algn="l">
              <a:lnSpc>
                <a:spcPts val="2150"/>
              </a:lnSpc>
              <a:buSzPct val="100000"/>
              <a:buNone/>
            </a:pPr>
            <a:r>
              <a:rPr lang="en-US" sz="1350" b="1" dirty="0">
                <a:solidFill>
                  <a:srgbClr val="272525"/>
                </a:solidFill>
                <a:latin typeface="Inter" panose="02000503000000020004" pitchFamily="34" charset="0"/>
                <a:ea typeface="Inter" panose="02000503000000020004" pitchFamily="34" charset="-122"/>
                <a:cs typeface="Inter" panose="02000503000000020004" pitchFamily="34" charset="-120"/>
              </a:rPr>
              <a:t>Logistic Regression:</a:t>
            </a: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 Linear classifier with balanced class weights, ROC-AUC = 0.89</a:t>
            </a:r>
            <a:endParaRPr lang="en-US" sz="1350" dirty="0"/>
          </a:p>
        </p:txBody>
      </p:sp>
      <p:sp>
        <p:nvSpPr>
          <p:cNvPr id="7" name="Text 4"/>
          <p:cNvSpPr/>
          <p:nvPr/>
        </p:nvSpPr>
        <p:spPr>
          <a:xfrm>
            <a:off x="611029" y="4360545"/>
            <a:ext cx="4582835" cy="558403"/>
          </a:xfrm>
          <a:prstGeom prst="rect">
            <a:avLst/>
          </a:prstGeom>
          <a:noFill/>
        </p:spPr>
        <p:txBody>
          <a:bodyPr wrap="square" lIns="0" tIns="0" rIns="0" bIns="0" rtlCol="0" anchor="t"/>
          <a:lstStyle/>
          <a:p>
            <a:pPr marL="0" indent="0" algn="l">
              <a:lnSpc>
                <a:spcPts val="2150"/>
              </a:lnSpc>
              <a:buSzPct val="100000"/>
              <a:buNone/>
            </a:pPr>
            <a:r>
              <a:rPr lang="en-US" sz="1350" b="1" dirty="0">
                <a:solidFill>
                  <a:srgbClr val="272525"/>
                </a:solidFill>
                <a:latin typeface="Inter" panose="02000503000000020004" pitchFamily="34" charset="0"/>
                <a:ea typeface="Inter" panose="02000503000000020004" pitchFamily="34" charset="-122"/>
                <a:cs typeface="Inter" panose="02000503000000020004" pitchFamily="34" charset="-120"/>
              </a:rPr>
              <a:t>Random Forest:</a:t>
            </a: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 Ensemble of 100 decision trees (max depth 10), ROC-AUC = 0.94</a:t>
            </a:r>
            <a:endParaRPr lang="en-US" sz="1350" dirty="0"/>
          </a:p>
        </p:txBody>
      </p:sp>
      <p:sp>
        <p:nvSpPr>
          <p:cNvPr id="8" name="Text 5"/>
          <p:cNvSpPr/>
          <p:nvPr/>
        </p:nvSpPr>
        <p:spPr>
          <a:xfrm>
            <a:off x="611029" y="4980027"/>
            <a:ext cx="4582835" cy="558403"/>
          </a:xfrm>
          <a:prstGeom prst="rect">
            <a:avLst/>
          </a:prstGeom>
          <a:noFill/>
        </p:spPr>
        <p:txBody>
          <a:bodyPr wrap="square" lIns="0" tIns="0" rIns="0" bIns="0" rtlCol="0" anchor="t"/>
          <a:lstStyle/>
          <a:p>
            <a:pPr marL="0" indent="0" algn="l">
              <a:lnSpc>
                <a:spcPts val="2150"/>
              </a:lnSpc>
              <a:buSzPct val="100000"/>
              <a:buNone/>
            </a:pPr>
            <a:r>
              <a:rPr lang="en-US" sz="1350" b="1" dirty="0">
                <a:solidFill>
                  <a:srgbClr val="272525"/>
                </a:solidFill>
                <a:latin typeface="Inter" panose="02000503000000020004" pitchFamily="34" charset="0"/>
                <a:ea typeface="Inter" panose="02000503000000020004" pitchFamily="34" charset="-122"/>
                <a:cs typeface="Inter" panose="02000503000000020004" pitchFamily="34" charset="-120"/>
              </a:rPr>
              <a:t>True Positives:</a:t>
            </a: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 487 fraudulent transactions correctly identified</a:t>
            </a:r>
            <a:endParaRPr lang="en-US" sz="1350" dirty="0"/>
          </a:p>
        </p:txBody>
      </p:sp>
      <p:sp>
        <p:nvSpPr>
          <p:cNvPr id="9" name="Text 6"/>
          <p:cNvSpPr/>
          <p:nvPr/>
        </p:nvSpPr>
        <p:spPr>
          <a:xfrm>
            <a:off x="611029" y="5599509"/>
            <a:ext cx="4582835" cy="279202"/>
          </a:xfrm>
          <a:prstGeom prst="rect">
            <a:avLst/>
          </a:prstGeom>
          <a:noFill/>
        </p:spPr>
        <p:txBody>
          <a:bodyPr wrap="none" lIns="0" tIns="0" rIns="0" bIns="0" rtlCol="0" anchor="t"/>
          <a:lstStyle/>
          <a:p>
            <a:pPr marL="0" indent="0" algn="l">
              <a:lnSpc>
                <a:spcPts val="2150"/>
              </a:lnSpc>
              <a:buSzPct val="100000"/>
              <a:buNone/>
            </a:pPr>
            <a:r>
              <a:rPr lang="en-US" sz="1350" b="1" dirty="0">
                <a:solidFill>
                  <a:srgbClr val="272525"/>
                </a:solidFill>
                <a:latin typeface="Inter" panose="02000503000000020004" pitchFamily="34" charset="0"/>
                <a:ea typeface="Inter" panose="02000503000000020004" pitchFamily="34" charset="-122"/>
                <a:cs typeface="Inter" panose="02000503000000020004" pitchFamily="34" charset="-120"/>
              </a:rPr>
              <a:t>False Positives:</a:t>
            </a: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 23 legitimate transactions flagged</a:t>
            </a:r>
            <a:endParaRPr lang="en-US" sz="1350" dirty="0"/>
          </a:p>
        </p:txBody>
      </p:sp>
      <p:sp>
        <p:nvSpPr>
          <p:cNvPr id="10" name="Text 7"/>
          <p:cNvSpPr/>
          <p:nvPr/>
        </p:nvSpPr>
        <p:spPr>
          <a:xfrm>
            <a:off x="611029" y="5939790"/>
            <a:ext cx="4582835" cy="279202"/>
          </a:xfrm>
          <a:prstGeom prst="rect">
            <a:avLst/>
          </a:prstGeom>
          <a:noFill/>
        </p:spPr>
        <p:txBody>
          <a:bodyPr wrap="none" lIns="0" tIns="0" rIns="0" bIns="0" rtlCol="0" anchor="t"/>
          <a:lstStyle/>
          <a:p>
            <a:pPr marL="0" indent="0" algn="l">
              <a:lnSpc>
                <a:spcPts val="2150"/>
              </a:lnSpc>
              <a:buSzPct val="100000"/>
              <a:buNone/>
            </a:pPr>
            <a:r>
              <a:rPr lang="en-US" sz="1350" b="1" dirty="0">
                <a:solidFill>
                  <a:srgbClr val="272525"/>
                </a:solidFill>
                <a:latin typeface="Inter" panose="02000503000000020004" pitchFamily="34" charset="0"/>
                <a:ea typeface="Inter" panose="02000503000000020004" pitchFamily="34" charset="-122"/>
                <a:cs typeface="Inter" panose="02000503000000020004" pitchFamily="34" charset="-120"/>
              </a:rPr>
              <a:t>False Negatives:</a:t>
            </a: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 18 fraudulent transactions missed</a:t>
            </a:r>
            <a:endParaRPr lang="en-US" sz="1350" dirty="0"/>
          </a:p>
        </p:txBody>
      </p:sp>
      <p:sp>
        <p:nvSpPr>
          <p:cNvPr id="11" name="Text 8"/>
          <p:cNvSpPr/>
          <p:nvPr/>
        </p:nvSpPr>
        <p:spPr>
          <a:xfrm>
            <a:off x="5627251" y="3293745"/>
            <a:ext cx="2182297" cy="272772"/>
          </a:xfrm>
          <a:prstGeom prst="rect">
            <a:avLst/>
          </a:prstGeom>
          <a:noFill/>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Top Fraud Signals</a:t>
            </a:r>
            <a:endParaRPr lang="en-US" sz="1700" dirty="0"/>
          </a:p>
        </p:txBody>
      </p:sp>
      <p:sp>
        <p:nvSpPr>
          <p:cNvPr id="12" name="Text 9"/>
          <p:cNvSpPr/>
          <p:nvPr/>
        </p:nvSpPr>
        <p:spPr>
          <a:xfrm>
            <a:off x="5627251" y="3741063"/>
            <a:ext cx="2913221" cy="279202"/>
          </a:xfrm>
          <a:prstGeom prst="rect">
            <a:avLst/>
          </a:prstGeom>
          <a:noFill/>
        </p:spPr>
        <p:txBody>
          <a:bodyPr wrap="none" lIns="0" tIns="0" rIns="0" bIns="0" rtlCol="0" anchor="t"/>
          <a:lstStyle/>
          <a:p>
            <a:pPr marL="342900" indent="-342900" algn="l">
              <a:lnSpc>
                <a:spcPts val="2150"/>
              </a:lnSpc>
              <a:buSzPct val="100000"/>
              <a:buFont typeface="+mj-lt"/>
              <a:buAutoNum type="arabicPeriod"/>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Amount deviation ratio</a:t>
            </a:r>
            <a:endParaRPr lang="en-US" sz="1350" dirty="0"/>
          </a:p>
        </p:txBody>
      </p:sp>
      <p:sp>
        <p:nvSpPr>
          <p:cNvPr id="13" name="Text 10"/>
          <p:cNvSpPr/>
          <p:nvPr/>
        </p:nvSpPr>
        <p:spPr>
          <a:xfrm>
            <a:off x="5627251" y="4081343"/>
            <a:ext cx="2913221" cy="279202"/>
          </a:xfrm>
          <a:prstGeom prst="rect">
            <a:avLst/>
          </a:prstGeom>
          <a:noFill/>
        </p:spPr>
        <p:txBody>
          <a:bodyPr wrap="none" lIns="0" tIns="0" rIns="0" bIns="0" rtlCol="0" anchor="t"/>
          <a:lstStyle/>
          <a:p>
            <a:pPr marL="342900" indent="-342900" algn="l">
              <a:lnSpc>
                <a:spcPts val="2150"/>
              </a:lnSpc>
              <a:buSzPct val="100000"/>
              <a:buFont typeface="+mj-lt"/>
              <a:buAutoNum type="arabicPeriod" startAt="2"/>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Transaction hour anomaly</a:t>
            </a:r>
            <a:endParaRPr lang="en-US" sz="1350" dirty="0"/>
          </a:p>
        </p:txBody>
      </p:sp>
      <p:sp>
        <p:nvSpPr>
          <p:cNvPr id="14" name="Text 11"/>
          <p:cNvSpPr/>
          <p:nvPr/>
        </p:nvSpPr>
        <p:spPr>
          <a:xfrm>
            <a:off x="5627251" y="4421624"/>
            <a:ext cx="2913221" cy="558403"/>
          </a:xfrm>
          <a:prstGeom prst="rect">
            <a:avLst/>
          </a:prstGeom>
          <a:noFill/>
        </p:spPr>
        <p:txBody>
          <a:bodyPr wrap="square" lIns="0" tIns="0" rIns="0" bIns="0" rtlCol="0" anchor="t"/>
          <a:lstStyle/>
          <a:p>
            <a:pPr marL="342900" indent="-342900" algn="l">
              <a:lnSpc>
                <a:spcPts val="2150"/>
              </a:lnSpc>
              <a:buSzPct val="100000"/>
              <a:buFont typeface="+mj-lt"/>
              <a:buAutoNum type="arabicPeriod" startAt="3"/>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Customer 7-day frequency spike</a:t>
            </a:r>
            <a:endParaRPr lang="en-US" sz="1350" dirty="0"/>
          </a:p>
        </p:txBody>
      </p:sp>
      <p:sp>
        <p:nvSpPr>
          <p:cNvPr id="15" name="Text 12"/>
          <p:cNvSpPr/>
          <p:nvPr/>
        </p:nvSpPr>
        <p:spPr>
          <a:xfrm>
            <a:off x="5627251" y="5041106"/>
            <a:ext cx="2913221" cy="279202"/>
          </a:xfrm>
          <a:prstGeom prst="rect">
            <a:avLst/>
          </a:prstGeom>
          <a:noFill/>
        </p:spPr>
        <p:txBody>
          <a:bodyPr wrap="none" lIns="0" tIns="0" rIns="0" bIns="0" rtlCol="0" anchor="t"/>
          <a:lstStyle/>
          <a:p>
            <a:pPr marL="342900" indent="-342900" algn="l">
              <a:lnSpc>
                <a:spcPts val="2150"/>
              </a:lnSpc>
              <a:buSzPct val="100000"/>
              <a:buFont typeface="+mj-lt"/>
              <a:buAutoNum type="arabicPeriod" startAt="4"/>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Merchant category mismatch</a:t>
            </a:r>
            <a:endParaRPr lang="en-US" sz="1350" dirty="0"/>
          </a:p>
        </p:txBody>
      </p:sp>
      <p:sp>
        <p:nvSpPr>
          <p:cNvPr id="16" name="Shape 13"/>
          <p:cNvSpPr/>
          <p:nvPr/>
        </p:nvSpPr>
        <p:spPr>
          <a:xfrm>
            <a:off x="611029" y="6476405"/>
            <a:ext cx="7921943" cy="1020842"/>
          </a:xfrm>
          <a:prstGeom prst="roundRect">
            <a:avLst>
              <a:gd name="adj" fmla="val 7183"/>
            </a:avLst>
          </a:prstGeom>
          <a:solidFill>
            <a:srgbClr val="C7C9EA"/>
          </a:solidFill>
        </p:spPr>
      </p:sp>
      <p:pic>
        <p:nvPicPr>
          <p:cNvPr id="17" name="Image 1" descr="preencoded.png"/>
          <p:cNvPicPr>
            <a:picLocks noChangeAspect="1"/>
          </p:cNvPicPr>
          <p:nvPr/>
        </p:nvPicPr>
        <p:blipFill>
          <a:blip r:embed="rId2"/>
          <a:stretch>
            <a:fillRect/>
          </a:stretch>
        </p:blipFill>
        <p:spPr>
          <a:xfrm>
            <a:off x="785574" y="6739890"/>
            <a:ext cx="218123" cy="174546"/>
          </a:xfrm>
          <a:prstGeom prst="rect">
            <a:avLst/>
          </a:prstGeom>
        </p:spPr>
      </p:pic>
      <p:sp>
        <p:nvSpPr>
          <p:cNvPr id="18" name="Text 14"/>
          <p:cNvSpPr/>
          <p:nvPr/>
        </p:nvSpPr>
        <p:spPr>
          <a:xfrm>
            <a:off x="1178242" y="6694527"/>
            <a:ext cx="7180183" cy="558403"/>
          </a:xfrm>
          <a:prstGeom prst="rect">
            <a:avLst/>
          </a:prstGeom>
          <a:noFill/>
        </p:spPr>
        <p:txBody>
          <a:bodyPr wrap="square" lIns="0" tIns="0" rIns="0" bIns="0" rtlCol="0" anchor="t"/>
          <a:lstStyle/>
          <a:p>
            <a:pPr marL="0" indent="0" algn="l">
              <a:lnSpc>
                <a:spcPts val="2150"/>
              </a:lnSpc>
              <a:buNone/>
            </a:pPr>
            <a:r>
              <a:rPr lang="en-US" sz="1350" b="1" dirty="0">
                <a:solidFill>
                  <a:srgbClr val="000000"/>
                </a:solidFill>
                <a:latin typeface="Inter" panose="02000503000000020004" pitchFamily="34" charset="0"/>
                <a:ea typeface="Inter" panose="02000503000000020004" pitchFamily="34" charset="-122"/>
                <a:cs typeface="Inter" panose="02000503000000020004" pitchFamily="34" charset="-120"/>
              </a:rPr>
              <a:t>Business Impact:</a:t>
            </a:r>
            <a:r>
              <a:rPr lang="en-US" sz="1350" dirty="0">
                <a:solidFill>
                  <a:srgbClr val="000000"/>
                </a:solidFill>
                <a:latin typeface="Inter" panose="02000503000000020004" pitchFamily="34" charset="0"/>
                <a:ea typeface="Inter" panose="02000503000000020004" pitchFamily="34" charset="-122"/>
                <a:cs typeface="Inter" panose="02000503000000020004" pitchFamily="34" charset="-120"/>
              </a:rPr>
              <a:t> Reduced false positives by 67% compared to legacy rule-based systems, saving $2.4M annually in customer friction costs.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9378" y="593527"/>
            <a:ext cx="11951137" cy="660202"/>
          </a:xfrm>
          <a:prstGeom prst="rect">
            <a:avLst/>
          </a:prstGeom>
          <a:noFill/>
        </p:spPr>
        <p:txBody>
          <a:bodyPr wrap="none" lIns="0" tIns="0" rIns="0" bIns="0" rtlCol="0" anchor="t"/>
          <a:lstStyle/>
          <a:p>
            <a:pPr marL="0" indent="0" algn="l">
              <a:lnSpc>
                <a:spcPts val="5150"/>
              </a:lnSpc>
              <a:buNone/>
            </a:pPr>
            <a:r>
              <a:rPr lang="en-US" sz="4150" b="1" dirty="0">
                <a:solidFill>
                  <a:srgbClr val="000000"/>
                </a:solidFill>
                <a:latin typeface="Inter Bold" pitchFamily="34" charset="0"/>
                <a:ea typeface="Inter Bold" pitchFamily="34" charset="-122"/>
                <a:cs typeface="Inter Bold" pitchFamily="34" charset="-120"/>
              </a:rPr>
              <a:t>Risk-Return Analysis &amp; Diversification Insights</a:t>
            </a:r>
            <a:endParaRPr lang="en-US" sz="4150" dirty="0"/>
          </a:p>
        </p:txBody>
      </p:sp>
      <p:sp>
        <p:nvSpPr>
          <p:cNvPr id="3" name="Text 1"/>
          <p:cNvSpPr/>
          <p:nvPr/>
        </p:nvSpPr>
        <p:spPr>
          <a:xfrm>
            <a:off x="739378" y="1676162"/>
            <a:ext cx="13151644" cy="675799"/>
          </a:xfrm>
          <a:prstGeom prst="rect">
            <a:avLst/>
          </a:prstGeom>
          <a:noFill/>
        </p:spPr>
        <p:txBody>
          <a:bodyPr wrap="square" lIns="0" tIns="0" rIns="0" bIns="0" rtlCol="0" anchor="t"/>
          <a:lstStyle/>
          <a:p>
            <a:pPr marL="0" indent="0" algn="l">
              <a:lnSpc>
                <a:spcPts val="2650"/>
              </a:lnSpc>
              <a:buNone/>
            </a:pP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Comprehensive portfolio analytics revealed optimal asset allocation strategies through rigorous risk-adjusted return metrics and correlation analysis across multiple securities.</a:t>
            </a:r>
            <a:endParaRPr lang="en-US" sz="1650" dirty="0"/>
          </a:p>
        </p:txBody>
      </p:sp>
      <p:sp>
        <p:nvSpPr>
          <p:cNvPr id="4" name="Shape 2"/>
          <p:cNvSpPr/>
          <p:nvPr/>
        </p:nvSpPr>
        <p:spPr>
          <a:xfrm>
            <a:off x="739378" y="2589609"/>
            <a:ext cx="4243030" cy="2245995"/>
          </a:xfrm>
          <a:prstGeom prst="roundRect">
            <a:avLst>
              <a:gd name="adj" fmla="val 3950"/>
            </a:avLst>
          </a:prstGeom>
          <a:solidFill>
            <a:srgbClr val="DADBF1"/>
          </a:solidFill>
          <a:ln w="7620">
            <a:solidFill>
              <a:srgbClr val="C0C1D7"/>
            </a:solidFill>
            <a:prstDash val="solid"/>
          </a:ln>
        </p:spPr>
      </p:sp>
      <p:sp>
        <p:nvSpPr>
          <p:cNvPr id="5" name="Text 3"/>
          <p:cNvSpPr/>
          <p:nvPr/>
        </p:nvSpPr>
        <p:spPr>
          <a:xfrm>
            <a:off x="958215" y="2808446"/>
            <a:ext cx="2745224" cy="330041"/>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Inter Bold" pitchFamily="34" charset="0"/>
                <a:ea typeface="Inter Bold" pitchFamily="34" charset="-122"/>
                <a:cs typeface="Inter Bold" pitchFamily="34" charset="-120"/>
              </a:rPr>
              <a:t>Sharpe Ratio Leaders</a:t>
            </a:r>
            <a:endParaRPr lang="en-US" sz="2050" dirty="0"/>
          </a:p>
        </p:txBody>
      </p:sp>
      <p:sp>
        <p:nvSpPr>
          <p:cNvPr id="6" name="Text 4"/>
          <p:cNvSpPr/>
          <p:nvPr/>
        </p:nvSpPr>
        <p:spPr>
          <a:xfrm>
            <a:off x="958215" y="3265170"/>
            <a:ext cx="3805357" cy="1013698"/>
          </a:xfrm>
          <a:prstGeom prst="rect">
            <a:avLst/>
          </a:prstGeom>
          <a:noFill/>
        </p:spPr>
        <p:txBody>
          <a:bodyPr wrap="square" lIns="0" tIns="0" rIns="0" bIns="0" rtlCol="0" anchor="t"/>
          <a:lstStyle/>
          <a:p>
            <a:pPr marL="0" indent="0" algn="l">
              <a:lnSpc>
                <a:spcPts val="2650"/>
              </a:lnSpc>
              <a:buNone/>
            </a:pP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Top performer: </a:t>
            </a:r>
            <a:r>
              <a:rPr lang="en-US" sz="1650" b="1" dirty="0">
                <a:solidFill>
                  <a:srgbClr val="272525"/>
                </a:solidFill>
                <a:latin typeface="Inter" panose="02000503000000020004" pitchFamily="34" charset="0"/>
                <a:ea typeface="Inter" panose="02000503000000020004" pitchFamily="34" charset="-122"/>
                <a:cs typeface="Inter" panose="02000503000000020004" pitchFamily="34" charset="-120"/>
              </a:rPr>
              <a:t>NVDA</a:t>
            </a: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 with risk-adjusted return ratio of </a:t>
            </a:r>
            <a:r>
              <a:rPr lang="en-US" sz="1650" b="1" dirty="0">
                <a:solidFill>
                  <a:srgbClr val="272525"/>
                </a:solidFill>
                <a:latin typeface="Inter" panose="02000503000000020004" pitchFamily="34" charset="0"/>
                <a:ea typeface="Inter" panose="02000503000000020004" pitchFamily="34" charset="-122"/>
                <a:cs typeface="Inter" panose="02000503000000020004" pitchFamily="34" charset="-120"/>
              </a:rPr>
              <a:t>2.34</a:t>
            </a: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 followed by MSFT (2.12) and GOOGL (1.98)</a:t>
            </a:r>
            <a:endParaRPr lang="en-US" sz="1650" dirty="0"/>
          </a:p>
        </p:txBody>
      </p:sp>
      <p:sp>
        <p:nvSpPr>
          <p:cNvPr id="7" name="Shape 5"/>
          <p:cNvSpPr/>
          <p:nvPr/>
        </p:nvSpPr>
        <p:spPr>
          <a:xfrm>
            <a:off x="5193625" y="2589609"/>
            <a:ext cx="4243030" cy="2245995"/>
          </a:xfrm>
          <a:prstGeom prst="roundRect">
            <a:avLst>
              <a:gd name="adj" fmla="val 3950"/>
            </a:avLst>
          </a:prstGeom>
          <a:solidFill>
            <a:srgbClr val="DADBF1"/>
          </a:solidFill>
          <a:ln w="7620">
            <a:solidFill>
              <a:srgbClr val="C0C1D7"/>
            </a:solidFill>
            <a:prstDash val="solid"/>
          </a:ln>
        </p:spPr>
      </p:sp>
      <p:sp>
        <p:nvSpPr>
          <p:cNvPr id="8" name="Text 6"/>
          <p:cNvSpPr/>
          <p:nvPr/>
        </p:nvSpPr>
        <p:spPr>
          <a:xfrm>
            <a:off x="5412462" y="2808446"/>
            <a:ext cx="2640568" cy="330041"/>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Inter Bold" pitchFamily="34" charset="0"/>
                <a:ea typeface="Inter Bold" pitchFamily="34" charset="-122"/>
                <a:cs typeface="Inter Bold" pitchFamily="34" charset="-120"/>
              </a:rPr>
              <a:t>Correlation Analysis</a:t>
            </a:r>
            <a:endParaRPr lang="en-US" sz="2050" dirty="0"/>
          </a:p>
        </p:txBody>
      </p:sp>
      <p:sp>
        <p:nvSpPr>
          <p:cNvPr id="9" name="Text 7"/>
          <p:cNvSpPr/>
          <p:nvPr/>
        </p:nvSpPr>
        <p:spPr>
          <a:xfrm>
            <a:off x="5412462" y="3265170"/>
            <a:ext cx="3805357" cy="1351598"/>
          </a:xfrm>
          <a:prstGeom prst="rect">
            <a:avLst/>
          </a:prstGeom>
          <a:noFill/>
        </p:spPr>
        <p:txBody>
          <a:bodyPr wrap="square" lIns="0" tIns="0" rIns="0" bIns="0" rtlCol="0" anchor="t"/>
          <a:lstStyle/>
          <a:p>
            <a:pPr marL="0" indent="0" algn="l">
              <a:lnSpc>
                <a:spcPts val="2650"/>
              </a:lnSpc>
              <a:buNone/>
            </a:pP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Average pairwise correlation: </a:t>
            </a:r>
            <a:r>
              <a:rPr lang="en-US" sz="1650" b="1" dirty="0">
                <a:solidFill>
                  <a:srgbClr val="272525"/>
                </a:solidFill>
                <a:latin typeface="Inter" panose="02000503000000020004" pitchFamily="34" charset="0"/>
                <a:ea typeface="Inter" panose="02000503000000020004" pitchFamily="34" charset="-122"/>
                <a:cs typeface="Inter" panose="02000503000000020004" pitchFamily="34" charset="-120"/>
              </a:rPr>
              <a:t>0.42</a:t>
            </a: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 indicating strong diversification potential across technology and financial sectors</a:t>
            </a:r>
            <a:endParaRPr lang="en-US" sz="1650" dirty="0"/>
          </a:p>
        </p:txBody>
      </p:sp>
      <p:sp>
        <p:nvSpPr>
          <p:cNvPr id="10" name="Shape 8"/>
          <p:cNvSpPr/>
          <p:nvPr/>
        </p:nvSpPr>
        <p:spPr>
          <a:xfrm>
            <a:off x="9647873" y="2589609"/>
            <a:ext cx="4243030" cy="2245995"/>
          </a:xfrm>
          <a:prstGeom prst="roundRect">
            <a:avLst>
              <a:gd name="adj" fmla="val 3950"/>
            </a:avLst>
          </a:prstGeom>
          <a:solidFill>
            <a:srgbClr val="DADBF1"/>
          </a:solidFill>
          <a:ln w="7620">
            <a:solidFill>
              <a:srgbClr val="C0C1D7"/>
            </a:solidFill>
            <a:prstDash val="solid"/>
          </a:ln>
        </p:spPr>
      </p:sp>
      <p:sp>
        <p:nvSpPr>
          <p:cNvPr id="11" name="Text 9"/>
          <p:cNvSpPr/>
          <p:nvPr/>
        </p:nvSpPr>
        <p:spPr>
          <a:xfrm>
            <a:off x="9866709" y="2808446"/>
            <a:ext cx="2640568" cy="330041"/>
          </a:xfrm>
          <a:prstGeom prst="rect">
            <a:avLst/>
          </a:prstGeom>
          <a:noFill/>
        </p:spPr>
        <p:txBody>
          <a:bodyPr wrap="none" lIns="0" tIns="0" rIns="0" bIns="0" rtlCol="0" anchor="t"/>
          <a:lstStyle/>
          <a:p>
            <a:pPr marL="0" indent="0" algn="l">
              <a:lnSpc>
                <a:spcPts val="2550"/>
              </a:lnSpc>
              <a:buNone/>
            </a:pPr>
            <a:r>
              <a:rPr lang="en-US" sz="2050" b="1" dirty="0">
                <a:solidFill>
                  <a:srgbClr val="272525"/>
                </a:solidFill>
                <a:latin typeface="Inter Bold" pitchFamily="34" charset="0"/>
                <a:ea typeface="Inter Bold" pitchFamily="34" charset="-122"/>
                <a:cs typeface="Inter Bold" pitchFamily="34" charset="-120"/>
              </a:rPr>
              <a:t>Portfolio Metrics</a:t>
            </a:r>
            <a:endParaRPr lang="en-US" sz="2050" dirty="0"/>
          </a:p>
        </p:txBody>
      </p:sp>
      <p:sp>
        <p:nvSpPr>
          <p:cNvPr id="12" name="Text 10"/>
          <p:cNvSpPr/>
          <p:nvPr/>
        </p:nvSpPr>
        <p:spPr>
          <a:xfrm>
            <a:off x="9866709" y="3265170"/>
            <a:ext cx="3805357" cy="675799"/>
          </a:xfrm>
          <a:prstGeom prst="rect">
            <a:avLst/>
          </a:prstGeom>
          <a:noFill/>
        </p:spPr>
        <p:txBody>
          <a:bodyPr wrap="square" lIns="0" tIns="0" rIns="0" bIns="0" rtlCol="0" anchor="t"/>
          <a:lstStyle/>
          <a:p>
            <a:pPr marL="0" indent="0" algn="l">
              <a:lnSpc>
                <a:spcPts val="2650"/>
              </a:lnSpc>
              <a:buNone/>
            </a:pP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Annualized return: </a:t>
            </a:r>
            <a:r>
              <a:rPr lang="en-US" sz="1650" b="1" dirty="0">
                <a:solidFill>
                  <a:srgbClr val="272525"/>
                </a:solidFill>
                <a:latin typeface="Inter" panose="02000503000000020004" pitchFamily="34" charset="0"/>
                <a:ea typeface="Inter" panose="02000503000000020004" pitchFamily="34" charset="-122"/>
                <a:cs typeface="Inter" panose="02000503000000020004" pitchFamily="34" charset="-120"/>
              </a:rPr>
              <a:t>18.7%</a:t>
            </a: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 | Volatility: </a:t>
            </a:r>
            <a:r>
              <a:rPr lang="en-US" sz="1650" b="1" dirty="0">
                <a:solidFill>
                  <a:srgbClr val="272525"/>
                </a:solidFill>
                <a:latin typeface="Inter" panose="02000503000000020004" pitchFamily="34" charset="0"/>
                <a:ea typeface="Inter" panose="02000503000000020004" pitchFamily="34" charset="-122"/>
                <a:cs typeface="Inter" panose="02000503000000020004" pitchFamily="34" charset="-120"/>
              </a:rPr>
              <a:t>14.2%</a:t>
            </a: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 | Sharpe: </a:t>
            </a:r>
            <a:r>
              <a:rPr lang="en-US" sz="1650" b="1" dirty="0">
                <a:solidFill>
                  <a:srgbClr val="272525"/>
                </a:solidFill>
                <a:latin typeface="Inter" panose="02000503000000020004" pitchFamily="34" charset="0"/>
                <a:ea typeface="Inter" panose="02000503000000020004" pitchFamily="34" charset="-122"/>
                <a:cs typeface="Inter" panose="02000503000000020004" pitchFamily="34" charset="-120"/>
              </a:rPr>
              <a:t>1.89</a:t>
            </a:r>
            <a:endParaRPr lang="en-US" sz="1650" dirty="0"/>
          </a:p>
        </p:txBody>
      </p:sp>
      <p:sp>
        <p:nvSpPr>
          <p:cNvPr id="13" name="Shape 11"/>
          <p:cNvSpPr/>
          <p:nvPr/>
        </p:nvSpPr>
        <p:spPr>
          <a:xfrm>
            <a:off x="739378" y="5178811"/>
            <a:ext cx="13151644" cy="33933"/>
          </a:xfrm>
          <a:prstGeom prst="rect">
            <a:avLst/>
          </a:prstGeom>
          <a:solidFill>
            <a:srgbClr val="272525">
              <a:alpha val="50000"/>
            </a:srgbClr>
          </a:solidFill>
        </p:spPr>
      </p:sp>
      <p:sp>
        <p:nvSpPr>
          <p:cNvPr id="14" name="Text 12"/>
          <p:cNvSpPr/>
          <p:nvPr/>
        </p:nvSpPr>
        <p:spPr>
          <a:xfrm>
            <a:off x="739378" y="5529501"/>
            <a:ext cx="4373761" cy="396002"/>
          </a:xfrm>
          <a:prstGeom prst="rect">
            <a:avLst/>
          </a:prstGeom>
          <a:noFill/>
        </p:spPr>
        <p:txBody>
          <a:bodyPr wrap="none" lIns="0" tIns="0" rIns="0" bIns="0" rtlCol="0" anchor="t"/>
          <a:lstStyle/>
          <a:p>
            <a:pPr marL="0" indent="0" algn="l">
              <a:lnSpc>
                <a:spcPts val="3100"/>
              </a:lnSpc>
              <a:buNone/>
            </a:pPr>
            <a:r>
              <a:rPr lang="en-US" sz="2450" b="1" dirty="0">
                <a:solidFill>
                  <a:srgbClr val="000000"/>
                </a:solidFill>
                <a:latin typeface="Inter Bold" pitchFamily="34" charset="0"/>
                <a:ea typeface="Inter Bold" pitchFamily="34" charset="-122"/>
                <a:cs typeface="Inter Bold" pitchFamily="34" charset="-120"/>
              </a:rPr>
              <a:t>Strategic Recommendations</a:t>
            </a:r>
            <a:endParaRPr lang="en-US" sz="2450" dirty="0"/>
          </a:p>
        </p:txBody>
      </p:sp>
      <p:sp>
        <p:nvSpPr>
          <p:cNvPr id="15" name="Text 13"/>
          <p:cNvSpPr/>
          <p:nvPr/>
        </p:nvSpPr>
        <p:spPr>
          <a:xfrm>
            <a:off x="739378" y="6432352"/>
            <a:ext cx="6318171" cy="1013698"/>
          </a:xfrm>
          <a:prstGeom prst="rect">
            <a:avLst/>
          </a:prstGeom>
          <a:noFill/>
        </p:spPr>
        <p:txBody>
          <a:bodyPr wrap="square" lIns="0" tIns="0" rIns="0" bIns="0" rtlCol="0" anchor="t"/>
          <a:lstStyle/>
          <a:p>
            <a:pPr marL="0" indent="0" algn="l">
              <a:lnSpc>
                <a:spcPts val="2650"/>
              </a:lnSpc>
              <a:buNone/>
            </a:pPr>
            <a:r>
              <a:rPr lang="en-US" sz="1650" b="1" dirty="0">
                <a:solidFill>
                  <a:srgbClr val="272525"/>
                </a:solidFill>
                <a:latin typeface="Inter" panose="02000503000000020004" pitchFamily="34" charset="0"/>
                <a:ea typeface="Inter" panose="02000503000000020004" pitchFamily="34" charset="-122"/>
                <a:cs typeface="Inter" panose="02000503000000020004" pitchFamily="34" charset="-120"/>
              </a:rPr>
              <a:t>Diversification Benefit:</a:t>
            </a: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 Equal-weighted portfolio reduced volatility by 28% compared to individual stock holdings, demonstrating effective risk management.</a:t>
            </a:r>
            <a:endParaRPr lang="en-US" sz="1650" dirty="0"/>
          </a:p>
        </p:txBody>
      </p:sp>
      <p:sp>
        <p:nvSpPr>
          <p:cNvPr id="16" name="Text 14"/>
          <p:cNvSpPr/>
          <p:nvPr/>
        </p:nvSpPr>
        <p:spPr>
          <a:xfrm>
            <a:off x="7580471" y="6432352"/>
            <a:ext cx="6318171" cy="1013698"/>
          </a:xfrm>
          <a:prstGeom prst="rect">
            <a:avLst/>
          </a:prstGeom>
          <a:noFill/>
        </p:spPr>
        <p:txBody>
          <a:bodyPr wrap="square" lIns="0" tIns="0" rIns="0" bIns="0" rtlCol="0" anchor="t"/>
          <a:lstStyle/>
          <a:p>
            <a:pPr marL="0" indent="0" algn="l">
              <a:lnSpc>
                <a:spcPts val="2650"/>
              </a:lnSpc>
              <a:buNone/>
            </a:pPr>
            <a:r>
              <a:rPr lang="en-US" sz="1650" b="1" dirty="0">
                <a:solidFill>
                  <a:srgbClr val="272525"/>
                </a:solidFill>
                <a:latin typeface="Inter" panose="02000503000000020004" pitchFamily="34" charset="0"/>
                <a:ea typeface="Inter" panose="02000503000000020004" pitchFamily="34" charset="-122"/>
                <a:cs typeface="Inter" panose="02000503000000020004" pitchFamily="34" charset="-120"/>
              </a:rPr>
              <a:t>Investment Strategy:</a:t>
            </a:r>
            <a:r>
              <a:rPr lang="en-US" sz="1650" dirty="0">
                <a:solidFill>
                  <a:srgbClr val="272525"/>
                </a:solidFill>
                <a:latin typeface="Inter" panose="02000503000000020004" pitchFamily="34" charset="0"/>
                <a:ea typeface="Inter" panose="02000503000000020004" pitchFamily="34" charset="-122"/>
                <a:cs typeface="Inter" panose="02000503000000020004" pitchFamily="34" charset="-120"/>
              </a:rPr>
              <a:t> Overweight high Sharpe ratio stocks (&gt;2.0) while reducing exposure to highly correlated pairs (correlation &gt;0.8) to maximize risk-adjusted returns.</a:t>
            </a:r>
            <a:endParaRPr lang="en-US" sz="1650" dirty="0"/>
          </a:p>
        </p:txBody>
      </p:sp>
      <p:pic>
        <p:nvPicPr>
          <p:cNvPr id="26" name="Picture 25" descr="Screenshot 2025-11-10 at 2.34.10 AM"/>
          <p:cNvPicPr>
            <a:picLocks noChangeAspect="1"/>
          </p:cNvPicPr>
          <p:nvPr/>
        </p:nvPicPr>
        <p:blipFill>
          <a:blip r:embed="rId1"/>
          <a:stretch>
            <a:fillRect/>
          </a:stretch>
        </p:blipFill>
        <p:spPr>
          <a:xfrm>
            <a:off x="12382500" y="7797800"/>
            <a:ext cx="2247900" cy="3746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5216" y="609005"/>
            <a:ext cx="8677989" cy="692110"/>
          </a:xfrm>
          <a:prstGeom prst="rect">
            <a:avLst/>
          </a:prstGeom>
          <a:noFill/>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Interactive Analytics Dashboard</a:t>
            </a:r>
            <a:endParaRPr lang="en-US" sz="4350" dirty="0"/>
          </a:p>
        </p:txBody>
      </p:sp>
      <p:sp>
        <p:nvSpPr>
          <p:cNvPr id="3" name="Text 1"/>
          <p:cNvSpPr/>
          <p:nvPr/>
        </p:nvSpPr>
        <p:spPr>
          <a:xfrm>
            <a:off x="775216" y="1744028"/>
            <a:ext cx="13079968" cy="708660"/>
          </a:xfrm>
          <a:prstGeom prst="rect">
            <a:avLst/>
          </a:prstGeom>
          <a:noFill/>
        </p:spPr>
        <p:txBody>
          <a:bodyPr wrap="square" lIns="0" tIns="0" rIns="0" bIns="0" rtlCol="0" anchor="t"/>
          <a:lstStyle/>
          <a:p>
            <a:pPr marL="0" indent="0" algn="l">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A comprehensive visualization suite provides actionable insights across technical analysis, model performance evaluation, portfolio optimization, and data quality metrics—all embedded directly within Databricks notebooks.</a:t>
            </a:r>
            <a:endParaRPr lang="en-US" sz="1700" dirty="0"/>
          </a:p>
        </p:txBody>
      </p:sp>
      <p:pic>
        <p:nvPicPr>
          <p:cNvPr id="4" name="Image 0" descr="preencoded.png"/>
          <p:cNvPicPr>
            <a:picLocks noChangeAspect="1"/>
          </p:cNvPicPr>
          <p:nvPr/>
        </p:nvPicPr>
        <p:blipFill>
          <a:blip r:embed="rId1"/>
          <a:stretch>
            <a:fillRect/>
          </a:stretch>
        </p:blipFill>
        <p:spPr>
          <a:xfrm>
            <a:off x="775216" y="2701766"/>
            <a:ext cx="3062287" cy="1892618"/>
          </a:xfrm>
          <a:prstGeom prst="rect">
            <a:avLst/>
          </a:prstGeom>
        </p:spPr>
      </p:pic>
      <p:sp>
        <p:nvSpPr>
          <p:cNvPr id="5" name="Text 2"/>
          <p:cNvSpPr/>
          <p:nvPr/>
        </p:nvSpPr>
        <p:spPr>
          <a:xfrm>
            <a:off x="775216" y="4815840"/>
            <a:ext cx="2768679" cy="345996"/>
          </a:xfrm>
          <a:prstGeom prst="rect">
            <a:avLst/>
          </a:prstGeom>
          <a:noFill/>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Technical Analysis</a:t>
            </a:r>
            <a:endParaRPr lang="en-US" sz="2150" dirty="0"/>
          </a:p>
        </p:txBody>
      </p:sp>
      <p:sp>
        <p:nvSpPr>
          <p:cNvPr id="6" name="Text 3"/>
          <p:cNvSpPr/>
          <p:nvPr/>
        </p:nvSpPr>
        <p:spPr>
          <a:xfrm>
            <a:off x="775216" y="5294709"/>
            <a:ext cx="3062287" cy="1417320"/>
          </a:xfrm>
          <a:prstGeom prst="rect">
            <a:avLst/>
          </a:prstGeom>
          <a:noFill/>
        </p:spPr>
        <p:txBody>
          <a:bodyPr wrap="square" lIns="0" tIns="0" rIns="0" bIns="0" rtlCol="0" anchor="t"/>
          <a:lstStyle/>
          <a:p>
            <a:pPr marL="0" indent="0" algn="l">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Moving averages (50/200-day), RSI oscillator, Bollinger Bands overlaid on candlestick price charts</a:t>
            </a:r>
            <a:endParaRPr lang="en-US" sz="1700" dirty="0"/>
          </a:p>
        </p:txBody>
      </p:sp>
      <p:pic>
        <p:nvPicPr>
          <p:cNvPr id="7" name="Image 1" descr="preencoded.png"/>
          <p:cNvPicPr>
            <a:picLocks noChangeAspect="1"/>
          </p:cNvPicPr>
          <p:nvPr/>
        </p:nvPicPr>
        <p:blipFill>
          <a:blip r:embed="rId2"/>
          <a:stretch>
            <a:fillRect/>
          </a:stretch>
        </p:blipFill>
        <p:spPr>
          <a:xfrm>
            <a:off x="4114324" y="2701766"/>
            <a:ext cx="3062407" cy="1892618"/>
          </a:xfrm>
          <a:prstGeom prst="rect">
            <a:avLst/>
          </a:prstGeom>
        </p:spPr>
      </p:pic>
      <p:sp>
        <p:nvSpPr>
          <p:cNvPr id="8" name="Text 4"/>
          <p:cNvSpPr/>
          <p:nvPr/>
        </p:nvSpPr>
        <p:spPr>
          <a:xfrm>
            <a:off x="4114324" y="4815840"/>
            <a:ext cx="2768679" cy="345996"/>
          </a:xfrm>
          <a:prstGeom prst="rect">
            <a:avLst/>
          </a:prstGeom>
          <a:noFill/>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Model Performance</a:t>
            </a:r>
            <a:endParaRPr lang="en-US" sz="2150" dirty="0"/>
          </a:p>
        </p:txBody>
      </p:sp>
      <p:sp>
        <p:nvSpPr>
          <p:cNvPr id="9" name="Text 5"/>
          <p:cNvSpPr/>
          <p:nvPr/>
        </p:nvSpPr>
        <p:spPr>
          <a:xfrm>
            <a:off x="4114324" y="5294709"/>
            <a:ext cx="3062407" cy="1417320"/>
          </a:xfrm>
          <a:prstGeom prst="rect">
            <a:avLst/>
          </a:prstGeom>
          <a:noFill/>
        </p:spPr>
        <p:txBody>
          <a:bodyPr wrap="square" lIns="0" tIns="0" rIns="0" bIns="0" rtlCol="0" anchor="t"/>
          <a:lstStyle/>
          <a:p>
            <a:pPr marL="0" indent="0" algn="l">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Forecast error distributions, ROC curves, confusion matrices with precision-recall analysis</a:t>
            </a:r>
            <a:endParaRPr lang="en-US" sz="1700" dirty="0"/>
          </a:p>
        </p:txBody>
      </p:sp>
      <p:pic>
        <p:nvPicPr>
          <p:cNvPr id="10" name="Image 2" descr="preencoded.png"/>
          <p:cNvPicPr>
            <a:picLocks noChangeAspect="1"/>
          </p:cNvPicPr>
          <p:nvPr/>
        </p:nvPicPr>
        <p:blipFill>
          <a:blip r:embed="rId3"/>
          <a:stretch>
            <a:fillRect/>
          </a:stretch>
        </p:blipFill>
        <p:spPr>
          <a:xfrm>
            <a:off x="7453551" y="2701766"/>
            <a:ext cx="3062407" cy="1892618"/>
          </a:xfrm>
          <a:prstGeom prst="rect">
            <a:avLst/>
          </a:prstGeom>
        </p:spPr>
      </p:pic>
      <p:sp>
        <p:nvSpPr>
          <p:cNvPr id="11" name="Text 6"/>
          <p:cNvSpPr/>
          <p:nvPr/>
        </p:nvSpPr>
        <p:spPr>
          <a:xfrm>
            <a:off x="7453551" y="4815840"/>
            <a:ext cx="2768679" cy="345996"/>
          </a:xfrm>
          <a:prstGeom prst="rect">
            <a:avLst/>
          </a:prstGeom>
          <a:noFill/>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Portfolio Metrics</a:t>
            </a:r>
            <a:endParaRPr lang="en-US" sz="2150" dirty="0"/>
          </a:p>
        </p:txBody>
      </p:sp>
      <p:sp>
        <p:nvSpPr>
          <p:cNvPr id="12" name="Text 7"/>
          <p:cNvSpPr/>
          <p:nvPr/>
        </p:nvSpPr>
        <p:spPr>
          <a:xfrm>
            <a:off x="7453551" y="5294709"/>
            <a:ext cx="3062407" cy="1062990"/>
          </a:xfrm>
          <a:prstGeom prst="rect">
            <a:avLst/>
          </a:prstGeom>
          <a:noFill/>
        </p:spPr>
        <p:txBody>
          <a:bodyPr wrap="square" lIns="0" tIns="0" rIns="0" bIns="0" rtlCol="0" anchor="t"/>
          <a:lstStyle/>
          <a:p>
            <a:pPr marL="0" indent="0" algn="l">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Correlation heatmaps, Sharpe ratio rankings, return distribution histograms</a:t>
            </a:r>
            <a:endParaRPr lang="en-US" sz="1700" dirty="0"/>
          </a:p>
        </p:txBody>
      </p:sp>
      <p:pic>
        <p:nvPicPr>
          <p:cNvPr id="13" name="Image 3" descr="preencoded.png"/>
          <p:cNvPicPr>
            <a:picLocks noChangeAspect="1"/>
          </p:cNvPicPr>
          <p:nvPr/>
        </p:nvPicPr>
        <p:blipFill>
          <a:blip r:embed="rId4"/>
          <a:stretch>
            <a:fillRect/>
          </a:stretch>
        </p:blipFill>
        <p:spPr>
          <a:xfrm>
            <a:off x="10792778" y="2701766"/>
            <a:ext cx="3062407" cy="1892618"/>
          </a:xfrm>
          <a:prstGeom prst="rect">
            <a:avLst/>
          </a:prstGeom>
        </p:spPr>
      </p:pic>
      <p:sp>
        <p:nvSpPr>
          <p:cNvPr id="14" name="Text 8"/>
          <p:cNvSpPr/>
          <p:nvPr/>
        </p:nvSpPr>
        <p:spPr>
          <a:xfrm>
            <a:off x="10792778" y="4815840"/>
            <a:ext cx="2768679" cy="345996"/>
          </a:xfrm>
          <a:prstGeom prst="rect">
            <a:avLst/>
          </a:prstGeom>
          <a:noFill/>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Data Quality</a:t>
            </a:r>
            <a:endParaRPr lang="en-US" sz="2150" dirty="0"/>
          </a:p>
        </p:txBody>
      </p:sp>
      <p:sp>
        <p:nvSpPr>
          <p:cNvPr id="15" name="Text 9"/>
          <p:cNvSpPr/>
          <p:nvPr/>
        </p:nvSpPr>
        <p:spPr>
          <a:xfrm>
            <a:off x="10792778" y="5294709"/>
            <a:ext cx="3062407" cy="1417320"/>
          </a:xfrm>
          <a:prstGeom prst="rect">
            <a:avLst/>
          </a:prstGeom>
          <a:noFill/>
        </p:spPr>
        <p:txBody>
          <a:bodyPr wrap="square" lIns="0" tIns="0" rIns="0" bIns="0" rtlCol="0" anchor="t"/>
          <a:lstStyle/>
          <a:p>
            <a:pPr marL="0" indent="0" algn="l">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Record count tracking, data coverage by ticker, completeness percentages across all sources</a:t>
            </a:r>
            <a:endParaRPr lang="en-US" sz="1700" dirty="0"/>
          </a:p>
        </p:txBody>
      </p:sp>
      <p:sp>
        <p:nvSpPr>
          <p:cNvPr id="16" name="Text 10"/>
          <p:cNvSpPr/>
          <p:nvPr/>
        </p:nvSpPr>
        <p:spPr>
          <a:xfrm>
            <a:off x="775216" y="6961108"/>
            <a:ext cx="13079968" cy="708660"/>
          </a:xfrm>
          <a:prstGeom prst="rect">
            <a:avLst/>
          </a:prstGeom>
          <a:noFill/>
        </p:spPr>
        <p:txBody>
          <a:bodyPr wrap="square" lIns="0" tIns="0" rIns="0" bIns="0" rtlCol="0" anchor="t"/>
          <a:lstStyle/>
          <a:p>
            <a:pPr marL="0" indent="0" algn="l">
              <a:lnSpc>
                <a:spcPts val="2750"/>
              </a:lnSpc>
              <a:buNone/>
            </a:pPr>
            <a:r>
              <a:rPr lang="en-US" sz="1700" dirty="0">
                <a:solidFill>
                  <a:srgbClr val="272525"/>
                </a:solidFill>
                <a:latin typeface="Inter" panose="02000503000000020004" pitchFamily="34" charset="0"/>
                <a:ea typeface="Inter" panose="02000503000000020004" pitchFamily="34" charset="-122"/>
                <a:cs typeface="Inter" panose="02000503000000020004" pitchFamily="34" charset="-120"/>
              </a:rPr>
              <a:t>Technology Stack: Matplotlib and Seaborn libraries integrated seamlessly within Databricks environment, eliminating external dependencies and enabling real-time collaborative analysis.</a:t>
            </a:r>
            <a:endParaRPr lang="en-US" sz="1700" dirty="0"/>
          </a:p>
        </p:txBody>
      </p:sp>
      <p:pic>
        <p:nvPicPr>
          <p:cNvPr id="26" name="Picture 25" descr="Screenshot 2025-11-10 at 2.34.10 AM"/>
          <p:cNvPicPr>
            <a:picLocks noChangeAspect="1"/>
          </p:cNvPicPr>
          <p:nvPr/>
        </p:nvPicPr>
        <p:blipFill>
          <a:blip r:embed="rId5"/>
          <a:stretch>
            <a:fillRect/>
          </a:stretch>
        </p:blipFill>
        <p:spPr>
          <a:xfrm>
            <a:off x="12382500" y="7783830"/>
            <a:ext cx="2247900" cy="3746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3760" y="435054"/>
            <a:ext cx="8907661" cy="494467"/>
          </a:xfrm>
          <a:prstGeom prst="rect">
            <a:avLst/>
          </a:prstGeom>
          <a:noFill/>
        </p:spPr>
        <p:txBody>
          <a:bodyPr wrap="none" lIns="0" tIns="0" rIns="0" bIns="0" rtlCol="0" anchor="t"/>
          <a:lstStyle/>
          <a:p>
            <a:pPr marL="0" indent="0" algn="l">
              <a:lnSpc>
                <a:spcPts val="3850"/>
              </a:lnSpc>
              <a:buNone/>
            </a:pPr>
            <a:r>
              <a:rPr lang="en-US" sz="3100" b="1" dirty="0">
                <a:solidFill>
                  <a:srgbClr val="000000"/>
                </a:solidFill>
                <a:latin typeface="Inter Bold" pitchFamily="34" charset="0"/>
                <a:ea typeface="Inter Bold" pitchFamily="34" charset="-122"/>
                <a:cs typeface="Inter Bold" pitchFamily="34" charset="-120"/>
              </a:rPr>
              <a:t>GenAI-Powered Business Insights Automation</a:t>
            </a:r>
            <a:endParaRPr lang="en-US" sz="3100" dirty="0"/>
          </a:p>
        </p:txBody>
      </p:sp>
      <p:sp>
        <p:nvSpPr>
          <p:cNvPr id="3" name="Text 1"/>
          <p:cNvSpPr/>
          <p:nvPr/>
        </p:nvSpPr>
        <p:spPr>
          <a:xfrm>
            <a:off x="553760" y="1245989"/>
            <a:ext cx="13522881" cy="506254"/>
          </a:xfrm>
          <a:prstGeom prst="rect">
            <a:avLst/>
          </a:prstGeom>
          <a:noFill/>
        </p:spPr>
        <p:txBody>
          <a:bodyPr wrap="square" lIns="0" tIns="0" rIns="0" bIns="0" rtlCol="0" anchor="t"/>
          <a:lstStyle/>
          <a:p>
            <a:pPr marL="0" indent="0" algn="l">
              <a:lnSpc>
                <a:spcPts val="1950"/>
              </a:lnSpc>
              <a:buNone/>
            </a:pPr>
            <a:r>
              <a:rPr lang="en-US" sz="1200" dirty="0">
                <a:solidFill>
                  <a:srgbClr val="272525"/>
                </a:solidFill>
                <a:latin typeface="Inter" panose="02000503000000020004" pitchFamily="34" charset="0"/>
                <a:ea typeface="Inter" panose="02000503000000020004" pitchFamily="34" charset="-122"/>
                <a:cs typeface="Inter" panose="02000503000000020004" pitchFamily="34" charset="-120"/>
              </a:rPr>
              <a:t>Large language models transform raw analytical outputs into executive-ready insights, automating interpretation and recommendation generation across portfolio management, fraud detection, and forecasting domains.</a:t>
            </a:r>
            <a:endParaRPr lang="en-US" sz="1200" dirty="0"/>
          </a:p>
        </p:txBody>
      </p:sp>
      <p:pic>
        <p:nvPicPr>
          <p:cNvPr id="4" name="Image 0" descr="preencoded.png"/>
          <p:cNvPicPr>
            <a:picLocks noChangeAspect="1"/>
          </p:cNvPicPr>
          <p:nvPr/>
        </p:nvPicPr>
        <p:blipFill>
          <a:blip r:embed="rId1"/>
          <a:stretch>
            <a:fillRect/>
          </a:stretch>
        </p:blipFill>
        <p:spPr>
          <a:xfrm>
            <a:off x="553760" y="1930241"/>
            <a:ext cx="6761440" cy="632936"/>
          </a:xfrm>
          <a:prstGeom prst="rect">
            <a:avLst/>
          </a:prstGeom>
        </p:spPr>
      </p:pic>
      <p:sp>
        <p:nvSpPr>
          <p:cNvPr id="5" name="Text 2"/>
          <p:cNvSpPr/>
          <p:nvPr/>
        </p:nvSpPr>
        <p:spPr>
          <a:xfrm>
            <a:off x="711994" y="2721412"/>
            <a:ext cx="1977985" cy="247174"/>
          </a:xfrm>
          <a:prstGeom prst="rect">
            <a:avLst/>
          </a:prstGeom>
          <a:noFill/>
        </p:spPr>
        <p:txBody>
          <a:bodyPr wrap="none" lIns="0" tIns="0" rIns="0" bIns="0" rtlCol="0" anchor="t"/>
          <a:lstStyle/>
          <a:p>
            <a:pPr marL="0" indent="0" algn="l">
              <a:lnSpc>
                <a:spcPts val="1900"/>
              </a:lnSpc>
              <a:buNone/>
            </a:pPr>
            <a:r>
              <a:rPr lang="en-US" sz="1550" b="1" dirty="0">
                <a:solidFill>
                  <a:srgbClr val="272525"/>
                </a:solidFill>
                <a:latin typeface="Inter Bold" pitchFamily="34" charset="0"/>
                <a:ea typeface="Inter Bold" pitchFamily="34" charset="-122"/>
                <a:cs typeface="Inter Bold" pitchFamily="34" charset="-120"/>
              </a:rPr>
              <a:t>Data Sources</a:t>
            </a:r>
            <a:endParaRPr lang="en-US" sz="1550" dirty="0"/>
          </a:p>
        </p:txBody>
      </p:sp>
      <p:sp>
        <p:nvSpPr>
          <p:cNvPr id="6" name="Text 3"/>
          <p:cNvSpPr/>
          <p:nvPr/>
        </p:nvSpPr>
        <p:spPr>
          <a:xfrm>
            <a:off x="711994" y="3063478"/>
            <a:ext cx="6444972" cy="253127"/>
          </a:xfrm>
          <a:prstGeom prst="rect">
            <a:avLst/>
          </a:prstGeom>
          <a:noFill/>
        </p:spPr>
        <p:txBody>
          <a:bodyPr wrap="none" lIns="0" tIns="0" rIns="0" bIns="0" rtlCol="0" anchor="t"/>
          <a:lstStyle/>
          <a:p>
            <a:pPr marL="0" indent="0" algn="l">
              <a:lnSpc>
                <a:spcPts val="1950"/>
              </a:lnSpc>
              <a:buNone/>
            </a:pPr>
            <a:r>
              <a:rPr lang="en-US" sz="1200" dirty="0">
                <a:solidFill>
                  <a:srgbClr val="272525"/>
                </a:solidFill>
                <a:latin typeface="Inter" panose="02000503000000020004" pitchFamily="34" charset="0"/>
                <a:ea typeface="Inter" panose="02000503000000020004" pitchFamily="34" charset="-122"/>
                <a:cs typeface="Inter" panose="02000503000000020004" pitchFamily="34" charset="-120"/>
              </a:rPr>
              <a:t>Portfolio metrics, fraud patterns, forecast outputs</a:t>
            </a:r>
            <a:endParaRPr lang="en-US" sz="1200" dirty="0"/>
          </a:p>
        </p:txBody>
      </p:sp>
      <p:pic>
        <p:nvPicPr>
          <p:cNvPr id="7" name="Image 1" descr="preencoded.png"/>
          <p:cNvPicPr>
            <a:picLocks noChangeAspect="1"/>
          </p:cNvPicPr>
          <p:nvPr/>
        </p:nvPicPr>
        <p:blipFill>
          <a:blip r:embed="rId2"/>
          <a:stretch>
            <a:fillRect/>
          </a:stretch>
        </p:blipFill>
        <p:spPr>
          <a:xfrm>
            <a:off x="7315200" y="1930241"/>
            <a:ext cx="6761440" cy="632936"/>
          </a:xfrm>
          <a:prstGeom prst="rect">
            <a:avLst/>
          </a:prstGeom>
        </p:spPr>
      </p:pic>
      <p:sp>
        <p:nvSpPr>
          <p:cNvPr id="8" name="Text 4"/>
          <p:cNvSpPr/>
          <p:nvPr/>
        </p:nvSpPr>
        <p:spPr>
          <a:xfrm>
            <a:off x="7473434" y="2721412"/>
            <a:ext cx="1977985" cy="247174"/>
          </a:xfrm>
          <a:prstGeom prst="rect">
            <a:avLst/>
          </a:prstGeom>
          <a:noFill/>
        </p:spPr>
        <p:txBody>
          <a:bodyPr wrap="none" lIns="0" tIns="0" rIns="0" bIns="0" rtlCol="0" anchor="t"/>
          <a:lstStyle/>
          <a:p>
            <a:pPr marL="0" indent="0" algn="l">
              <a:lnSpc>
                <a:spcPts val="1900"/>
              </a:lnSpc>
              <a:buNone/>
            </a:pPr>
            <a:r>
              <a:rPr lang="en-US" sz="1550" b="1" dirty="0">
                <a:solidFill>
                  <a:srgbClr val="272525"/>
                </a:solidFill>
                <a:latin typeface="Inter Bold" pitchFamily="34" charset="0"/>
                <a:ea typeface="Inter Bold" pitchFamily="34" charset="-122"/>
                <a:cs typeface="Inter Bold" pitchFamily="34" charset="-120"/>
              </a:rPr>
              <a:t>LLM Endpoint</a:t>
            </a:r>
            <a:endParaRPr lang="en-US" sz="1550" dirty="0"/>
          </a:p>
        </p:txBody>
      </p:sp>
      <p:sp>
        <p:nvSpPr>
          <p:cNvPr id="9" name="Text 5"/>
          <p:cNvSpPr/>
          <p:nvPr/>
        </p:nvSpPr>
        <p:spPr>
          <a:xfrm>
            <a:off x="7473434" y="3063478"/>
            <a:ext cx="6444972" cy="253127"/>
          </a:xfrm>
          <a:prstGeom prst="rect">
            <a:avLst/>
          </a:prstGeom>
          <a:noFill/>
        </p:spPr>
        <p:txBody>
          <a:bodyPr wrap="none" lIns="0" tIns="0" rIns="0" bIns="0" rtlCol="0" anchor="t"/>
          <a:lstStyle/>
          <a:p>
            <a:pPr marL="0" indent="0" algn="l">
              <a:lnSpc>
                <a:spcPts val="1950"/>
              </a:lnSpc>
              <a:buNone/>
            </a:pPr>
            <a:r>
              <a:rPr lang="en-US" sz="1200" dirty="0">
                <a:solidFill>
                  <a:srgbClr val="272525"/>
                </a:solidFill>
                <a:latin typeface="Inter" panose="02000503000000020004" pitchFamily="34" charset="0"/>
                <a:ea typeface="Inter" panose="02000503000000020004" pitchFamily="34" charset="-122"/>
                <a:cs typeface="Inter" panose="02000503000000020004" pitchFamily="34" charset="-120"/>
              </a:rPr>
              <a:t>Databricks Foundation Models (Claude 3.7 Sonnet / Llama 3.3 70B)</a:t>
            </a:r>
            <a:endParaRPr lang="en-US" sz="1200" dirty="0"/>
          </a:p>
        </p:txBody>
      </p:sp>
      <p:pic>
        <p:nvPicPr>
          <p:cNvPr id="10" name="Image 2" descr="preencoded.png"/>
          <p:cNvPicPr>
            <a:picLocks noChangeAspect="1"/>
          </p:cNvPicPr>
          <p:nvPr/>
        </p:nvPicPr>
        <p:blipFill>
          <a:blip r:embed="rId3"/>
          <a:stretch>
            <a:fillRect/>
          </a:stretch>
        </p:blipFill>
        <p:spPr>
          <a:xfrm>
            <a:off x="553760" y="3474839"/>
            <a:ext cx="6761440" cy="632936"/>
          </a:xfrm>
          <a:prstGeom prst="rect">
            <a:avLst/>
          </a:prstGeom>
        </p:spPr>
      </p:pic>
      <p:sp>
        <p:nvSpPr>
          <p:cNvPr id="11" name="Text 6"/>
          <p:cNvSpPr/>
          <p:nvPr/>
        </p:nvSpPr>
        <p:spPr>
          <a:xfrm>
            <a:off x="711994" y="4266009"/>
            <a:ext cx="1977985" cy="247174"/>
          </a:xfrm>
          <a:prstGeom prst="rect">
            <a:avLst/>
          </a:prstGeom>
          <a:noFill/>
        </p:spPr>
        <p:txBody>
          <a:bodyPr wrap="none" lIns="0" tIns="0" rIns="0" bIns="0" rtlCol="0" anchor="t"/>
          <a:lstStyle/>
          <a:p>
            <a:pPr marL="0" indent="0" algn="l">
              <a:lnSpc>
                <a:spcPts val="1900"/>
              </a:lnSpc>
              <a:buNone/>
            </a:pPr>
            <a:r>
              <a:rPr lang="en-US" sz="1550" b="1" dirty="0">
                <a:solidFill>
                  <a:srgbClr val="272525"/>
                </a:solidFill>
                <a:latin typeface="Inter Bold" pitchFamily="34" charset="0"/>
                <a:ea typeface="Inter Bold" pitchFamily="34" charset="-122"/>
                <a:cs typeface="Inter Bold" pitchFamily="34" charset="-120"/>
              </a:rPr>
              <a:t>Automated Insights</a:t>
            </a:r>
            <a:endParaRPr lang="en-US" sz="1550" dirty="0"/>
          </a:p>
        </p:txBody>
      </p:sp>
      <p:sp>
        <p:nvSpPr>
          <p:cNvPr id="12" name="Text 7"/>
          <p:cNvSpPr/>
          <p:nvPr/>
        </p:nvSpPr>
        <p:spPr>
          <a:xfrm>
            <a:off x="711994" y="4608076"/>
            <a:ext cx="6444972" cy="253127"/>
          </a:xfrm>
          <a:prstGeom prst="rect">
            <a:avLst/>
          </a:prstGeom>
          <a:noFill/>
        </p:spPr>
        <p:txBody>
          <a:bodyPr wrap="none" lIns="0" tIns="0" rIns="0" bIns="0" rtlCol="0" anchor="t"/>
          <a:lstStyle/>
          <a:p>
            <a:pPr marL="0" indent="0" algn="l">
              <a:lnSpc>
                <a:spcPts val="1950"/>
              </a:lnSpc>
              <a:buNone/>
            </a:pPr>
            <a:r>
              <a:rPr lang="en-US" sz="1200" dirty="0">
                <a:solidFill>
                  <a:srgbClr val="272525"/>
                </a:solidFill>
                <a:latin typeface="Inter" panose="02000503000000020004" pitchFamily="34" charset="0"/>
                <a:ea typeface="Inter" panose="02000503000000020004" pitchFamily="34" charset="-122"/>
                <a:cs typeface="Inter" panose="02000503000000020004" pitchFamily="34" charset="-120"/>
              </a:rPr>
              <a:t>Risk analysis, recommendations, pattern recognition</a:t>
            </a:r>
            <a:endParaRPr lang="en-US" sz="1200" dirty="0"/>
          </a:p>
        </p:txBody>
      </p:sp>
      <p:pic>
        <p:nvPicPr>
          <p:cNvPr id="13" name="Image 3" descr="preencoded.png"/>
          <p:cNvPicPr>
            <a:picLocks noChangeAspect="1"/>
          </p:cNvPicPr>
          <p:nvPr/>
        </p:nvPicPr>
        <p:blipFill>
          <a:blip r:embed="rId4"/>
          <a:stretch>
            <a:fillRect/>
          </a:stretch>
        </p:blipFill>
        <p:spPr>
          <a:xfrm>
            <a:off x="7315200" y="3474839"/>
            <a:ext cx="6761440" cy="632936"/>
          </a:xfrm>
          <a:prstGeom prst="rect">
            <a:avLst/>
          </a:prstGeom>
        </p:spPr>
      </p:pic>
      <p:sp>
        <p:nvSpPr>
          <p:cNvPr id="14" name="Text 8"/>
          <p:cNvSpPr/>
          <p:nvPr/>
        </p:nvSpPr>
        <p:spPr>
          <a:xfrm>
            <a:off x="7473434" y="4266009"/>
            <a:ext cx="1977985" cy="247174"/>
          </a:xfrm>
          <a:prstGeom prst="rect">
            <a:avLst/>
          </a:prstGeom>
          <a:noFill/>
        </p:spPr>
        <p:txBody>
          <a:bodyPr wrap="none" lIns="0" tIns="0" rIns="0" bIns="0" rtlCol="0" anchor="t"/>
          <a:lstStyle/>
          <a:p>
            <a:pPr marL="0" indent="0" algn="l">
              <a:lnSpc>
                <a:spcPts val="1900"/>
              </a:lnSpc>
              <a:buNone/>
            </a:pPr>
            <a:r>
              <a:rPr lang="en-US" sz="1550" b="1" dirty="0">
                <a:solidFill>
                  <a:srgbClr val="272525"/>
                </a:solidFill>
                <a:latin typeface="Inter Bold" pitchFamily="34" charset="0"/>
                <a:ea typeface="Inter Bold" pitchFamily="34" charset="-122"/>
                <a:cs typeface="Inter Bold" pitchFamily="34" charset="-120"/>
              </a:rPr>
              <a:t>Business Decisions</a:t>
            </a:r>
            <a:endParaRPr lang="en-US" sz="1550" dirty="0"/>
          </a:p>
        </p:txBody>
      </p:sp>
      <p:sp>
        <p:nvSpPr>
          <p:cNvPr id="15" name="Text 9"/>
          <p:cNvSpPr/>
          <p:nvPr/>
        </p:nvSpPr>
        <p:spPr>
          <a:xfrm>
            <a:off x="7473434" y="4608076"/>
            <a:ext cx="6444972" cy="253127"/>
          </a:xfrm>
          <a:prstGeom prst="rect">
            <a:avLst/>
          </a:prstGeom>
          <a:noFill/>
        </p:spPr>
        <p:txBody>
          <a:bodyPr wrap="none" lIns="0" tIns="0" rIns="0" bIns="0" rtlCol="0" anchor="t"/>
          <a:lstStyle/>
          <a:p>
            <a:pPr marL="0" indent="0" algn="l">
              <a:lnSpc>
                <a:spcPts val="1950"/>
              </a:lnSpc>
              <a:buNone/>
            </a:pPr>
            <a:r>
              <a:rPr lang="en-US" sz="1200" dirty="0">
                <a:solidFill>
                  <a:srgbClr val="272525"/>
                </a:solidFill>
                <a:latin typeface="Inter" panose="02000503000000020004" pitchFamily="34" charset="0"/>
                <a:ea typeface="Inter" panose="02000503000000020004" pitchFamily="34" charset="-122"/>
                <a:cs typeface="Inter" panose="02000503000000020004" pitchFamily="34" charset="-120"/>
              </a:rPr>
              <a:t>Actionable strategies, alerts, reports</a:t>
            </a:r>
            <a:endParaRPr lang="en-US" sz="1200" dirty="0"/>
          </a:p>
        </p:txBody>
      </p:sp>
      <p:sp>
        <p:nvSpPr>
          <p:cNvPr id="16" name="Shape 10"/>
          <p:cNvSpPr/>
          <p:nvPr/>
        </p:nvSpPr>
        <p:spPr>
          <a:xfrm>
            <a:off x="553760" y="5276524"/>
            <a:ext cx="13522881" cy="27384"/>
          </a:xfrm>
          <a:prstGeom prst="rect">
            <a:avLst/>
          </a:prstGeom>
          <a:solidFill>
            <a:srgbClr val="272525">
              <a:alpha val="50000"/>
            </a:srgbClr>
          </a:solidFill>
        </p:spPr>
      </p:sp>
      <p:sp>
        <p:nvSpPr>
          <p:cNvPr id="17" name="Text 11"/>
          <p:cNvSpPr/>
          <p:nvPr/>
        </p:nvSpPr>
        <p:spPr>
          <a:xfrm>
            <a:off x="553760" y="5640110"/>
            <a:ext cx="1977985" cy="247174"/>
          </a:xfrm>
          <a:prstGeom prst="rect">
            <a:avLst/>
          </a:prstGeom>
          <a:noFill/>
        </p:spPr>
        <p:txBody>
          <a:bodyPr wrap="none" lIns="0" tIns="0" rIns="0" bIns="0" rtlCol="0" anchor="t"/>
          <a:lstStyle/>
          <a:p>
            <a:pPr marL="0" indent="0" algn="l">
              <a:lnSpc>
                <a:spcPts val="1900"/>
              </a:lnSpc>
              <a:buNone/>
            </a:pPr>
            <a:r>
              <a:rPr lang="en-US" sz="1550" b="1" dirty="0">
                <a:solidFill>
                  <a:srgbClr val="000000"/>
                </a:solidFill>
                <a:latin typeface="Inter Bold" pitchFamily="34" charset="0"/>
                <a:ea typeface="Inter Bold" pitchFamily="34" charset="-122"/>
                <a:cs typeface="Inter Bold" pitchFamily="34" charset="-120"/>
              </a:rPr>
              <a:t>Portfolio Analysis</a:t>
            </a:r>
            <a:endParaRPr lang="en-US" sz="1550" dirty="0"/>
          </a:p>
        </p:txBody>
      </p:sp>
      <p:sp>
        <p:nvSpPr>
          <p:cNvPr id="18" name="Text 12"/>
          <p:cNvSpPr/>
          <p:nvPr/>
        </p:nvSpPr>
        <p:spPr>
          <a:xfrm>
            <a:off x="553760" y="6045518"/>
            <a:ext cx="4203859" cy="759381"/>
          </a:xfrm>
          <a:prstGeom prst="rect">
            <a:avLst/>
          </a:prstGeom>
          <a:noFill/>
        </p:spPr>
        <p:txBody>
          <a:bodyPr wrap="square" lIns="0" tIns="0" rIns="0" bIns="0" rtlCol="0" anchor="t"/>
          <a:lstStyle/>
          <a:p>
            <a:pPr marL="0" indent="0" algn="l">
              <a:lnSpc>
                <a:spcPts val="1950"/>
              </a:lnSpc>
              <a:buNone/>
            </a:pPr>
            <a:r>
              <a:rPr lang="en-US" sz="1200" dirty="0">
                <a:solidFill>
                  <a:srgbClr val="272525"/>
                </a:solidFill>
                <a:latin typeface="Inter" panose="02000503000000020004" pitchFamily="34" charset="0"/>
                <a:ea typeface="Inter" panose="02000503000000020004" pitchFamily="34" charset="-122"/>
                <a:cs typeface="Inter" panose="02000503000000020004" pitchFamily="34" charset="-120"/>
              </a:rPr>
              <a:t>Automated risk-adjusted return interpretation with tailored investment recommendations based on Sharpe ratios and correlation matrices</a:t>
            </a:r>
            <a:endParaRPr lang="en-US" sz="1200" dirty="0"/>
          </a:p>
        </p:txBody>
      </p:sp>
      <p:sp>
        <p:nvSpPr>
          <p:cNvPr id="19" name="Text 13"/>
          <p:cNvSpPr/>
          <p:nvPr/>
        </p:nvSpPr>
        <p:spPr>
          <a:xfrm>
            <a:off x="5151239" y="5640110"/>
            <a:ext cx="1977985" cy="247174"/>
          </a:xfrm>
          <a:prstGeom prst="rect">
            <a:avLst/>
          </a:prstGeom>
          <a:noFill/>
        </p:spPr>
        <p:txBody>
          <a:bodyPr wrap="none" lIns="0" tIns="0" rIns="0" bIns="0" rtlCol="0" anchor="t"/>
          <a:lstStyle/>
          <a:p>
            <a:pPr marL="0" indent="0" algn="l">
              <a:lnSpc>
                <a:spcPts val="1900"/>
              </a:lnSpc>
              <a:buNone/>
            </a:pPr>
            <a:r>
              <a:rPr lang="en-US" sz="1550" b="1" dirty="0">
                <a:solidFill>
                  <a:srgbClr val="000000"/>
                </a:solidFill>
                <a:latin typeface="Inter Bold" pitchFamily="34" charset="0"/>
                <a:ea typeface="Inter Bold" pitchFamily="34" charset="-122"/>
                <a:cs typeface="Inter Bold" pitchFamily="34" charset="-120"/>
              </a:rPr>
              <a:t>Fraud Intelligence</a:t>
            </a:r>
            <a:endParaRPr lang="en-US" sz="1550" dirty="0"/>
          </a:p>
        </p:txBody>
      </p:sp>
      <p:sp>
        <p:nvSpPr>
          <p:cNvPr id="20" name="Text 14"/>
          <p:cNvSpPr/>
          <p:nvPr/>
        </p:nvSpPr>
        <p:spPr>
          <a:xfrm>
            <a:off x="5151239" y="6045518"/>
            <a:ext cx="4203859" cy="759381"/>
          </a:xfrm>
          <a:prstGeom prst="rect">
            <a:avLst/>
          </a:prstGeom>
          <a:noFill/>
        </p:spPr>
        <p:txBody>
          <a:bodyPr wrap="square" lIns="0" tIns="0" rIns="0" bIns="0" rtlCol="0" anchor="t"/>
          <a:lstStyle/>
          <a:p>
            <a:pPr marL="0" indent="0" algn="l">
              <a:lnSpc>
                <a:spcPts val="1950"/>
              </a:lnSpc>
              <a:buNone/>
            </a:pPr>
            <a:r>
              <a:rPr lang="en-US" sz="1200" dirty="0">
                <a:solidFill>
                  <a:srgbClr val="272525"/>
                </a:solidFill>
                <a:latin typeface="Inter" panose="02000503000000020004" pitchFamily="34" charset="0"/>
                <a:ea typeface="Inter" panose="02000503000000020004" pitchFamily="34" charset="-122"/>
                <a:cs typeface="Inter" panose="02000503000000020004" pitchFamily="34" charset="-120"/>
              </a:rPr>
              <a:t>Pattern recognition across merchant categories, transaction timing, and customer behavior with security control suggestions</a:t>
            </a:r>
            <a:endParaRPr lang="en-US" sz="1200" dirty="0"/>
          </a:p>
        </p:txBody>
      </p:sp>
      <p:sp>
        <p:nvSpPr>
          <p:cNvPr id="21" name="Text 15"/>
          <p:cNvSpPr/>
          <p:nvPr/>
        </p:nvSpPr>
        <p:spPr>
          <a:xfrm>
            <a:off x="9748718" y="5640110"/>
            <a:ext cx="2212777" cy="247174"/>
          </a:xfrm>
          <a:prstGeom prst="rect">
            <a:avLst/>
          </a:prstGeom>
          <a:noFill/>
        </p:spPr>
        <p:txBody>
          <a:bodyPr wrap="none" lIns="0" tIns="0" rIns="0" bIns="0" rtlCol="0" anchor="t"/>
          <a:lstStyle/>
          <a:p>
            <a:pPr marL="0" indent="0" algn="l">
              <a:lnSpc>
                <a:spcPts val="1900"/>
              </a:lnSpc>
              <a:buNone/>
            </a:pPr>
            <a:r>
              <a:rPr lang="en-US" sz="1550" b="1" dirty="0">
                <a:solidFill>
                  <a:srgbClr val="000000"/>
                </a:solidFill>
                <a:latin typeface="Inter Bold" pitchFamily="34" charset="0"/>
                <a:ea typeface="Inter Bold" pitchFamily="34" charset="-122"/>
                <a:cs typeface="Inter Bold" pitchFamily="34" charset="-120"/>
              </a:rPr>
              <a:t>Forecast Interpretation</a:t>
            </a:r>
            <a:endParaRPr lang="en-US" sz="1550" dirty="0"/>
          </a:p>
        </p:txBody>
      </p:sp>
      <p:sp>
        <p:nvSpPr>
          <p:cNvPr id="22" name="Text 16"/>
          <p:cNvSpPr/>
          <p:nvPr/>
        </p:nvSpPr>
        <p:spPr>
          <a:xfrm>
            <a:off x="9748718" y="6045518"/>
            <a:ext cx="4342924" cy="759381"/>
          </a:xfrm>
          <a:prstGeom prst="rect">
            <a:avLst/>
          </a:prstGeom>
          <a:noFill/>
        </p:spPr>
        <p:txBody>
          <a:bodyPr wrap="square" lIns="0" tIns="0" rIns="0" bIns="0" rtlCol="0" anchor="t"/>
          <a:lstStyle/>
          <a:p>
            <a:pPr marL="0" indent="0" algn="l">
              <a:lnSpc>
                <a:spcPts val="1950"/>
              </a:lnSpc>
              <a:buNone/>
            </a:pPr>
            <a:r>
              <a:rPr lang="en-US" sz="1200" dirty="0">
                <a:solidFill>
                  <a:srgbClr val="272525"/>
                </a:solidFill>
                <a:latin typeface="Inter" panose="02000503000000020004" pitchFamily="34" charset="0"/>
                <a:ea typeface="Inter" panose="02000503000000020004" pitchFamily="34" charset="-122"/>
                <a:cs typeface="Inter" panose="02000503000000020004" pitchFamily="34" charset="-120"/>
              </a:rPr>
              <a:t>Accuracy assessment via MAPE analysis, confidence interval evaluation, and algorithmic trading strategy generation</a:t>
            </a:r>
            <a:endParaRPr lang="en-US" sz="1200" dirty="0"/>
          </a:p>
        </p:txBody>
      </p:sp>
      <p:sp>
        <p:nvSpPr>
          <p:cNvPr id="23" name="Shape 17"/>
          <p:cNvSpPr/>
          <p:nvPr/>
        </p:nvSpPr>
        <p:spPr>
          <a:xfrm>
            <a:off x="553760" y="7125295"/>
            <a:ext cx="13522881" cy="672346"/>
          </a:xfrm>
          <a:prstGeom prst="roundRect">
            <a:avLst>
              <a:gd name="adj" fmla="val 9885"/>
            </a:avLst>
          </a:prstGeom>
          <a:solidFill>
            <a:srgbClr val="C7C9EA"/>
          </a:solidFill>
        </p:spPr>
      </p:sp>
      <p:pic>
        <p:nvPicPr>
          <p:cNvPr id="24" name="Image 4" descr="preencoded.png"/>
          <p:cNvPicPr>
            <a:picLocks noChangeAspect="1"/>
          </p:cNvPicPr>
          <p:nvPr/>
        </p:nvPicPr>
        <p:blipFill>
          <a:blip r:embed="rId5"/>
          <a:stretch>
            <a:fillRect/>
          </a:stretch>
        </p:blipFill>
        <p:spPr>
          <a:xfrm>
            <a:off x="711994" y="7367468"/>
            <a:ext cx="197763" cy="158234"/>
          </a:xfrm>
          <a:prstGeom prst="rect">
            <a:avLst/>
          </a:prstGeom>
        </p:spPr>
      </p:pic>
      <p:sp>
        <p:nvSpPr>
          <p:cNvPr id="25" name="Text 18"/>
          <p:cNvSpPr/>
          <p:nvPr/>
        </p:nvSpPr>
        <p:spPr>
          <a:xfrm>
            <a:off x="1067991" y="7323058"/>
            <a:ext cx="12850416" cy="253127"/>
          </a:xfrm>
          <a:prstGeom prst="rect">
            <a:avLst/>
          </a:prstGeom>
          <a:noFill/>
        </p:spPr>
        <p:txBody>
          <a:bodyPr wrap="none" lIns="0" tIns="0" rIns="0" bIns="0" rtlCol="0" anchor="t"/>
          <a:lstStyle/>
          <a:p>
            <a:pPr marL="0" indent="0" algn="l">
              <a:lnSpc>
                <a:spcPts val="1950"/>
              </a:lnSpc>
              <a:buNone/>
            </a:pPr>
            <a:r>
              <a:rPr lang="en-US" sz="1200" b="1" dirty="0">
                <a:solidFill>
                  <a:srgbClr val="000000"/>
                </a:solidFill>
                <a:latin typeface="Inter" panose="02000503000000020004" pitchFamily="34" charset="0"/>
                <a:ea typeface="Inter" panose="02000503000000020004" pitchFamily="34" charset="-122"/>
                <a:cs typeface="Inter" panose="02000503000000020004" pitchFamily="34" charset="-120"/>
              </a:rPr>
              <a:t>Natural Language Interface:</a:t>
            </a:r>
            <a:r>
              <a:rPr lang="en-US" sz="1200" dirty="0">
                <a:solidFill>
                  <a:srgbClr val="000000"/>
                </a:solidFill>
                <a:latin typeface="Inter" panose="02000503000000020004" pitchFamily="34" charset="0"/>
                <a:ea typeface="Inter" panose="02000503000000020004" pitchFamily="34" charset="-122"/>
                <a:cs typeface="Inter" panose="02000503000000020004" pitchFamily="34" charset="-120"/>
              </a:rPr>
              <a:t> Plain English queries converted to SQL via ai_gen() function, democratizing data access for non-technical stakeholders.</a:t>
            </a:r>
            <a:endParaRPr lang="en-US" sz="1200" dirty="0"/>
          </a:p>
        </p:txBody>
      </p:sp>
      <p:pic>
        <p:nvPicPr>
          <p:cNvPr id="26" name="Picture 25" descr="Screenshot 2025-11-10 at 2.34.10 AM"/>
          <p:cNvPicPr>
            <a:picLocks noChangeAspect="1"/>
          </p:cNvPicPr>
          <p:nvPr/>
        </p:nvPicPr>
        <p:blipFill>
          <a:blip r:embed="rId6"/>
          <a:stretch>
            <a:fillRect/>
          </a:stretch>
        </p:blipFill>
        <p:spPr>
          <a:xfrm>
            <a:off x="12382500" y="7797800"/>
            <a:ext cx="2247900" cy="3746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0791" y="619244"/>
            <a:ext cx="6485096" cy="545425"/>
          </a:xfrm>
          <a:prstGeom prst="rect">
            <a:avLst/>
          </a:prstGeom>
          <a:noFill/>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Value Delivered to Nexus Bank</a:t>
            </a:r>
            <a:endParaRPr lang="en-US" sz="3400" dirty="0"/>
          </a:p>
        </p:txBody>
      </p:sp>
      <p:sp>
        <p:nvSpPr>
          <p:cNvPr id="3" name="Text 1"/>
          <p:cNvSpPr/>
          <p:nvPr/>
        </p:nvSpPr>
        <p:spPr>
          <a:xfrm>
            <a:off x="610791" y="1513642"/>
            <a:ext cx="13408819" cy="558403"/>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The Financial Analytics Platform delivers measurable operational efficiency, risk mitigation, and revenue optimization through advanced automation and machine learning capabilities.</a:t>
            </a:r>
            <a:endParaRPr lang="en-US" sz="1350" dirty="0"/>
          </a:p>
        </p:txBody>
      </p:sp>
      <p:sp>
        <p:nvSpPr>
          <p:cNvPr id="4" name="Text 2"/>
          <p:cNvSpPr/>
          <p:nvPr/>
        </p:nvSpPr>
        <p:spPr>
          <a:xfrm>
            <a:off x="1699379" y="3402806"/>
            <a:ext cx="2146697" cy="436245"/>
          </a:xfrm>
          <a:prstGeom prst="rect">
            <a:avLst/>
          </a:prstGeom>
          <a:noFill/>
        </p:spPr>
        <p:txBody>
          <a:bodyPr wrap="none" lIns="0" tIns="0" rIns="0" bIns="0" rtlCol="0" anchor="t"/>
          <a:lstStyle/>
          <a:p>
            <a:pPr marL="0" indent="0" algn="ctr">
              <a:lnSpc>
                <a:spcPts val="3400"/>
              </a:lnSpc>
              <a:buNone/>
            </a:pPr>
            <a:r>
              <a:rPr lang="en-US" sz="3400" b="1" dirty="0">
                <a:solidFill>
                  <a:srgbClr val="272525"/>
                </a:solidFill>
                <a:latin typeface="Inter Bold" pitchFamily="34" charset="0"/>
                <a:ea typeface="Inter Bold" pitchFamily="34" charset="-122"/>
                <a:cs typeface="Inter Bold" pitchFamily="34" charset="-120"/>
              </a:rPr>
              <a:t>99.7%</a:t>
            </a:r>
            <a:endParaRPr lang="en-US" sz="3400" dirty="0"/>
          </a:p>
        </p:txBody>
      </p:sp>
      <p:pic>
        <p:nvPicPr>
          <p:cNvPr id="5" name="Image 0" descr="preencoded.png"/>
          <p:cNvPicPr>
            <a:picLocks noChangeAspect="1"/>
          </p:cNvPicPr>
          <p:nvPr/>
        </p:nvPicPr>
        <p:blipFill>
          <a:blip r:embed="rId1"/>
          <a:stretch>
            <a:fillRect/>
          </a:stretch>
        </p:blipFill>
        <p:spPr>
          <a:xfrm>
            <a:off x="1463754" y="2311956"/>
            <a:ext cx="2618065" cy="2618065"/>
          </a:xfrm>
          <a:prstGeom prst="rect">
            <a:avLst/>
          </a:prstGeom>
        </p:spPr>
      </p:pic>
      <p:sp>
        <p:nvSpPr>
          <p:cNvPr id="6" name="Text 3"/>
          <p:cNvSpPr/>
          <p:nvPr/>
        </p:nvSpPr>
        <p:spPr>
          <a:xfrm>
            <a:off x="1681996" y="5148024"/>
            <a:ext cx="2181701" cy="272653"/>
          </a:xfrm>
          <a:prstGeom prst="rect">
            <a:avLst/>
          </a:prstGeom>
          <a:noFill/>
        </p:spPr>
        <p:txBody>
          <a:bodyPr wrap="none" lIns="0" tIns="0" rIns="0" bIns="0" rtlCol="0" anchor="t"/>
          <a:lstStyle/>
          <a:p>
            <a:pPr marL="0" indent="0" algn="ctr">
              <a:lnSpc>
                <a:spcPts val="2100"/>
              </a:lnSpc>
              <a:buNone/>
            </a:pPr>
            <a:r>
              <a:rPr lang="en-US" sz="1700" b="1" dirty="0">
                <a:solidFill>
                  <a:srgbClr val="272525"/>
                </a:solidFill>
                <a:latin typeface="Inter Bold" pitchFamily="34" charset="0"/>
                <a:ea typeface="Inter Bold" pitchFamily="34" charset="-122"/>
                <a:cs typeface="Inter Bold" pitchFamily="34" charset="-120"/>
              </a:rPr>
              <a:t>Time Reduction</a:t>
            </a:r>
            <a:endParaRPr lang="en-US" sz="1700" dirty="0"/>
          </a:p>
        </p:txBody>
      </p:sp>
      <p:sp>
        <p:nvSpPr>
          <p:cNvPr id="7" name="Text 4"/>
          <p:cNvSpPr/>
          <p:nvPr/>
        </p:nvSpPr>
        <p:spPr>
          <a:xfrm>
            <a:off x="610791" y="5525333"/>
            <a:ext cx="4324112" cy="279202"/>
          </a:xfrm>
          <a:prstGeom prst="rect">
            <a:avLst/>
          </a:prstGeom>
          <a:noFill/>
        </p:spPr>
        <p:txBody>
          <a:bodyPr wrap="none" lIns="0" tIns="0" rIns="0" bIns="0" rtlCol="0" anchor="t"/>
          <a:lstStyle/>
          <a:p>
            <a:pPr marL="0" indent="0" algn="ctr">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Portfolio analysis: 40 hours/week → 5 minutes</a:t>
            </a:r>
            <a:endParaRPr lang="en-US" sz="1350" dirty="0"/>
          </a:p>
        </p:txBody>
      </p:sp>
      <p:sp>
        <p:nvSpPr>
          <p:cNvPr id="8" name="Text 5"/>
          <p:cNvSpPr/>
          <p:nvPr/>
        </p:nvSpPr>
        <p:spPr>
          <a:xfrm>
            <a:off x="6241732" y="3402806"/>
            <a:ext cx="2146697" cy="436245"/>
          </a:xfrm>
          <a:prstGeom prst="rect">
            <a:avLst/>
          </a:prstGeom>
          <a:noFill/>
        </p:spPr>
        <p:txBody>
          <a:bodyPr wrap="none" lIns="0" tIns="0" rIns="0" bIns="0" rtlCol="0" anchor="t"/>
          <a:lstStyle/>
          <a:p>
            <a:pPr marL="0" indent="0" algn="ctr">
              <a:lnSpc>
                <a:spcPts val="3400"/>
              </a:lnSpc>
              <a:buNone/>
            </a:pPr>
            <a:r>
              <a:rPr lang="en-US" sz="3400" b="1" dirty="0">
                <a:solidFill>
                  <a:srgbClr val="272525"/>
                </a:solidFill>
                <a:latin typeface="Inter Bold" pitchFamily="34" charset="0"/>
                <a:ea typeface="Inter Bold" pitchFamily="34" charset="-122"/>
                <a:cs typeface="Inter Bold" pitchFamily="34" charset="-120"/>
              </a:rPr>
              <a:t>67%</a:t>
            </a:r>
            <a:endParaRPr lang="en-US" sz="3400" dirty="0"/>
          </a:p>
        </p:txBody>
      </p:sp>
      <p:pic>
        <p:nvPicPr>
          <p:cNvPr id="9" name="Image 1" descr="preencoded.png"/>
          <p:cNvPicPr>
            <a:picLocks noChangeAspect="1"/>
          </p:cNvPicPr>
          <p:nvPr/>
        </p:nvPicPr>
        <p:blipFill>
          <a:blip r:embed="rId2"/>
          <a:stretch>
            <a:fillRect/>
          </a:stretch>
        </p:blipFill>
        <p:spPr>
          <a:xfrm>
            <a:off x="6006108" y="2311956"/>
            <a:ext cx="2618065" cy="2618065"/>
          </a:xfrm>
          <a:prstGeom prst="rect">
            <a:avLst/>
          </a:prstGeom>
        </p:spPr>
      </p:pic>
      <p:sp>
        <p:nvSpPr>
          <p:cNvPr id="10" name="Text 6"/>
          <p:cNvSpPr/>
          <p:nvPr/>
        </p:nvSpPr>
        <p:spPr>
          <a:xfrm>
            <a:off x="6016823" y="5148024"/>
            <a:ext cx="2596634" cy="272653"/>
          </a:xfrm>
          <a:prstGeom prst="rect">
            <a:avLst/>
          </a:prstGeom>
          <a:noFill/>
        </p:spPr>
        <p:txBody>
          <a:bodyPr wrap="none" lIns="0" tIns="0" rIns="0" bIns="0" rtlCol="0" anchor="t"/>
          <a:lstStyle/>
          <a:p>
            <a:pPr marL="0" indent="0" algn="ctr">
              <a:lnSpc>
                <a:spcPts val="2100"/>
              </a:lnSpc>
              <a:buNone/>
            </a:pPr>
            <a:r>
              <a:rPr lang="en-US" sz="1700" b="1" dirty="0">
                <a:solidFill>
                  <a:srgbClr val="272525"/>
                </a:solidFill>
                <a:latin typeface="Inter Bold" pitchFamily="34" charset="0"/>
                <a:ea typeface="Inter Bold" pitchFamily="34" charset="-122"/>
                <a:cs typeface="Inter Bold" pitchFamily="34" charset="-120"/>
              </a:rPr>
              <a:t>False Positive Reduction</a:t>
            </a:r>
            <a:endParaRPr lang="en-US" sz="1700" dirty="0"/>
          </a:p>
        </p:txBody>
      </p:sp>
      <p:sp>
        <p:nvSpPr>
          <p:cNvPr id="11" name="Text 7"/>
          <p:cNvSpPr/>
          <p:nvPr/>
        </p:nvSpPr>
        <p:spPr>
          <a:xfrm>
            <a:off x="5153025" y="5525333"/>
            <a:ext cx="4324231" cy="279202"/>
          </a:xfrm>
          <a:prstGeom prst="rect">
            <a:avLst/>
          </a:prstGeom>
          <a:noFill/>
        </p:spPr>
        <p:txBody>
          <a:bodyPr wrap="none" lIns="0" tIns="0" rIns="0" bIns="0" rtlCol="0" anchor="t"/>
          <a:lstStyle/>
          <a:p>
            <a:pPr marL="0" indent="0" algn="ctr">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Fraud detection accuracy improvement</a:t>
            </a:r>
            <a:endParaRPr lang="en-US" sz="1350" dirty="0"/>
          </a:p>
        </p:txBody>
      </p:sp>
      <p:sp>
        <p:nvSpPr>
          <p:cNvPr id="12" name="Text 8"/>
          <p:cNvSpPr/>
          <p:nvPr/>
        </p:nvSpPr>
        <p:spPr>
          <a:xfrm>
            <a:off x="10783967" y="3402806"/>
            <a:ext cx="2146697" cy="436245"/>
          </a:xfrm>
          <a:prstGeom prst="rect">
            <a:avLst/>
          </a:prstGeom>
          <a:noFill/>
        </p:spPr>
        <p:txBody>
          <a:bodyPr wrap="none" lIns="0" tIns="0" rIns="0" bIns="0" rtlCol="0" anchor="t"/>
          <a:lstStyle/>
          <a:p>
            <a:pPr marL="0" indent="0" algn="ctr">
              <a:lnSpc>
                <a:spcPts val="3400"/>
              </a:lnSpc>
              <a:buNone/>
            </a:pPr>
            <a:r>
              <a:rPr lang="en-US" sz="3400" b="1" dirty="0">
                <a:solidFill>
                  <a:srgbClr val="272525"/>
                </a:solidFill>
                <a:latin typeface="Inter Bold" pitchFamily="34" charset="0"/>
                <a:ea typeface="Inter Bold" pitchFamily="34" charset="-122"/>
                <a:cs typeface="Inter Bold" pitchFamily="34" charset="-120"/>
              </a:rPr>
              <a:t>3.2%</a:t>
            </a:r>
            <a:endParaRPr lang="en-US" sz="3400" dirty="0"/>
          </a:p>
        </p:txBody>
      </p:sp>
      <p:pic>
        <p:nvPicPr>
          <p:cNvPr id="13" name="Image 2" descr="preencoded.png"/>
          <p:cNvPicPr>
            <a:picLocks noChangeAspect="1"/>
          </p:cNvPicPr>
          <p:nvPr/>
        </p:nvPicPr>
        <p:blipFill>
          <a:blip r:embed="rId3"/>
          <a:stretch>
            <a:fillRect/>
          </a:stretch>
        </p:blipFill>
        <p:spPr>
          <a:xfrm>
            <a:off x="10548342" y="2311956"/>
            <a:ext cx="2618065" cy="2618065"/>
          </a:xfrm>
          <a:prstGeom prst="rect">
            <a:avLst/>
          </a:prstGeom>
        </p:spPr>
      </p:pic>
      <p:sp>
        <p:nvSpPr>
          <p:cNvPr id="14" name="Text 9"/>
          <p:cNvSpPr/>
          <p:nvPr/>
        </p:nvSpPr>
        <p:spPr>
          <a:xfrm>
            <a:off x="10766584" y="5148024"/>
            <a:ext cx="2181701" cy="272653"/>
          </a:xfrm>
          <a:prstGeom prst="rect">
            <a:avLst/>
          </a:prstGeom>
          <a:noFill/>
        </p:spPr>
        <p:txBody>
          <a:bodyPr wrap="none" lIns="0" tIns="0" rIns="0" bIns="0" rtlCol="0" anchor="t"/>
          <a:lstStyle/>
          <a:p>
            <a:pPr marL="0" indent="0" algn="ctr">
              <a:lnSpc>
                <a:spcPts val="2100"/>
              </a:lnSpc>
              <a:buNone/>
            </a:pPr>
            <a:r>
              <a:rPr lang="en-US" sz="1700" b="1" dirty="0">
                <a:solidFill>
                  <a:srgbClr val="272525"/>
                </a:solidFill>
                <a:latin typeface="Inter Bold" pitchFamily="34" charset="0"/>
                <a:ea typeface="Inter Bold" pitchFamily="34" charset="-122"/>
                <a:cs typeface="Inter Bold" pitchFamily="34" charset="-120"/>
              </a:rPr>
              <a:t>Forecast MAPE</a:t>
            </a:r>
            <a:endParaRPr lang="en-US" sz="1700" dirty="0"/>
          </a:p>
        </p:txBody>
      </p:sp>
      <p:sp>
        <p:nvSpPr>
          <p:cNvPr id="15" name="Text 10"/>
          <p:cNvSpPr/>
          <p:nvPr/>
        </p:nvSpPr>
        <p:spPr>
          <a:xfrm>
            <a:off x="9695378" y="5525333"/>
            <a:ext cx="4324112" cy="279202"/>
          </a:xfrm>
          <a:prstGeom prst="rect">
            <a:avLst/>
          </a:prstGeom>
          <a:noFill/>
        </p:spPr>
        <p:txBody>
          <a:bodyPr wrap="none" lIns="0" tIns="0" rIns="0" bIns="0" rtlCol="0" anchor="t"/>
          <a:lstStyle/>
          <a:p>
            <a:pPr marL="0" indent="0" algn="ctr">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High-confidence trading signals</a:t>
            </a:r>
            <a:endParaRPr lang="en-US" sz="1350" dirty="0"/>
          </a:p>
        </p:txBody>
      </p:sp>
      <p:sp>
        <p:nvSpPr>
          <p:cNvPr id="16" name="Shape 11"/>
          <p:cNvSpPr/>
          <p:nvPr/>
        </p:nvSpPr>
        <p:spPr>
          <a:xfrm>
            <a:off x="610791" y="6000869"/>
            <a:ext cx="4353282" cy="1609487"/>
          </a:xfrm>
          <a:prstGeom prst="roundRect">
            <a:avLst>
              <a:gd name="adj" fmla="val 4555"/>
            </a:avLst>
          </a:prstGeom>
          <a:solidFill>
            <a:srgbClr val="FFFFFF"/>
          </a:solidFill>
          <a:ln w="22860">
            <a:solidFill>
              <a:srgbClr val="C0C1D7"/>
            </a:solidFill>
            <a:prstDash val="solid"/>
          </a:ln>
        </p:spPr>
      </p:sp>
      <p:sp>
        <p:nvSpPr>
          <p:cNvPr id="17" name="Text 12"/>
          <p:cNvSpPr/>
          <p:nvPr/>
        </p:nvSpPr>
        <p:spPr>
          <a:xfrm>
            <a:off x="808077" y="6198156"/>
            <a:ext cx="2184321" cy="272653"/>
          </a:xfrm>
          <a:prstGeom prst="rect">
            <a:avLst/>
          </a:prstGeom>
          <a:noFill/>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Automation Benefits</a:t>
            </a:r>
            <a:endParaRPr lang="en-US" sz="1700" dirty="0"/>
          </a:p>
        </p:txBody>
      </p:sp>
      <p:sp>
        <p:nvSpPr>
          <p:cNvPr id="18" name="Text 13"/>
          <p:cNvSpPr/>
          <p:nvPr/>
        </p:nvSpPr>
        <p:spPr>
          <a:xfrm>
            <a:off x="808077" y="6575465"/>
            <a:ext cx="3958709" cy="837605"/>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AI-generated insights eliminate manual report writing, saving 20+ analyst hours per week and enabling strategic focus on high-value activities</a:t>
            </a:r>
            <a:endParaRPr lang="en-US" sz="1350" dirty="0"/>
          </a:p>
        </p:txBody>
      </p:sp>
      <p:sp>
        <p:nvSpPr>
          <p:cNvPr id="19" name="Shape 14"/>
          <p:cNvSpPr/>
          <p:nvPr/>
        </p:nvSpPr>
        <p:spPr>
          <a:xfrm>
            <a:off x="5138499" y="6000869"/>
            <a:ext cx="4353282" cy="1609487"/>
          </a:xfrm>
          <a:prstGeom prst="roundRect">
            <a:avLst>
              <a:gd name="adj" fmla="val 4555"/>
            </a:avLst>
          </a:prstGeom>
          <a:solidFill>
            <a:srgbClr val="FFFFFF"/>
          </a:solidFill>
          <a:ln w="22860">
            <a:solidFill>
              <a:srgbClr val="C0C1D7"/>
            </a:solidFill>
            <a:prstDash val="solid"/>
          </a:ln>
        </p:spPr>
      </p:sp>
      <p:sp>
        <p:nvSpPr>
          <p:cNvPr id="20" name="Text 15"/>
          <p:cNvSpPr/>
          <p:nvPr/>
        </p:nvSpPr>
        <p:spPr>
          <a:xfrm>
            <a:off x="5335786" y="6198156"/>
            <a:ext cx="2181701" cy="272653"/>
          </a:xfrm>
          <a:prstGeom prst="rect">
            <a:avLst/>
          </a:prstGeom>
          <a:noFill/>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Cost Efficiency</a:t>
            </a:r>
            <a:endParaRPr lang="en-US" sz="1700" dirty="0"/>
          </a:p>
        </p:txBody>
      </p:sp>
      <p:sp>
        <p:nvSpPr>
          <p:cNvPr id="21" name="Text 16"/>
          <p:cNvSpPr/>
          <p:nvPr/>
        </p:nvSpPr>
        <p:spPr>
          <a:xfrm>
            <a:off x="5335786" y="6575465"/>
            <a:ext cx="3958709" cy="837605"/>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Cloud-native Databricks infrastructure scales elastically, eliminating $800K annual capital expenditure on on-premise data centers</a:t>
            </a:r>
            <a:endParaRPr lang="en-US" sz="1350" dirty="0"/>
          </a:p>
        </p:txBody>
      </p:sp>
      <p:sp>
        <p:nvSpPr>
          <p:cNvPr id="22" name="Shape 17"/>
          <p:cNvSpPr/>
          <p:nvPr/>
        </p:nvSpPr>
        <p:spPr>
          <a:xfrm>
            <a:off x="9666208" y="6000869"/>
            <a:ext cx="4353401" cy="1609487"/>
          </a:xfrm>
          <a:prstGeom prst="roundRect">
            <a:avLst>
              <a:gd name="adj" fmla="val 4555"/>
            </a:avLst>
          </a:prstGeom>
          <a:solidFill>
            <a:srgbClr val="FFFFFF"/>
          </a:solidFill>
          <a:ln w="22860">
            <a:solidFill>
              <a:srgbClr val="C0C1D7"/>
            </a:solidFill>
            <a:prstDash val="solid"/>
          </a:ln>
        </p:spPr>
      </p:sp>
      <p:sp>
        <p:nvSpPr>
          <p:cNvPr id="23" name="Text 18"/>
          <p:cNvSpPr/>
          <p:nvPr/>
        </p:nvSpPr>
        <p:spPr>
          <a:xfrm>
            <a:off x="9863495" y="6198156"/>
            <a:ext cx="2181701" cy="272653"/>
          </a:xfrm>
          <a:prstGeom prst="rect">
            <a:avLst/>
          </a:prstGeom>
          <a:noFill/>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Revenue Impact</a:t>
            </a:r>
            <a:endParaRPr lang="en-US" sz="1700" dirty="0"/>
          </a:p>
        </p:txBody>
      </p:sp>
      <p:sp>
        <p:nvSpPr>
          <p:cNvPr id="24" name="Text 19"/>
          <p:cNvSpPr/>
          <p:nvPr/>
        </p:nvSpPr>
        <p:spPr>
          <a:xfrm>
            <a:off x="9863495" y="6575465"/>
            <a:ext cx="3958828" cy="837605"/>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Algorithmic trading strategies based on 3.2% MAPE forecasts generate estimated $4.2M in additional annual trading revenue</a:t>
            </a:r>
            <a:endParaRPr lang="en-US" sz="1350" dirty="0"/>
          </a:p>
        </p:txBody>
      </p:sp>
      <p:pic>
        <p:nvPicPr>
          <p:cNvPr id="25" name="Picture 24" descr="Screenshot 2025-11-10 at 2.34.10 AM"/>
          <p:cNvPicPr>
            <a:picLocks noChangeAspect="1"/>
          </p:cNvPicPr>
          <p:nvPr/>
        </p:nvPicPr>
        <p:blipFill>
          <a:blip r:embed="rId4"/>
          <a:stretch>
            <a:fillRect/>
          </a:stretch>
        </p:blipFill>
        <p:spPr>
          <a:xfrm>
            <a:off x="12382500" y="7675880"/>
            <a:ext cx="2247900" cy="482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00194" y="876181"/>
            <a:ext cx="7707392" cy="535900"/>
          </a:xfrm>
          <a:prstGeom prst="rect">
            <a:avLst/>
          </a:prstGeom>
          <a:noFill/>
        </p:spPr>
        <p:txBody>
          <a:bodyPr wrap="none" lIns="0" tIns="0" rIns="0" bIns="0" rtlCol="0" anchor="t"/>
          <a:lstStyle/>
          <a:p>
            <a:pPr marL="0" indent="0" algn="l">
              <a:lnSpc>
                <a:spcPts val="4200"/>
              </a:lnSpc>
              <a:buNone/>
            </a:pPr>
            <a:r>
              <a:rPr lang="en-US" sz="3350" b="1" dirty="0">
                <a:solidFill>
                  <a:srgbClr val="000000"/>
                </a:solidFill>
                <a:latin typeface="Inter Bold" pitchFamily="34" charset="0"/>
                <a:ea typeface="Inter Bold" pitchFamily="34" charset="-122"/>
                <a:cs typeface="Inter Bold" pitchFamily="34" charset="-120"/>
              </a:rPr>
              <a:t>Roadmap for Production Deployment</a:t>
            </a:r>
            <a:endParaRPr lang="en-US" sz="3350" dirty="0"/>
          </a:p>
        </p:txBody>
      </p:sp>
      <p:sp>
        <p:nvSpPr>
          <p:cNvPr id="4" name="Text 1"/>
          <p:cNvSpPr/>
          <p:nvPr/>
        </p:nvSpPr>
        <p:spPr>
          <a:xfrm>
            <a:off x="600194" y="1669256"/>
            <a:ext cx="7943612" cy="548640"/>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Strategic enhancements planned for 2026 will expand platform capabilities, asset coverage, and user accessibility while maintaining enterprise-grade reliability and performance.</a:t>
            </a:r>
            <a:endParaRPr lang="en-US" sz="1350" dirty="0"/>
          </a:p>
        </p:txBody>
      </p:sp>
      <p:sp>
        <p:nvSpPr>
          <p:cNvPr id="5" name="Shape 2"/>
          <p:cNvSpPr/>
          <p:nvPr/>
        </p:nvSpPr>
        <p:spPr>
          <a:xfrm>
            <a:off x="793075" y="2410778"/>
            <a:ext cx="22860" cy="4942523"/>
          </a:xfrm>
          <a:prstGeom prst="roundRect">
            <a:avLst>
              <a:gd name="adj" fmla="val 315088"/>
            </a:avLst>
          </a:prstGeom>
          <a:solidFill>
            <a:srgbClr val="C0C1D7"/>
          </a:solidFill>
        </p:spPr>
      </p:sp>
      <p:sp>
        <p:nvSpPr>
          <p:cNvPr id="6" name="Shape 3"/>
          <p:cNvSpPr/>
          <p:nvPr/>
        </p:nvSpPr>
        <p:spPr>
          <a:xfrm>
            <a:off x="963097" y="2592229"/>
            <a:ext cx="514469" cy="22860"/>
          </a:xfrm>
          <a:prstGeom prst="roundRect">
            <a:avLst>
              <a:gd name="adj" fmla="val 315088"/>
            </a:avLst>
          </a:prstGeom>
          <a:solidFill>
            <a:srgbClr val="C0C1D7"/>
          </a:solidFill>
        </p:spPr>
      </p:sp>
      <p:sp>
        <p:nvSpPr>
          <p:cNvPr id="7" name="Shape 4"/>
          <p:cNvSpPr/>
          <p:nvPr/>
        </p:nvSpPr>
        <p:spPr>
          <a:xfrm>
            <a:off x="600194" y="2410778"/>
            <a:ext cx="385763" cy="385763"/>
          </a:xfrm>
          <a:prstGeom prst="roundRect">
            <a:avLst>
              <a:gd name="adj" fmla="val 18672"/>
            </a:avLst>
          </a:prstGeom>
          <a:solidFill>
            <a:srgbClr val="DADBF1"/>
          </a:solidFill>
          <a:ln w="7620">
            <a:solidFill>
              <a:srgbClr val="C0C1D7"/>
            </a:solidFill>
            <a:prstDash val="solid"/>
          </a:ln>
        </p:spPr>
      </p:sp>
      <p:sp>
        <p:nvSpPr>
          <p:cNvPr id="8" name="Text 5"/>
          <p:cNvSpPr/>
          <p:nvPr/>
        </p:nvSpPr>
        <p:spPr>
          <a:xfrm>
            <a:off x="664488" y="2442924"/>
            <a:ext cx="257175" cy="321469"/>
          </a:xfrm>
          <a:prstGeom prst="rect">
            <a:avLst/>
          </a:prstGeom>
          <a:noFill/>
        </p:spPr>
        <p:txBody>
          <a:bodyPr wrap="none" lIns="0" tIns="0" rIns="0" bIns="0" rtlCol="0" anchor="t"/>
          <a:lstStyle/>
          <a:p>
            <a:pPr marL="0" indent="0" algn="ctr">
              <a:lnSpc>
                <a:spcPts val="2000"/>
              </a:lnSpc>
              <a:buNone/>
            </a:pPr>
            <a:r>
              <a:rPr lang="en-US" sz="2000" b="1" dirty="0">
                <a:solidFill>
                  <a:srgbClr val="272525"/>
                </a:solidFill>
                <a:latin typeface="Inter Bold" pitchFamily="34" charset="0"/>
                <a:ea typeface="Inter Bold" pitchFamily="34" charset="-122"/>
                <a:cs typeface="Inter Bold" pitchFamily="34" charset="-120"/>
              </a:rPr>
              <a:t>1</a:t>
            </a:r>
            <a:endParaRPr lang="en-US" sz="2000" dirty="0"/>
          </a:p>
        </p:txBody>
      </p:sp>
      <p:sp>
        <p:nvSpPr>
          <p:cNvPr id="9" name="Text 6"/>
          <p:cNvSpPr/>
          <p:nvPr/>
        </p:nvSpPr>
        <p:spPr>
          <a:xfrm>
            <a:off x="1650563" y="2469713"/>
            <a:ext cx="3172539" cy="268010"/>
          </a:xfrm>
          <a:prstGeom prst="rect">
            <a:avLst/>
          </a:prstGeom>
          <a:noFill/>
        </p:spPr>
        <p:txBody>
          <a:bodyPr wrap="none" lIns="0" tIns="0" rIns="0" bIns="0" rtlCol="0" anchor="t"/>
          <a:lstStyle/>
          <a:p>
            <a:pPr marL="0" indent="0" algn="l">
              <a:lnSpc>
                <a:spcPts val="2100"/>
              </a:lnSpc>
              <a:buNone/>
            </a:pPr>
            <a:r>
              <a:rPr lang="en-US" sz="1650" b="1" dirty="0">
                <a:solidFill>
                  <a:srgbClr val="272525"/>
                </a:solidFill>
                <a:latin typeface="Inter Bold" pitchFamily="34" charset="0"/>
                <a:ea typeface="Inter Bold" pitchFamily="34" charset="-122"/>
                <a:cs typeface="Inter Bold" pitchFamily="34" charset="-120"/>
              </a:rPr>
              <a:t>Q1 2026: Real-Time Streaming</a:t>
            </a:r>
            <a:endParaRPr lang="en-US" sz="1650" dirty="0"/>
          </a:p>
        </p:txBody>
      </p:sp>
      <p:sp>
        <p:nvSpPr>
          <p:cNvPr id="10" name="Text 7"/>
          <p:cNvSpPr/>
          <p:nvPr/>
        </p:nvSpPr>
        <p:spPr>
          <a:xfrm>
            <a:off x="1650563" y="2840593"/>
            <a:ext cx="6893243" cy="548640"/>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Integrate Apache Kafka for live market data ingestion with sub-second latency, enabling high-frequency trading strategies</a:t>
            </a:r>
            <a:endParaRPr lang="en-US" sz="1350" dirty="0"/>
          </a:p>
        </p:txBody>
      </p:sp>
      <p:sp>
        <p:nvSpPr>
          <p:cNvPr id="11" name="Shape 8"/>
          <p:cNvSpPr/>
          <p:nvPr/>
        </p:nvSpPr>
        <p:spPr>
          <a:xfrm>
            <a:off x="963097" y="3913584"/>
            <a:ext cx="514469" cy="22860"/>
          </a:xfrm>
          <a:prstGeom prst="roundRect">
            <a:avLst>
              <a:gd name="adj" fmla="val 315088"/>
            </a:avLst>
          </a:prstGeom>
          <a:solidFill>
            <a:srgbClr val="C0C1D7"/>
          </a:solidFill>
        </p:spPr>
      </p:sp>
      <p:sp>
        <p:nvSpPr>
          <p:cNvPr id="12" name="Shape 9"/>
          <p:cNvSpPr/>
          <p:nvPr/>
        </p:nvSpPr>
        <p:spPr>
          <a:xfrm>
            <a:off x="600194" y="3732133"/>
            <a:ext cx="385763" cy="385763"/>
          </a:xfrm>
          <a:prstGeom prst="roundRect">
            <a:avLst>
              <a:gd name="adj" fmla="val 18672"/>
            </a:avLst>
          </a:prstGeom>
          <a:solidFill>
            <a:srgbClr val="DADBF1"/>
          </a:solidFill>
          <a:ln w="7620">
            <a:solidFill>
              <a:srgbClr val="C0C1D7"/>
            </a:solidFill>
            <a:prstDash val="solid"/>
          </a:ln>
        </p:spPr>
      </p:sp>
      <p:sp>
        <p:nvSpPr>
          <p:cNvPr id="13" name="Text 10"/>
          <p:cNvSpPr/>
          <p:nvPr/>
        </p:nvSpPr>
        <p:spPr>
          <a:xfrm>
            <a:off x="664488" y="3764280"/>
            <a:ext cx="257175" cy="321469"/>
          </a:xfrm>
          <a:prstGeom prst="rect">
            <a:avLst/>
          </a:prstGeom>
          <a:noFill/>
        </p:spPr>
        <p:txBody>
          <a:bodyPr wrap="none" lIns="0" tIns="0" rIns="0" bIns="0" rtlCol="0" anchor="t"/>
          <a:lstStyle/>
          <a:p>
            <a:pPr marL="0" indent="0" algn="ctr">
              <a:lnSpc>
                <a:spcPts val="2000"/>
              </a:lnSpc>
              <a:buNone/>
            </a:pPr>
            <a:r>
              <a:rPr lang="en-US" sz="2000" b="1" dirty="0">
                <a:solidFill>
                  <a:srgbClr val="272525"/>
                </a:solidFill>
                <a:latin typeface="Inter Bold" pitchFamily="34" charset="0"/>
                <a:ea typeface="Inter Bold" pitchFamily="34" charset="-122"/>
                <a:cs typeface="Inter Bold" pitchFamily="34" charset="-120"/>
              </a:rPr>
              <a:t>2</a:t>
            </a:r>
            <a:endParaRPr lang="en-US" sz="2000" dirty="0"/>
          </a:p>
        </p:txBody>
      </p:sp>
      <p:sp>
        <p:nvSpPr>
          <p:cNvPr id="14" name="Text 11"/>
          <p:cNvSpPr/>
          <p:nvPr/>
        </p:nvSpPr>
        <p:spPr>
          <a:xfrm>
            <a:off x="1650563" y="3791069"/>
            <a:ext cx="3906083" cy="268010"/>
          </a:xfrm>
          <a:prstGeom prst="rect">
            <a:avLst/>
          </a:prstGeom>
          <a:noFill/>
        </p:spPr>
        <p:txBody>
          <a:bodyPr wrap="none" lIns="0" tIns="0" rIns="0" bIns="0" rtlCol="0" anchor="t"/>
          <a:lstStyle/>
          <a:p>
            <a:pPr marL="0" indent="0" algn="l">
              <a:lnSpc>
                <a:spcPts val="2100"/>
              </a:lnSpc>
              <a:buNone/>
            </a:pPr>
            <a:r>
              <a:rPr lang="en-US" sz="1650" b="1" dirty="0">
                <a:solidFill>
                  <a:srgbClr val="272525"/>
                </a:solidFill>
                <a:latin typeface="Inter Bold" pitchFamily="34" charset="0"/>
                <a:ea typeface="Inter Bold" pitchFamily="34" charset="-122"/>
                <a:cs typeface="Inter Bold" pitchFamily="34" charset="-120"/>
              </a:rPr>
              <a:t>Q2 2026: Advanced Neural Networks</a:t>
            </a:r>
            <a:endParaRPr lang="en-US" sz="1650" dirty="0"/>
          </a:p>
        </p:txBody>
      </p:sp>
      <p:sp>
        <p:nvSpPr>
          <p:cNvPr id="15" name="Text 12"/>
          <p:cNvSpPr/>
          <p:nvPr/>
        </p:nvSpPr>
        <p:spPr>
          <a:xfrm>
            <a:off x="1650563" y="4161949"/>
            <a:ext cx="6893243" cy="548640"/>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Deploy LSTM/GRU deep learning models for multi-step forecasting with improved accuracy on volatile assets</a:t>
            </a:r>
            <a:endParaRPr lang="en-US" sz="1350" dirty="0"/>
          </a:p>
        </p:txBody>
      </p:sp>
      <p:sp>
        <p:nvSpPr>
          <p:cNvPr id="16" name="Shape 13"/>
          <p:cNvSpPr/>
          <p:nvPr/>
        </p:nvSpPr>
        <p:spPr>
          <a:xfrm>
            <a:off x="963097" y="5234940"/>
            <a:ext cx="514469" cy="22860"/>
          </a:xfrm>
          <a:prstGeom prst="roundRect">
            <a:avLst>
              <a:gd name="adj" fmla="val 315088"/>
            </a:avLst>
          </a:prstGeom>
          <a:solidFill>
            <a:srgbClr val="C0C1D7"/>
          </a:solidFill>
        </p:spPr>
      </p:sp>
      <p:sp>
        <p:nvSpPr>
          <p:cNvPr id="17" name="Shape 14"/>
          <p:cNvSpPr/>
          <p:nvPr/>
        </p:nvSpPr>
        <p:spPr>
          <a:xfrm>
            <a:off x="600194" y="5053489"/>
            <a:ext cx="385763" cy="385763"/>
          </a:xfrm>
          <a:prstGeom prst="roundRect">
            <a:avLst>
              <a:gd name="adj" fmla="val 18672"/>
            </a:avLst>
          </a:prstGeom>
          <a:solidFill>
            <a:srgbClr val="DADBF1"/>
          </a:solidFill>
          <a:ln w="7620">
            <a:solidFill>
              <a:srgbClr val="C0C1D7"/>
            </a:solidFill>
            <a:prstDash val="solid"/>
          </a:ln>
        </p:spPr>
      </p:sp>
      <p:sp>
        <p:nvSpPr>
          <p:cNvPr id="18" name="Text 15"/>
          <p:cNvSpPr/>
          <p:nvPr/>
        </p:nvSpPr>
        <p:spPr>
          <a:xfrm>
            <a:off x="664488" y="5085636"/>
            <a:ext cx="257175" cy="321469"/>
          </a:xfrm>
          <a:prstGeom prst="rect">
            <a:avLst/>
          </a:prstGeom>
          <a:noFill/>
        </p:spPr>
        <p:txBody>
          <a:bodyPr wrap="none" lIns="0" tIns="0" rIns="0" bIns="0" rtlCol="0" anchor="t"/>
          <a:lstStyle/>
          <a:p>
            <a:pPr marL="0" indent="0" algn="ctr">
              <a:lnSpc>
                <a:spcPts val="2000"/>
              </a:lnSpc>
              <a:buNone/>
            </a:pPr>
            <a:r>
              <a:rPr lang="en-US" sz="2000" b="1" dirty="0">
                <a:solidFill>
                  <a:srgbClr val="272525"/>
                </a:solidFill>
                <a:latin typeface="Inter Bold" pitchFamily="34" charset="0"/>
                <a:ea typeface="Inter Bold" pitchFamily="34" charset="-122"/>
                <a:cs typeface="Inter Bold" pitchFamily="34" charset="-120"/>
              </a:rPr>
              <a:t>3</a:t>
            </a:r>
            <a:endParaRPr lang="en-US" sz="2000" dirty="0"/>
          </a:p>
        </p:txBody>
      </p:sp>
      <p:sp>
        <p:nvSpPr>
          <p:cNvPr id="19" name="Text 16"/>
          <p:cNvSpPr/>
          <p:nvPr/>
        </p:nvSpPr>
        <p:spPr>
          <a:xfrm>
            <a:off x="1650563" y="5112425"/>
            <a:ext cx="2778681" cy="268010"/>
          </a:xfrm>
          <a:prstGeom prst="rect">
            <a:avLst/>
          </a:prstGeom>
          <a:noFill/>
        </p:spPr>
        <p:txBody>
          <a:bodyPr wrap="none" lIns="0" tIns="0" rIns="0" bIns="0" rtlCol="0" anchor="t"/>
          <a:lstStyle/>
          <a:p>
            <a:pPr marL="0" indent="0" algn="l">
              <a:lnSpc>
                <a:spcPts val="2100"/>
              </a:lnSpc>
              <a:buNone/>
            </a:pPr>
            <a:r>
              <a:rPr lang="en-US" sz="1650" b="1" dirty="0">
                <a:solidFill>
                  <a:srgbClr val="272525"/>
                </a:solidFill>
                <a:latin typeface="Inter Bold" pitchFamily="34" charset="0"/>
                <a:ea typeface="Inter Bold" pitchFamily="34" charset="-122"/>
                <a:cs typeface="Inter Bold" pitchFamily="34" charset="-120"/>
              </a:rPr>
              <a:t>Q3 2026: Asset Expansion</a:t>
            </a:r>
            <a:endParaRPr lang="en-US" sz="1650" dirty="0"/>
          </a:p>
        </p:txBody>
      </p:sp>
      <p:sp>
        <p:nvSpPr>
          <p:cNvPr id="20" name="Text 17"/>
          <p:cNvSpPr/>
          <p:nvPr/>
        </p:nvSpPr>
        <p:spPr>
          <a:xfrm>
            <a:off x="1650563" y="5483304"/>
            <a:ext cx="6893243" cy="548640"/>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Add commodities (gold, oil, natural gas), government bonds, derivatives, and options data for comprehensive coverage</a:t>
            </a:r>
            <a:endParaRPr lang="en-US" sz="1350" dirty="0"/>
          </a:p>
        </p:txBody>
      </p:sp>
      <p:sp>
        <p:nvSpPr>
          <p:cNvPr id="21" name="Shape 18"/>
          <p:cNvSpPr/>
          <p:nvPr/>
        </p:nvSpPr>
        <p:spPr>
          <a:xfrm>
            <a:off x="963097" y="6556296"/>
            <a:ext cx="514469" cy="22860"/>
          </a:xfrm>
          <a:prstGeom prst="roundRect">
            <a:avLst>
              <a:gd name="adj" fmla="val 315088"/>
            </a:avLst>
          </a:prstGeom>
          <a:solidFill>
            <a:srgbClr val="C0C1D7"/>
          </a:solidFill>
        </p:spPr>
      </p:sp>
      <p:sp>
        <p:nvSpPr>
          <p:cNvPr id="22" name="Shape 19"/>
          <p:cNvSpPr/>
          <p:nvPr/>
        </p:nvSpPr>
        <p:spPr>
          <a:xfrm>
            <a:off x="600194" y="6374844"/>
            <a:ext cx="385763" cy="385763"/>
          </a:xfrm>
          <a:prstGeom prst="roundRect">
            <a:avLst>
              <a:gd name="adj" fmla="val 18672"/>
            </a:avLst>
          </a:prstGeom>
          <a:solidFill>
            <a:srgbClr val="DADBF1"/>
          </a:solidFill>
          <a:ln w="7620">
            <a:solidFill>
              <a:srgbClr val="C0C1D7"/>
            </a:solidFill>
            <a:prstDash val="solid"/>
          </a:ln>
        </p:spPr>
      </p:sp>
      <p:sp>
        <p:nvSpPr>
          <p:cNvPr id="23" name="Text 20"/>
          <p:cNvSpPr/>
          <p:nvPr/>
        </p:nvSpPr>
        <p:spPr>
          <a:xfrm>
            <a:off x="664488" y="6406991"/>
            <a:ext cx="257175" cy="321469"/>
          </a:xfrm>
          <a:prstGeom prst="rect">
            <a:avLst/>
          </a:prstGeom>
          <a:noFill/>
        </p:spPr>
        <p:txBody>
          <a:bodyPr wrap="none" lIns="0" tIns="0" rIns="0" bIns="0" rtlCol="0" anchor="t"/>
          <a:lstStyle/>
          <a:p>
            <a:pPr marL="0" indent="0" algn="ctr">
              <a:lnSpc>
                <a:spcPts val="2000"/>
              </a:lnSpc>
              <a:buNone/>
            </a:pPr>
            <a:r>
              <a:rPr lang="en-US" sz="2000" b="1" dirty="0">
                <a:solidFill>
                  <a:srgbClr val="272525"/>
                </a:solidFill>
                <a:latin typeface="Inter Bold" pitchFamily="34" charset="0"/>
                <a:ea typeface="Inter Bold" pitchFamily="34" charset="-122"/>
                <a:cs typeface="Inter Bold" pitchFamily="34" charset="-120"/>
              </a:rPr>
              <a:t>4</a:t>
            </a:r>
            <a:endParaRPr lang="en-US" sz="2000" dirty="0"/>
          </a:p>
        </p:txBody>
      </p:sp>
      <p:sp>
        <p:nvSpPr>
          <p:cNvPr id="24" name="Text 21"/>
          <p:cNvSpPr/>
          <p:nvPr/>
        </p:nvSpPr>
        <p:spPr>
          <a:xfrm>
            <a:off x="1650563" y="6433780"/>
            <a:ext cx="2343388" cy="268010"/>
          </a:xfrm>
          <a:prstGeom prst="rect">
            <a:avLst/>
          </a:prstGeom>
          <a:noFill/>
        </p:spPr>
        <p:txBody>
          <a:bodyPr wrap="none" lIns="0" tIns="0" rIns="0" bIns="0" rtlCol="0" anchor="t"/>
          <a:lstStyle/>
          <a:p>
            <a:pPr marL="0" indent="0" algn="l">
              <a:lnSpc>
                <a:spcPts val="2100"/>
              </a:lnSpc>
              <a:buNone/>
            </a:pPr>
            <a:r>
              <a:rPr lang="en-US" sz="1650" b="1" dirty="0">
                <a:solidFill>
                  <a:srgbClr val="272525"/>
                </a:solidFill>
                <a:latin typeface="Inter Bold" pitchFamily="34" charset="0"/>
                <a:ea typeface="Inter Bold" pitchFamily="34" charset="-122"/>
                <a:cs typeface="Inter Bold" pitchFamily="34" charset="-120"/>
              </a:rPr>
              <a:t>Q4 2026: Alerting &amp; UI</a:t>
            </a:r>
            <a:endParaRPr lang="en-US" sz="1650" dirty="0"/>
          </a:p>
        </p:txBody>
      </p:sp>
      <p:sp>
        <p:nvSpPr>
          <p:cNvPr id="25" name="Text 22"/>
          <p:cNvSpPr/>
          <p:nvPr/>
        </p:nvSpPr>
        <p:spPr>
          <a:xfrm>
            <a:off x="1650563" y="6804660"/>
            <a:ext cx="6893243" cy="548640"/>
          </a:xfrm>
          <a:prstGeom prst="rect">
            <a:avLst/>
          </a:prstGeom>
          <a:noFill/>
        </p:spPr>
        <p:txBody>
          <a:bodyPr wrap="square" lIns="0" tIns="0" rIns="0" bIns="0" rtlCol="0" anchor="t"/>
          <a:lstStyle/>
          <a:p>
            <a:pPr marL="0" indent="0" algn="l">
              <a:lnSpc>
                <a:spcPts val="2150"/>
              </a:lnSpc>
              <a:buNone/>
            </a:pPr>
            <a:r>
              <a:rPr lang="en-US" sz="1350" dirty="0">
                <a:solidFill>
                  <a:srgbClr val="272525"/>
                </a:solidFill>
                <a:latin typeface="Inter" panose="02000503000000020004" pitchFamily="34" charset="0"/>
                <a:ea typeface="Inter" panose="02000503000000020004" pitchFamily="34" charset="-122"/>
                <a:cs typeface="Inter" panose="02000503000000020004" pitchFamily="34" charset="-120"/>
              </a:rPr>
              <a:t>Real-time fraud alerts via Workflows with SMS/email, plus Streamlit dashboard for non-technical executives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0893" y="377785"/>
            <a:ext cx="3435310" cy="429339"/>
          </a:xfrm>
          <a:prstGeom prst="rect">
            <a:avLst/>
          </a:prstGeom>
          <a:noFill/>
        </p:spPr>
        <p:txBody>
          <a:bodyPr wrap="none" lIns="0" tIns="0" rIns="0" bIns="0" rtlCol="0" anchor="t"/>
          <a:lstStyle/>
          <a:p>
            <a:pPr marL="0" indent="0" algn="l">
              <a:lnSpc>
                <a:spcPts val="3350"/>
              </a:lnSpc>
              <a:buNone/>
            </a:pPr>
            <a:r>
              <a:rPr lang="en-US" sz="2700" b="1" dirty="0">
                <a:solidFill>
                  <a:srgbClr val="000000"/>
                </a:solidFill>
                <a:latin typeface="Inter Bold" pitchFamily="34" charset="0"/>
                <a:ea typeface="Inter Bold" pitchFamily="34" charset="-122"/>
                <a:cs typeface="Inter Bold" pitchFamily="34" charset="-120"/>
              </a:rPr>
              <a:t>Project Summary</a:t>
            </a:r>
            <a:endParaRPr lang="en-US" sz="2700" dirty="0"/>
          </a:p>
        </p:txBody>
      </p:sp>
      <p:pic>
        <p:nvPicPr>
          <p:cNvPr id="3" name="Image 0" descr="preencoded.png"/>
          <p:cNvPicPr>
            <a:picLocks noChangeAspect="1"/>
          </p:cNvPicPr>
          <p:nvPr/>
        </p:nvPicPr>
        <p:blipFill>
          <a:blip r:embed="rId1"/>
          <a:stretch>
            <a:fillRect/>
          </a:stretch>
        </p:blipFill>
        <p:spPr>
          <a:xfrm>
            <a:off x="480893" y="1167765"/>
            <a:ext cx="5266253" cy="5266253"/>
          </a:xfrm>
          <a:prstGeom prst="rect">
            <a:avLst/>
          </a:prstGeom>
        </p:spPr>
      </p:pic>
      <p:sp>
        <p:nvSpPr>
          <p:cNvPr id="4" name="Text 1"/>
          <p:cNvSpPr/>
          <p:nvPr/>
        </p:nvSpPr>
        <p:spPr>
          <a:xfrm>
            <a:off x="6090047" y="1150620"/>
            <a:ext cx="2061210" cy="257532"/>
          </a:xfrm>
          <a:prstGeom prst="rect">
            <a:avLst/>
          </a:prstGeom>
          <a:noFill/>
        </p:spPr>
        <p:txBody>
          <a:bodyPr wrap="none" lIns="0" tIns="0" rIns="0" bIns="0" rtlCol="0" anchor="t"/>
          <a:lstStyle/>
          <a:p>
            <a:pPr marL="0" indent="0" algn="l">
              <a:lnSpc>
                <a:spcPts val="2000"/>
              </a:lnSpc>
              <a:buNone/>
            </a:pPr>
            <a:r>
              <a:rPr lang="en-US" sz="1600" b="1" dirty="0">
                <a:solidFill>
                  <a:srgbClr val="000000"/>
                </a:solidFill>
                <a:latin typeface="Inter Bold" pitchFamily="34" charset="0"/>
                <a:ea typeface="Inter Bold" pitchFamily="34" charset="-122"/>
                <a:cs typeface="Inter Bold" pitchFamily="34" charset="-120"/>
              </a:rPr>
              <a:t>Key Achievements</a:t>
            </a:r>
            <a:endParaRPr lang="en-US" sz="1600" dirty="0"/>
          </a:p>
        </p:txBody>
      </p:sp>
      <p:sp>
        <p:nvSpPr>
          <p:cNvPr id="5" name="Text 2"/>
          <p:cNvSpPr/>
          <p:nvPr/>
        </p:nvSpPr>
        <p:spPr>
          <a:xfrm>
            <a:off x="6090047" y="1545550"/>
            <a:ext cx="8066961" cy="439579"/>
          </a:xfrm>
          <a:prstGeom prst="rect">
            <a:avLst/>
          </a:prstGeom>
          <a:noFill/>
        </p:spPr>
        <p:txBody>
          <a:bodyPr wrap="square" lIns="0" tIns="0" rIns="0" bIns="0" rtlCol="0" anchor="t"/>
          <a:lstStyle/>
          <a:p>
            <a:pPr marL="0" indent="0" algn="l">
              <a:lnSpc>
                <a:spcPts val="1700"/>
              </a:lnSpc>
              <a:buSzPct val="100000"/>
              <a:buNone/>
            </a:pPr>
            <a:r>
              <a:rPr lang="en-US" sz="1050" b="1" dirty="0">
                <a:solidFill>
                  <a:srgbClr val="272525"/>
                </a:solidFill>
                <a:latin typeface="Inter" panose="02000503000000020004" pitchFamily="34" charset="0"/>
                <a:ea typeface="Inter" panose="02000503000000020004" pitchFamily="34" charset="-122"/>
                <a:cs typeface="Inter" panose="02000503000000020004" pitchFamily="34" charset="-120"/>
              </a:rPr>
              <a:t>Delivered:</a:t>
            </a: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 Production-ready financial analytics platform with end-to-end automation from data ingestion to AI-powered insights</a:t>
            </a:r>
            <a:endParaRPr lang="en-US" sz="1050" dirty="0"/>
          </a:p>
        </p:txBody>
      </p:sp>
      <p:sp>
        <p:nvSpPr>
          <p:cNvPr id="6" name="Text 3"/>
          <p:cNvSpPr/>
          <p:nvPr/>
        </p:nvSpPr>
        <p:spPr>
          <a:xfrm>
            <a:off x="6090047" y="2033111"/>
            <a:ext cx="8066961" cy="219789"/>
          </a:xfrm>
          <a:prstGeom prst="rect">
            <a:avLst/>
          </a:prstGeom>
          <a:noFill/>
        </p:spPr>
        <p:txBody>
          <a:bodyPr wrap="none" lIns="0" tIns="0" rIns="0" bIns="0" rtlCol="0" anchor="t"/>
          <a:lstStyle/>
          <a:p>
            <a:pPr marL="0" indent="0" algn="l">
              <a:lnSpc>
                <a:spcPts val="1700"/>
              </a:lnSpc>
              <a:buSzPct val="100000"/>
              <a:buNone/>
            </a:pPr>
            <a:r>
              <a:rPr lang="en-US" sz="1050" b="1" dirty="0">
                <a:solidFill>
                  <a:srgbClr val="272525"/>
                </a:solidFill>
                <a:latin typeface="Inter" panose="02000503000000020004" pitchFamily="34" charset="0"/>
                <a:ea typeface="Inter" panose="02000503000000020004" pitchFamily="34" charset="-122"/>
                <a:cs typeface="Inter" panose="02000503000000020004" pitchFamily="34" charset="-120"/>
              </a:rPr>
              <a:t>Demonstrated:</a:t>
            </a: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 Advanced data engineering, machine learning model development, and GenAI integration capabilities</a:t>
            </a:r>
            <a:endParaRPr lang="en-US" sz="1050" dirty="0"/>
          </a:p>
        </p:txBody>
      </p:sp>
      <p:sp>
        <p:nvSpPr>
          <p:cNvPr id="7" name="Text 4"/>
          <p:cNvSpPr/>
          <p:nvPr/>
        </p:nvSpPr>
        <p:spPr>
          <a:xfrm>
            <a:off x="6090047" y="2300883"/>
            <a:ext cx="8066961" cy="219789"/>
          </a:xfrm>
          <a:prstGeom prst="rect">
            <a:avLst/>
          </a:prstGeom>
          <a:noFill/>
        </p:spPr>
        <p:txBody>
          <a:bodyPr wrap="none" lIns="0" tIns="0" rIns="0" bIns="0" rtlCol="0" anchor="t"/>
          <a:lstStyle/>
          <a:p>
            <a:pPr marL="0" indent="0" algn="l">
              <a:lnSpc>
                <a:spcPts val="1700"/>
              </a:lnSpc>
              <a:buSzPct val="100000"/>
              <a:buNone/>
            </a:pPr>
            <a:r>
              <a:rPr lang="en-US" sz="1050" b="1" dirty="0">
                <a:solidFill>
                  <a:srgbClr val="272525"/>
                </a:solidFill>
                <a:latin typeface="Inter" panose="02000503000000020004" pitchFamily="34" charset="0"/>
                <a:ea typeface="Inter" panose="02000503000000020004" pitchFamily="34" charset="-122"/>
                <a:cs typeface="Inter" panose="02000503000000020004" pitchFamily="34" charset="-120"/>
              </a:rPr>
              <a:t>Impact:</a:t>
            </a: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 Scalable solution for algorithmic trading, portfolio optimization, and real-time fraud prevention</a:t>
            </a:r>
            <a:endParaRPr lang="en-US" sz="1050" dirty="0"/>
          </a:p>
        </p:txBody>
      </p:sp>
      <p:sp>
        <p:nvSpPr>
          <p:cNvPr id="8" name="Shape 5"/>
          <p:cNvSpPr/>
          <p:nvPr/>
        </p:nvSpPr>
        <p:spPr>
          <a:xfrm>
            <a:off x="480893" y="6811749"/>
            <a:ext cx="13668613" cy="24765"/>
          </a:xfrm>
          <a:prstGeom prst="rect">
            <a:avLst/>
          </a:prstGeom>
          <a:solidFill>
            <a:srgbClr val="272525">
              <a:alpha val="50000"/>
            </a:srgbClr>
          </a:solidFill>
        </p:spPr>
      </p:sp>
      <p:sp>
        <p:nvSpPr>
          <p:cNvPr id="9" name="Text 6"/>
          <p:cNvSpPr/>
          <p:nvPr/>
        </p:nvSpPr>
        <p:spPr>
          <a:xfrm>
            <a:off x="480893" y="7059692"/>
            <a:ext cx="3288387" cy="453390"/>
          </a:xfrm>
          <a:prstGeom prst="rect">
            <a:avLst/>
          </a:prstGeom>
          <a:noFill/>
        </p:spPr>
        <p:txBody>
          <a:bodyPr wrap="none" lIns="0" tIns="0" rIns="0" bIns="0" rtlCol="0" anchor="t"/>
          <a:lstStyle/>
          <a:p>
            <a:pPr marL="0" indent="0" algn="ctr">
              <a:lnSpc>
                <a:spcPts val="3550"/>
              </a:lnSpc>
              <a:buNone/>
            </a:pPr>
            <a:r>
              <a:rPr lang="en-US" sz="3550" b="1" dirty="0">
                <a:solidFill>
                  <a:srgbClr val="272525"/>
                </a:solidFill>
                <a:latin typeface="Inter Bold" pitchFamily="34" charset="0"/>
                <a:ea typeface="Inter Bold" pitchFamily="34" charset="-122"/>
                <a:cs typeface="Inter Bold" pitchFamily="34" charset="-120"/>
              </a:rPr>
              <a:t>60K+</a:t>
            </a:r>
            <a:endParaRPr lang="en-US" sz="3550" dirty="0"/>
          </a:p>
        </p:txBody>
      </p:sp>
      <p:sp>
        <p:nvSpPr>
          <p:cNvPr id="10" name="Text 7"/>
          <p:cNvSpPr/>
          <p:nvPr/>
        </p:nvSpPr>
        <p:spPr>
          <a:xfrm>
            <a:off x="1266230" y="7684770"/>
            <a:ext cx="1717596" cy="214670"/>
          </a:xfrm>
          <a:prstGeom prst="rect">
            <a:avLst/>
          </a:prstGeom>
          <a:noFill/>
        </p:spPr>
        <p:txBody>
          <a:bodyPr wrap="none" lIns="0" tIns="0" rIns="0" bIns="0" rtlCol="0" anchor="t"/>
          <a:lstStyle/>
          <a:p>
            <a:pPr marL="0" indent="0" algn="ctr">
              <a:lnSpc>
                <a:spcPts val="1650"/>
              </a:lnSpc>
              <a:buNone/>
            </a:pPr>
            <a:r>
              <a:rPr lang="en-US" sz="1350" b="1" dirty="0">
                <a:solidFill>
                  <a:srgbClr val="272525"/>
                </a:solidFill>
                <a:latin typeface="Inter Bold" pitchFamily="34" charset="0"/>
                <a:ea typeface="Inter Bold" pitchFamily="34" charset="-122"/>
                <a:cs typeface="Inter Bold" pitchFamily="34" charset="-120"/>
              </a:rPr>
              <a:t>Records Processed</a:t>
            </a:r>
            <a:endParaRPr lang="en-US" sz="1350" dirty="0"/>
          </a:p>
        </p:txBody>
      </p:sp>
      <p:sp>
        <p:nvSpPr>
          <p:cNvPr id="11" name="Text 8"/>
          <p:cNvSpPr/>
          <p:nvPr/>
        </p:nvSpPr>
        <p:spPr>
          <a:xfrm>
            <a:off x="480893" y="7981831"/>
            <a:ext cx="3288387" cy="219789"/>
          </a:xfrm>
          <a:prstGeom prst="rect">
            <a:avLst/>
          </a:prstGeom>
          <a:noFill/>
        </p:spPr>
        <p:txBody>
          <a:bodyPr wrap="none" lIns="0" tIns="0" rIns="0" bIns="0" rtlCol="0" anchor="t"/>
          <a:lstStyle/>
          <a:p>
            <a:pPr marL="0" indent="0" algn="ctr">
              <a:lnSpc>
                <a:spcPts val="170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Comprehensive market data coverage</a:t>
            </a:r>
            <a:endParaRPr lang="en-US" sz="1050" dirty="0"/>
          </a:p>
        </p:txBody>
      </p:sp>
      <p:sp>
        <p:nvSpPr>
          <p:cNvPr id="12" name="Text 9"/>
          <p:cNvSpPr/>
          <p:nvPr/>
        </p:nvSpPr>
        <p:spPr>
          <a:xfrm>
            <a:off x="3940969" y="7059692"/>
            <a:ext cx="3288387" cy="453390"/>
          </a:xfrm>
          <a:prstGeom prst="rect">
            <a:avLst/>
          </a:prstGeom>
          <a:noFill/>
        </p:spPr>
        <p:txBody>
          <a:bodyPr wrap="none" lIns="0" tIns="0" rIns="0" bIns="0" rtlCol="0" anchor="t"/>
          <a:lstStyle/>
          <a:p>
            <a:pPr marL="0" indent="0" algn="ctr">
              <a:lnSpc>
                <a:spcPts val="3550"/>
              </a:lnSpc>
              <a:buNone/>
            </a:pPr>
            <a:r>
              <a:rPr lang="en-US" sz="3550" b="1" dirty="0">
                <a:solidFill>
                  <a:srgbClr val="272525"/>
                </a:solidFill>
                <a:latin typeface="Inter Bold" pitchFamily="34" charset="0"/>
                <a:ea typeface="Inter Bold" pitchFamily="34" charset="-122"/>
                <a:cs typeface="Inter Bold" pitchFamily="34" charset="-120"/>
              </a:rPr>
              <a:t>15+</a:t>
            </a:r>
            <a:endParaRPr lang="en-US" sz="3550" dirty="0"/>
          </a:p>
        </p:txBody>
      </p:sp>
      <p:sp>
        <p:nvSpPr>
          <p:cNvPr id="13" name="Text 10"/>
          <p:cNvSpPr/>
          <p:nvPr/>
        </p:nvSpPr>
        <p:spPr>
          <a:xfrm>
            <a:off x="4721185" y="7684770"/>
            <a:ext cx="1727954" cy="214670"/>
          </a:xfrm>
          <a:prstGeom prst="rect">
            <a:avLst/>
          </a:prstGeom>
          <a:noFill/>
        </p:spPr>
        <p:txBody>
          <a:bodyPr wrap="none" lIns="0" tIns="0" rIns="0" bIns="0" rtlCol="0" anchor="t"/>
          <a:lstStyle/>
          <a:p>
            <a:pPr marL="0" indent="0" algn="ctr">
              <a:lnSpc>
                <a:spcPts val="1650"/>
              </a:lnSpc>
              <a:buNone/>
            </a:pPr>
            <a:r>
              <a:rPr lang="en-US" sz="1350" b="1" dirty="0">
                <a:solidFill>
                  <a:srgbClr val="272525"/>
                </a:solidFill>
                <a:latin typeface="Inter Bold" pitchFamily="34" charset="0"/>
                <a:ea typeface="Inter Bold" pitchFamily="34" charset="-122"/>
                <a:cs typeface="Inter Bold" pitchFamily="34" charset="-120"/>
              </a:rPr>
              <a:t>Features Engineered</a:t>
            </a:r>
            <a:endParaRPr lang="en-US" sz="1350" dirty="0"/>
          </a:p>
        </p:txBody>
      </p:sp>
      <p:sp>
        <p:nvSpPr>
          <p:cNvPr id="14" name="Text 11"/>
          <p:cNvSpPr/>
          <p:nvPr/>
        </p:nvSpPr>
        <p:spPr>
          <a:xfrm>
            <a:off x="3940969" y="7981831"/>
            <a:ext cx="3288387" cy="219789"/>
          </a:xfrm>
          <a:prstGeom prst="rect">
            <a:avLst/>
          </a:prstGeom>
          <a:noFill/>
        </p:spPr>
        <p:txBody>
          <a:bodyPr wrap="none" lIns="0" tIns="0" rIns="0" bIns="0" rtlCol="0" anchor="t"/>
          <a:lstStyle/>
          <a:p>
            <a:pPr marL="0" indent="0" algn="ctr">
              <a:lnSpc>
                <a:spcPts val="170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Advanced technical indicators</a:t>
            </a:r>
            <a:endParaRPr lang="en-US" sz="1050" dirty="0"/>
          </a:p>
        </p:txBody>
      </p:sp>
      <p:sp>
        <p:nvSpPr>
          <p:cNvPr id="15" name="Text 12"/>
          <p:cNvSpPr/>
          <p:nvPr/>
        </p:nvSpPr>
        <p:spPr>
          <a:xfrm>
            <a:off x="7401044" y="7059692"/>
            <a:ext cx="3288387" cy="453390"/>
          </a:xfrm>
          <a:prstGeom prst="rect">
            <a:avLst/>
          </a:prstGeom>
          <a:noFill/>
        </p:spPr>
        <p:txBody>
          <a:bodyPr wrap="none" lIns="0" tIns="0" rIns="0" bIns="0" rtlCol="0" anchor="t"/>
          <a:lstStyle/>
          <a:p>
            <a:pPr marL="0" indent="0" algn="ctr">
              <a:lnSpc>
                <a:spcPts val="3550"/>
              </a:lnSpc>
              <a:buNone/>
            </a:pPr>
            <a:r>
              <a:rPr lang="en-US" sz="3550" b="1" dirty="0">
                <a:solidFill>
                  <a:srgbClr val="272525"/>
                </a:solidFill>
                <a:latin typeface="Inter Bold" pitchFamily="34" charset="0"/>
                <a:ea typeface="Inter Bold" pitchFamily="34" charset="-122"/>
                <a:cs typeface="Inter Bold" pitchFamily="34" charset="-120"/>
              </a:rPr>
              <a:t>4</a:t>
            </a:r>
            <a:endParaRPr lang="en-US" sz="3550" dirty="0"/>
          </a:p>
        </p:txBody>
      </p:sp>
      <p:sp>
        <p:nvSpPr>
          <p:cNvPr id="16" name="Text 13"/>
          <p:cNvSpPr/>
          <p:nvPr/>
        </p:nvSpPr>
        <p:spPr>
          <a:xfrm>
            <a:off x="8169831" y="7684770"/>
            <a:ext cx="1750814" cy="214670"/>
          </a:xfrm>
          <a:prstGeom prst="rect">
            <a:avLst/>
          </a:prstGeom>
          <a:noFill/>
        </p:spPr>
        <p:txBody>
          <a:bodyPr wrap="none" lIns="0" tIns="0" rIns="0" bIns="0" rtlCol="0" anchor="t"/>
          <a:lstStyle/>
          <a:p>
            <a:pPr marL="0" indent="0" algn="ctr">
              <a:lnSpc>
                <a:spcPts val="1650"/>
              </a:lnSpc>
              <a:buNone/>
            </a:pPr>
            <a:r>
              <a:rPr lang="en-US" sz="1350" b="1" dirty="0">
                <a:solidFill>
                  <a:srgbClr val="272525"/>
                </a:solidFill>
                <a:latin typeface="Inter Bold" pitchFamily="34" charset="0"/>
                <a:ea typeface="Inter Bold" pitchFamily="34" charset="-122"/>
                <a:cs typeface="Inter Bold" pitchFamily="34" charset="-120"/>
              </a:rPr>
              <a:t>ML Models Deployed</a:t>
            </a:r>
            <a:endParaRPr lang="en-US" sz="1350" dirty="0"/>
          </a:p>
        </p:txBody>
      </p:sp>
      <p:sp>
        <p:nvSpPr>
          <p:cNvPr id="17" name="Text 14"/>
          <p:cNvSpPr/>
          <p:nvPr/>
        </p:nvSpPr>
        <p:spPr>
          <a:xfrm>
            <a:off x="7401044" y="7981831"/>
            <a:ext cx="3288387" cy="219789"/>
          </a:xfrm>
          <a:prstGeom prst="rect">
            <a:avLst/>
          </a:prstGeom>
          <a:noFill/>
        </p:spPr>
        <p:txBody>
          <a:bodyPr wrap="none" lIns="0" tIns="0" rIns="0" bIns="0" rtlCol="0" anchor="t"/>
          <a:lstStyle/>
          <a:p>
            <a:pPr marL="0" indent="0" algn="ctr">
              <a:lnSpc>
                <a:spcPts val="170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ARIMA, Prophet, Logistic, Random Forest</a:t>
            </a:r>
            <a:endParaRPr lang="en-US" sz="1050" dirty="0"/>
          </a:p>
        </p:txBody>
      </p:sp>
      <p:sp>
        <p:nvSpPr>
          <p:cNvPr id="18" name="Text 15"/>
          <p:cNvSpPr/>
          <p:nvPr/>
        </p:nvSpPr>
        <p:spPr>
          <a:xfrm>
            <a:off x="10861119" y="7059692"/>
            <a:ext cx="3288387" cy="453390"/>
          </a:xfrm>
          <a:prstGeom prst="rect">
            <a:avLst/>
          </a:prstGeom>
          <a:noFill/>
        </p:spPr>
        <p:txBody>
          <a:bodyPr wrap="none" lIns="0" tIns="0" rIns="0" bIns="0" rtlCol="0" anchor="t"/>
          <a:lstStyle/>
          <a:p>
            <a:pPr marL="0" indent="0" algn="ctr">
              <a:lnSpc>
                <a:spcPts val="3550"/>
              </a:lnSpc>
              <a:buNone/>
            </a:pPr>
            <a:r>
              <a:rPr lang="en-US" sz="3550" b="1" dirty="0">
                <a:solidFill>
                  <a:srgbClr val="272525"/>
                </a:solidFill>
                <a:latin typeface="Inter Bold" pitchFamily="34" charset="0"/>
                <a:ea typeface="Inter Bold" pitchFamily="34" charset="-122"/>
                <a:cs typeface="Inter Bold" pitchFamily="34" charset="-120"/>
              </a:rPr>
              <a:t>0.94</a:t>
            </a:r>
            <a:endParaRPr lang="en-US" sz="3550" dirty="0"/>
          </a:p>
        </p:txBody>
      </p:sp>
      <p:sp>
        <p:nvSpPr>
          <p:cNvPr id="19" name="Text 16"/>
          <p:cNvSpPr/>
          <p:nvPr/>
        </p:nvSpPr>
        <p:spPr>
          <a:xfrm>
            <a:off x="11646456" y="7684770"/>
            <a:ext cx="1717596" cy="214670"/>
          </a:xfrm>
          <a:prstGeom prst="rect">
            <a:avLst/>
          </a:prstGeom>
          <a:noFill/>
        </p:spPr>
        <p:txBody>
          <a:bodyPr wrap="none" lIns="0" tIns="0" rIns="0" bIns="0" rtlCol="0" anchor="t"/>
          <a:lstStyle/>
          <a:p>
            <a:pPr marL="0" indent="0" algn="ctr">
              <a:lnSpc>
                <a:spcPts val="1650"/>
              </a:lnSpc>
              <a:buNone/>
            </a:pPr>
            <a:r>
              <a:rPr lang="en-US" sz="1350" b="1" dirty="0">
                <a:solidFill>
                  <a:srgbClr val="272525"/>
                </a:solidFill>
                <a:latin typeface="Inter Bold" pitchFamily="34" charset="0"/>
                <a:ea typeface="Inter Bold" pitchFamily="34" charset="-122"/>
                <a:cs typeface="Inter Bold" pitchFamily="34" charset="-120"/>
              </a:rPr>
              <a:t>ROC-AUC Score</a:t>
            </a:r>
            <a:endParaRPr lang="en-US" sz="1350" dirty="0"/>
          </a:p>
        </p:txBody>
      </p:sp>
      <p:sp>
        <p:nvSpPr>
          <p:cNvPr id="20" name="Text 17"/>
          <p:cNvSpPr/>
          <p:nvPr/>
        </p:nvSpPr>
        <p:spPr>
          <a:xfrm>
            <a:off x="10861119" y="7981831"/>
            <a:ext cx="3288387" cy="219789"/>
          </a:xfrm>
          <a:prstGeom prst="rect">
            <a:avLst/>
          </a:prstGeom>
          <a:noFill/>
        </p:spPr>
        <p:txBody>
          <a:bodyPr wrap="none" lIns="0" tIns="0" rIns="0" bIns="0" rtlCol="0" anchor="t"/>
          <a:lstStyle/>
          <a:p>
            <a:pPr marL="0" indent="0" algn="ctr">
              <a:lnSpc>
                <a:spcPts val="170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Industry-leading fraud detection</a:t>
            </a:r>
            <a:endParaRPr lang="en-US" sz="1050" dirty="0"/>
          </a:p>
        </p:txBody>
      </p:sp>
      <p:sp>
        <p:nvSpPr>
          <p:cNvPr id="21" name="Shape 18"/>
          <p:cNvSpPr/>
          <p:nvPr/>
        </p:nvSpPr>
        <p:spPr>
          <a:xfrm>
            <a:off x="480893" y="8356163"/>
            <a:ext cx="13668613" cy="583763"/>
          </a:xfrm>
          <a:prstGeom prst="roundRect">
            <a:avLst>
              <a:gd name="adj" fmla="val 9887"/>
            </a:avLst>
          </a:prstGeom>
          <a:solidFill>
            <a:srgbClr val="C7C9EA"/>
          </a:solidFill>
        </p:spPr>
      </p:sp>
      <p:pic>
        <p:nvPicPr>
          <p:cNvPr id="22" name="Image 1" descr="preencoded.png"/>
          <p:cNvPicPr>
            <a:picLocks noChangeAspect="1"/>
          </p:cNvPicPr>
          <p:nvPr/>
        </p:nvPicPr>
        <p:blipFill>
          <a:blip r:embed="rId2"/>
          <a:stretch>
            <a:fillRect/>
          </a:stretch>
        </p:blipFill>
        <p:spPr>
          <a:xfrm>
            <a:off x="618292" y="8559998"/>
            <a:ext cx="171688" cy="137398"/>
          </a:xfrm>
          <a:prstGeom prst="rect">
            <a:avLst/>
          </a:prstGeom>
        </p:spPr>
      </p:pic>
      <p:sp>
        <p:nvSpPr>
          <p:cNvPr id="23" name="Text 19"/>
          <p:cNvSpPr/>
          <p:nvPr/>
        </p:nvSpPr>
        <p:spPr>
          <a:xfrm>
            <a:off x="927378" y="8527852"/>
            <a:ext cx="13084731" cy="219789"/>
          </a:xfrm>
          <a:prstGeom prst="rect">
            <a:avLst/>
          </a:prstGeom>
          <a:noFill/>
        </p:spPr>
        <p:txBody>
          <a:bodyPr wrap="none" lIns="0" tIns="0" rIns="0" bIns="0" rtlCol="0" anchor="t"/>
          <a:lstStyle/>
          <a:p>
            <a:pPr marL="0" indent="0" algn="l">
              <a:lnSpc>
                <a:spcPts val="1700"/>
              </a:lnSpc>
              <a:buNone/>
            </a:pPr>
            <a:r>
              <a:rPr lang="en-US" sz="1050" b="1" dirty="0">
                <a:solidFill>
                  <a:srgbClr val="000000"/>
                </a:solidFill>
                <a:latin typeface="Inter" panose="02000503000000020004" pitchFamily="34" charset="0"/>
                <a:ea typeface="Inter" panose="02000503000000020004" pitchFamily="34" charset="-122"/>
                <a:cs typeface="Inter" panose="02000503000000020004" pitchFamily="34" charset="-120"/>
              </a:rPr>
              <a:t>Next Steps:</a:t>
            </a:r>
            <a:r>
              <a:rPr lang="en-US" sz="1050" dirty="0">
                <a:solidFill>
                  <a:srgbClr val="000000"/>
                </a:solidFill>
                <a:latin typeface="Inter" panose="02000503000000020004" pitchFamily="34" charset="0"/>
                <a:ea typeface="Inter" panose="02000503000000020004" pitchFamily="34" charset="-122"/>
                <a:cs typeface="Inter" panose="02000503000000020004" pitchFamily="34" charset="-120"/>
              </a:rPr>
              <a:t> Platform ready for User Acceptance Testing (UAT) and production deployment at Nexus Bank. Anticipated go-live: Q1 2026.</a:t>
            </a:r>
            <a:endParaRPr lang="en-US" sz="1050" dirty="0"/>
          </a:p>
        </p:txBody>
      </p:sp>
      <p:pic>
        <p:nvPicPr>
          <p:cNvPr id="24" name="Picture 23" descr="Screenshot 2025-11-10 at 2.34.10 AM"/>
          <p:cNvPicPr>
            <a:picLocks noChangeAspect="1"/>
          </p:cNvPicPr>
          <p:nvPr/>
        </p:nvPicPr>
        <p:blipFill>
          <a:blip r:embed="rId3"/>
          <a:stretch>
            <a:fillRect/>
          </a:stretch>
        </p:blipFill>
        <p:spPr>
          <a:xfrm>
            <a:off x="12765405" y="7806055"/>
            <a:ext cx="1864995" cy="257175"/>
          </a:xfrm>
          <a:prstGeom prst="rect">
            <a:avLst/>
          </a:prstGeom>
        </p:spPr>
      </p:pic>
      <p:pic>
        <p:nvPicPr>
          <p:cNvPr id="25" name="Picture 24" descr="Screenshot 2025-11-10 at 2.34.10 AM"/>
          <p:cNvPicPr>
            <a:picLocks noChangeAspect="1"/>
          </p:cNvPicPr>
          <p:nvPr/>
        </p:nvPicPr>
        <p:blipFill>
          <a:blip r:embed="rId3"/>
          <a:stretch>
            <a:fillRect/>
          </a:stretch>
        </p:blipFill>
        <p:spPr>
          <a:xfrm>
            <a:off x="13568680" y="7989570"/>
            <a:ext cx="1037590" cy="142875"/>
          </a:xfrm>
          <a:prstGeom prst="rect">
            <a:avLst/>
          </a:prstGeom>
        </p:spPr>
      </p:pic>
      <p:sp>
        <p:nvSpPr>
          <p:cNvPr id="26" name="Text Box 25"/>
          <p:cNvSpPr txBox="1"/>
          <p:nvPr/>
        </p:nvSpPr>
        <p:spPr>
          <a:xfrm>
            <a:off x="12786360" y="6666230"/>
            <a:ext cx="4876800" cy="368300"/>
          </a:xfrm>
          <a:prstGeom prst="rect">
            <a:avLst/>
          </a:prstGeom>
          <a:noFill/>
        </p:spPr>
        <p:txBody>
          <a:bodyPr wrap="square" rtlCol="0">
            <a:spAutoFit/>
          </a:bodyPr>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5439" y="514945"/>
            <a:ext cx="4682133" cy="585311"/>
          </a:xfrm>
          <a:prstGeom prst="rect">
            <a:avLst/>
          </a:prstGeom>
          <a:noFill/>
        </p:spPr>
        <p:txBody>
          <a:bodyPr wrap="none" lIns="0" tIns="0" rIns="0" bIns="0" rtlCol="0" anchor="t"/>
          <a:lstStyle/>
          <a:p>
            <a:pPr marL="0" indent="0" algn="l">
              <a:lnSpc>
                <a:spcPts val="4600"/>
              </a:lnSpc>
              <a:buNone/>
            </a:pPr>
            <a:r>
              <a:rPr lang="en-US" sz="3650" b="1" dirty="0">
                <a:solidFill>
                  <a:srgbClr val="000000"/>
                </a:solidFill>
                <a:latin typeface="Inter Bold" pitchFamily="34" charset="0"/>
                <a:ea typeface="Inter Bold" pitchFamily="34" charset="-122"/>
                <a:cs typeface="Inter Bold" pitchFamily="34" charset="-120"/>
              </a:rPr>
              <a:t>Thank You</a:t>
            </a:r>
            <a:endParaRPr lang="en-US" sz="3650" dirty="0"/>
          </a:p>
        </p:txBody>
      </p:sp>
      <p:sp>
        <p:nvSpPr>
          <p:cNvPr id="3" name="Text 1"/>
          <p:cNvSpPr/>
          <p:nvPr/>
        </p:nvSpPr>
        <p:spPr>
          <a:xfrm>
            <a:off x="655439" y="1175147"/>
            <a:ext cx="2809280" cy="351234"/>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Project Team : Group 4</a:t>
            </a:r>
            <a:endParaRPr lang="en-US" sz="2200" dirty="0"/>
          </a:p>
        </p:txBody>
      </p:sp>
      <p:sp>
        <p:nvSpPr>
          <p:cNvPr id="4" name="Shape 2"/>
          <p:cNvSpPr/>
          <p:nvPr/>
        </p:nvSpPr>
        <p:spPr>
          <a:xfrm>
            <a:off x="655439" y="1807250"/>
            <a:ext cx="4314944" cy="1094184"/>
          </a:xfrm>
          <a:prstGeom prst="roundRect">
            <a:avLst>
              <a:gd name="adj" fmla="val 7189"/>
            </a:avLst>
          </a:prstGeom>
          <a:solidFill>
            <a:srgbClr val="DADBF1"/>
          </a:solidFill>
          <a:ln w="7620">
            <a:solidFill>
              <a:srgbClr val="C0C1D7"/>
            </a:solidFill>
            <a:prstDash val="solid"/>
          </a:ln>
        </p:spPr>
      </p:sp>
      <p:sp>
        <p:nvSpPr>
          <p:cNvPr id="5" name="Text 3"/>
          <p:cNvSpPr/>
          <p:nvPr/>
        </p:nvSpPr>
        <p:spPr>
          <a:xfrm>
            <a:off x="850344" y="2002155"/>
            <a:ext cx="2341007" cy="292537"/>
          </a:xfrm>
          <a:prstGeom prst="rect">
            <a:avLst/>
          </a:prstGeom>
          <a:noFill/>
        </p:spPr>
        <p:txBody>
          <a:bodyPr wrap="none" lIns="0" tIns="0" rIns="0" bIns="0" rtlCol="0" anchor="t"/>
          <a:lstStyle/>
          <a:p>
            <a:pPr marL="0" indent="0" algn="l">
              <a:lnSpc>
                <a:spcPts val="2300"/>
              </a:lnSpc>
              <a:buNone/>
            </a:pPr>
            <a:r>
              <a:rPr lang="en-US" sz="1800" b="1" dirty="0">
                <a:solidFill>
                  <a:srgbClr val="272525"/>
                </a:solidFill>
                <a:latin typeface="Inter Bold" pitchFamily="34" charset="0"/>
                <a:ea typeface="Inter Bold" pitchFamily="34" charset="-122"/>
                <a:cs typeface="Inter Bold" pitchFamily="34" charset="-120"/>
              </a:rPr>
              <a:t>Ayush Srivastava</a:t>
            </a:r>
            <a:endParaRPr lang="en-US" sz="1800" dirty="0"/>
          </a:p>
        </p:txBody>
      </p:sp>
      <p:sp>
        <p:nvSpPr>
          <p:cNvPr id="6" name="Text 4"/>
          <p:cNvSpPr/>
          <p:nvPr/>
        </p:nvSpPr>
        <p:spPr>
          <a:xfrm>
            <a:off x="850344" y="2406968"/>
            <a:ext cx="3925133" cy="299561"/>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G24AI2036</a:t>
            </a:r>
            <a:endParaRPr lang="en-US" sz="1450" dirty="0"/>
          </a:p>
        </p:txBody>
      </p:sp>
      <p:sp>
        <p:nvSpPr>
          <p:cNvPr id="7" name="Shape 5"/>
          <p:cNvSpPr/>
          <p:nvPr/>
        </p:nvSpPr>
        <p:spPr>
          <a:xfrm>
            <a:off x="5157668" y="1807250"/>
            <a:ext cx="4314944" cy="1094184"/>
          </a:xfrm>
          <a:prstGeom prst="roundRect">
            <a:avLst>
              <a:gd name="adj" fmla="val 7189"/>
            </a:avLst>
          </a:prstGeom>
          <a:solidFill>
            <a:srgbClr val="DADBF1"/>
          </a:solidFill>
          <a:ln w="7620">
            <a:solidFill>
              <a:srgbClr val="C0C1D7"/>
            </a:solidFill>
            <a:prstDash val="solid"/>
          </a:ln>
        </p:spPr>
      </p:sp>
      <p:sp>
        <p:nvSpPr>
          <p:cNvPr id="8" name="Text 6"/>
          <p:cNvSpPr/>
          <p:nvPr/>
        </p:nvSpPr>
        <p:spPr>
          <a:xfrm>
            <a:off x="5352574" y="2002155"/>
            <a:ext cx="2341007" cy="292537"/>
          </a:xfrm>
          <a:prstGeom prst="rect">
            <a:avLst/>
          </a:prstGeom>
          <a:noFill/>
        </p:spPr>
        <p:txBody>
          <a:bodyPr wrap="none" lIns="0" tIns="0" rIns="0" bIns="0" rtlCol="0" anchor="t"/>
          <a:lstStyle/>
          <a:p>
            <a:pPr marL="0" indent="0" algn="l">
              <a:lnSpc>
                <a:spcPts val="2300"/>
              </a:lnSpc>
              <a:buNone/>
            </a:pPr>
            <a:r>
              <a:rPr lang="en-US" sz="1800" b="1" dirty="0">
                <a:solidFill>
                  <a:srgbClr val="272525"/>
                </a:solidFill>
                <a:latin typeface="Inter Bold" pitchFamily="34" charset="0"/>
                <a:ea typeface="Inter Bold" pitchFamily="34" charset="-122"/>
                <a:cs typeface="Inter Bold" pitchFamily="34" charset="-120"/>
              </a:rPr>
              <a:t>Harshita Gupta</a:t>
            </a:r>
            <a:endParaRPr lang="en-US" sz="1800" dirty="0"/>
          </a:p>
        </p:txBody>
      </p:sp>
      <p:sp>
        <p:nvSpPr>
          <p:cNvPr id="9" name="Text 7"/>
          <p:cNvSpPr/>
          <p:nvPr/>
        </p:nvSpPr>
        <p:spPr>
          <a:xfrm>
            <a:off x="5352574" y="2406968"/>
            <a:ext cx="3925133" cy="299561"/>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G24AI2017</a:t>
            </a:r>
            <a:endParaRPr lang="en-US" sz="1450" dirty="0"/>
          </a:p>
        </p:txBody>
      </p:sp>
      <p:sp>
        <p:nvSpPr>
          <p:cNvPr id="10" name="Shape 8"/>
          <p:cNvSpPr/>
          <p:nvPr/>
        </p:nvSpPr>
        <p:spPr>
          <a:xfrm>
            <a:off x="9659898" y="1807250"/>
            <a:ext cx="4314944" cy="1094184"/>
          </a:xfrm>
          <a:prstGeom prst="roundRect">
            <a:avLst>
              <a:gd name="adj" fmla="val 7189"/>
            </a:avLst>
          </a:prstGeom>
          <a:solidFill>
            <a:srgbClr val="DADBF1"/>
          </a:solidFill>
          <a:ln w="7620">
            <a:solidFill>
              <a:srgbClr val="C0C1D7"/>
            </a:solidFill>
            <a:prstDash val="solid"/>
          </a:ln>
        </p:spPr>
      </p:sp>
      <p:sp>
        <p:nvSpPr>
          <p:cNvPr id="11" name="Text 9"/>
          <p:cNvSpPr/>
          <p:nvPr/>
        </p:nvSpPr>
        <p:spPr>
          <a:xfrm>
            <a:off x="9854803" y="2002155"/>
            <a:ext cx="2341007" cy="292537"/>
          </a:xfrm>
          <a:prstGeom prst="rect">
            <a:avLst/>
          </a:prstGeom>
          <a:noFill/>
        </p:spPr>
        <p:txBody>
          <a:bodyPr wrap="none" lIns="0" tIns="0" rIns="0" bIns="0" rtlCol="0" anchor="t"/>
          <a:lstStyle/>
          <a:p>
            <a:pPr marL="0" indent="0" algn="l">
              <a:lnSpc>
                <a:spcPts val="2300"/>
              </a:lnSpc>
              <a:buNone/>
            </a:pPr>
            <a:r>
              <a:rPr lang="en-US" sz="1800" b="1" dirty="0">
                <a:solidFill>
                  <a:srgbClr val="272525"/>
                </a:solidFill>
                <a:latin typeface="Inter Bold" pitchFamily="34" charset="0"/>
                <a:ea typeface="Inter Bold" pitchFamily="34" charset="-122"/>
                <a:cs typeface="Inter Bold" pitchFamily="34" charset="-120"/>
              </a:rPr>
              <a:t>Vivekanand</a:t>
            </a:r>
            <a:endParaRPr lang="en-US" sz="1800" dirty="0"/>
          </a:p>
        </p:txBody>
      </p:sp>
      <p:sp>
        <p:nvSpPr>
          <p:cNvPr id="12" name="Text 10"/>
          <p:cNvSpPr/>
          <p:nvPr/>
        </p:nvSpPr>
        <p:spPr>
          <a:xfrm>
            <a:off x="9854803" y="2406968"/>
            <a:ext cx="3925133" cy="299561"/>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G24AI2101</a:t>
            </a:r>
            <a:endParaRPr lang="en-US" sz="1450" dirty="0"/>
          </a:p>
        </p:txBody>
      </p:sp>
      <p:sp>
        <p:nvSpPr>
          <p:cNvPr id="13" name="Shape 11"/>
          <p:cNvSpPr/>
          <p:nvPr/>
        </p:nvSpPr>
        <p:spPr>
          <a:xfrm>
            <a:off x="655439" y="3088719"/>
            <a:ext cx="6566059" cy="1094184"/>
          </a:xfrm>
          <a:prstGeom prst="roundRect">
            <a:avLst>
              <a:gd name="adj" fmla="val 7189"/>
            </a:avLst>
          </a:prstGeom>
          <a:solidFill>
            <a:srgbClr val="DADBF1"/>
          </a:solidFill>
          <a:ln w="7620">
            <a:solidFill>
              <a:srgbClr val="C0C1D7"/>
            </a:solidFill>
            <a:prstDash val="solid"/>
          </a:ln>
        </p:spPr>
      </p:sp>
      <p:sp>
        <p:nvSpPr>
          <p:cNvPr id="14" name="Text 12"/>
          <p:cNvSpPr/>
          <p:nvPr/>
        </p:nvSpPr>
        <p:spPr>
          <a:xfrm>
            <a:off x="850344" y="3283625"/>
            <a:ext cx="2341007" cy="292537"/>
          </a:xfrm>
          <a:prstGeom prst="rect">
            <a:avLst/>
          </a:prstGeom>
          <a:noFill/>
        </p:spPr>
        <p:txBody>
          <a:bodyPr wrap="none" lIns="0" tIns="0" rIns="0" bIns="0" rtlCol="0" anchor="t"/>
          <a:lstStyle/>
          <a:p>
            <a:pPr marL="0" indent="0" algn="l">
              <a:lnSpc>
                <a:spcPts val="2300"/>
              </a:lnSpc>
              <a:buNone/>
            </a:pPr>
            <a:r>
              <a:rPr lang="en-US" sz="1800" b="1" dirty="0">
                <a:solidFill>
                  <a:srgbClr val="272525"/>
                </a:solidFill>
                <a:latin typeface="Inter Bold" pitchFamily="34" charset="0"/>
                <a:ea typeface="Inter Bold" pitchFamily="34" charset="-122"/>
                <a:cs typeface="Inter Bold" pitchFamily="34" charset="-120"/>
              </a:rPr>
              <a:t>Ashitha C</a:t>
            </a:r>
            <a:endParaRPr lang="en-US" sz="1800" dirty="0"/>
          </a:p>
        </p:txBody>
      </p:sp>
      <p:sp>
        <p:nvSpPr>
          <p:cNvPr id="15" name="Text 13"/>
          <p:cNvSpPr/>
          <p:nvPr/>
        </p:nvSpPr>
        <p:spPr>
          <a:xfrm>
            <a:off x="850344" y="3688437"/>
            <a:ext cx="6176248" cy="299561"/>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G24AI2034</a:t>
            </a:r>
            <a:endParaRPr lang="en-US" sz="1450" dirty="0"/>
          </a:p>
        </p:txBody>
      </p:sp>
      <p:sp>
        <p:nvSpPr>
          <p:cNvPr id="16" name="Shape 14"/>
          <p:cNvSpPr/>
          <p:nvPr/>
        </p:nvSpPr>
        <p:spPr>
          <a:xfrm>
            <a:off x="7408783" y="3088719"/>
            <a:ext cx="6566059" cy="1094184"/>
          </a:xfrm>
          <a:prstGeom prst="roundRect">
            <a:avLst>
              <a:gd name="adj" fmla="val 7189"/>
            </a:avLst>
          </a:prstGeom>
          <a:solidFill>
            <a:srgbClr val="DADBF1"/>
          </a:solidFill>
          <a:ln w="7620">
            <a:solidFill>
              <a:srgbClr val="C0C1D7"/>
            </a:solidFill>
            <a:prstDash val="solid"/>
          </a:ln>
        </p:spPr>
      </p:sp>
      <p:sp>
        <p:nvSpPr>
          <p:cNvPr id="17" name="Text 15"/>
          <p:cNvSpPr/>
          <p:nvPr/>
        </p:nvSpPr>
        <p:spPr>
          <a:xfrm>
            <a:off x="7603688" y="3283625"/>
            <a:ext cx="2341007" cy="292537"/>
          </a:xfrm>
          <a:prstGeom prst="rect">
            <a:avLst/>
          </a:prstGeom>
          <a:noFill/>
        </p:spPr>
        <p:txBody>
          <a:bodyPr wrap="none" lIns="0" tIns="0" rIns="0" bIns="0" rtlCol="0" anchor="t"/>
          <a:lstStyle/>
          <a:p>
            <a:pPr marL="0" indent="0" algn="l">
              <a:lnSpc>
                <a:spcPts val="2300"/>
              </a:lnSpc>
              <a:buNone/>
            </a:pPr>
            <a:r>
              <a:rPr lang="en-US" sz="1800" b="1" dirty="0">
                <a:solidFill>
                  <a:srgbClr val="272525"/>
                </a:solidFill>
                <a:latin typeface="Inter Bold" pitchFamily="34" charset="0"/>
                <a:ea typeface="Inter Bold" pitchFamily="34" charset="-122"/>
                <a:cs typeface="Inter Bold" pitchFamily="34" charset="-120"/>
              </a:rPr>
              <a:t>Shreyansh Kumar</a:t>
            </a:r>
            <a:endParaRPr lang="en-US" sz="1800" dirty="0"/>
          </a:p>
        </p:txBody>
      </p:sp>
      <p:sp>
        <p:nvSpPr>
          <p:cNvPr id="18" name="Text 16"/>
          <p:cNvSpPr/>
          <p:nvPr/>
        </p:nvSpPr>
        <p:spPr>
          <a:xfrm>
            <a:off x="7603688" y="3688437"/>
            <a:ext cx="6176248" cy="299561"/>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G24AI2029</a:t>
            </a:r>
            <a:endParaRPr lang="en-US" sz="1450" dirty="0"/>
          </a:p>
        </p:txBody>
      </p:sp>
      <p:sp>
        <p:nvSpPr>
          <p:cNvPr id="19" name="Shape 17"/>
          <p:cNvSpPr/>
          <p:nvPr/>
        </p:nvSpPr>
        <p:spPr>
          <a:xfrm>
            <a:off x="655439" y="4487139"/>
            <a:ext cx="13319522" cy="30956"/>
          </a:xfrm>
          <a:prstGeom prst="rect">
            <a:avLst/>
          </a:prstGeom>
          <a:solidFill>
            <a:srgbClr val="272525">
              <a:alpha val="50000"/>
            </a:srgbClr>
          </a:solidFill>
        </p:spPr>
      </p:sp>
      <p:sp>
        <p:nvSpPr>
          <p:cNvPr id="20" name="Text 18"/>
          <p:cNvSpPr/>
          <p:nvPr/>
        </p:nvSpPr>
        <p:spPr>
          <a:xfrm>
            <a:off x="655439" y="4798933"/>
            <a:ext cx="13319522" cy="2341007"/>
          </a:xfrm>
          <a:prstGeom prst="rect">
            <a:avLst/>
          </a:prstGeom>
          <a:noFill/>
        </p:spPr>
        <p:txBody>
          <a:bodyPr wrap="square" lIns="0" tIns="0" rIns="0" bIns="0" rtlCol="0" anchor="t"/>
          <a:lstStyle/>
          <a:p>
            <a:pPr marL="0" indent="0" algn="l">
              <a:lnSpc>
                <a:spcPts val="9200"/>
              </a:lnSpc>
              <a:buNone/>
            </a:pPr>
            <a:endParaRPr lang="en-US" sz="7350" dirty="0"/>
          </a:p>
        </p:txBody>
      </p:sp>
      <p:sp>
        <p:nvSpPr>
          <p:cNvPr id="21" name="Text 19"/>
          <p:cNvSpPr/>
          <p:nvPr/>
        </p:nvSpPr>
        <p:spPr>
          <a:xfrm>
            <a:off x="655439" y="7420808"/>
            <a:ext cx="13319522" cy="299561"/>
          </a:xfrm>
          <a:prstGeom prst="rect">
            <a:avLst/>
          </a:prstGeom>
          <a:noFill/>
        </p:spPr>
        <p:txBody>
          <a:bodyPr wrap="none" lIns="0" tIns="0" rIns="0" bIns="0" rtlCol="0" anchor="t"/>
          <a:lstStyle/>
          <a:p>
            <a:pPr marL="0" indent="0" algn="l">
              <a:lnSpc>
                <a:spcPts val="2350"/>
              </a:lnSpc>
              <a:buNone/>
            </a:pPr>
            <a:r>
              <a:rPr lang="en-US" sz="1450" dirty="0">
                <a:solidFill>
                  <a:srgbClr val="272525"/>
                </a:solidFill>
                <a:latin typeface="Inter" panose="02000503000000020004" pitchFamily="34" charset="0"/>
                <a:ea typeface="Inter" panose="02000503000000020004" pitchFamily="34" charset="-122"/>
                <a:cs typeface="Inter" panose="02000503000000020004" pitchFamily="34" charset="-120"/>
              </a:rPr>
              <a:t>Nexus Bank Financial Analytics Platform | Part 2 of 2</a:t>
            </a:r>
            <a:endParaRPr lang="en-US" sz="1450" dirty="0"/>
          </a:p>
        </p:txBody>
      </p:sp>
      <p:pic>
        <p:nvPicPr>
          <p:cNvPr id="22" name="Picture 21" descr="Screenshot 2025-11-10 at 2.34.10 AM"/>
          <p:cNvPicPr>
            <a:picLocks noChangeAspect="1"/>
          </p:cNvPicPr>
          <p:nvPr/>
        </p:nvPicPr>
        <p:blipFill>
          <a:blip r:embed="rId1"/>
          <a:stretch>
            <a:fillRect/>
          </a:stretch>
        </p:blipFill>
        <p:spPr>
          <a:xfrm>
            <a:off x="12382500" y="7689850"/>
            <a:ext cx="2247900" cy="482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14311</Words>
  <Application>WPS Presentation</Application>
  <PresentationFormat>On-screen Show (16:9)</PresentationFormat>
  <Paragraphs>528</Paragraphs>
  <Slides>20</Slides>
  <Notes>10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20</vt:i4>
      </vt:variant>
    </vt:vector>
  </HeadingPairs>
  <TitlesOfParts>
    <vt:vector size="41" baseType="lpstr">
      <vt:lpstr>Arial</vt:lpstr>
      <vt:lpstr>SimSun</vt:lpstr>
      <vt:lpstr>Wingdings</vt:lpstr>
      <vt:lpstr>Inter Bold</vt:lpstr>
      <vt:lpstr>苹方-简</vt:lpstr>
      <vt:lpstr>Inter Bold</vt:lpstr>
      <vt:lpstr>Inter Bold</vt:lpstr>
      <vt:lpstr>Inter</vt:lpstr>
      <vt:lpstr>Inter</vt:lpstr>
      <vt:lpstr>Inter</vt:lpstr>
      <vt:lpstr>Inter Light</vt:lpstr>
      <vt:lpstr>Inter Light</vt:lpstr>
      <vt:lpstr>Inter Light</vt:lpstr>
      <vt:lpstr>Calibri</vt:lpstr>
      <vt:lpstr>Helvetica Neue</vt:lpstr>
      <vt:lpstr>Microsoft YaHei</vt:lpstr>
      <vt:lpstr>汉仪旗黑</vt:lpstr>
      <vt:lpstr>Arial Unicode MS</vt:lpstr>
      <vt:lpstr>宋体-简</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ayushsrivastav</cp:lastModifiedBy>
  <cp:revision>4</cp:revision>
  <dcterms:created xsi:type="dcterms:W3CDTF">2025-11-09T21:11:28Z</dcterms:created>
  <dcterms:modified xsi:type="dcterms:W3CDTF">2025-11-09T21:11:28Z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0FCA67BE7DF9FD7DBB0111692FD3F0E4_42</vt:lpwstr>
  </property>
  <property fmtid="{D5CDD505-2E9C-101B-9397-08002B2CF9AE}" pid="3" name="KSOProductBuildVer">
    <vt:lpwstr>1033-6.11.0.8608</vt:lpwstr>
  </property>
</Properties>
</file>